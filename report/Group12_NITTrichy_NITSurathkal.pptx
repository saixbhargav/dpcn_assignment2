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1538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Team 12’s statistics report on NIT Trichy and NIT Surathkal, 2016 to 2026. We counted only regular science and engineering faculty, all ranks, current and former, taken from the institutes’ own faculty pages and their yearly archived copies. PhD students are not counted, and papers in business, economics, social sciences, psychology and arts are left out. That gives 767 faculty and 18,343 papers from OpenAlex, with 264,423 citations. One rule matters for the networks: if NIT Trichy cites its own paper written with IIT Madras, that is not counted as a link between NIT Trichy and IIT Madras. Every number here can be explored in our interactive dashboard.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NITs grew together: about 540 papers each in 2016, and close to 1,000 a year each from 2020 on. In total, NIT Trichy has 9,184 papers and NIT Surathkal 9,206; 47 papers have faculty from both NITs, so the combined unique count is 18,343. Taken together, 2025 has 1.8 times as many papers as 2016. The drop in 2026 is only because the data was collected in October 2026. One difference in style: 80 percent of NIT Trichy’s papers are journal papers, against 68 percent at NIT Surathkal, which publishes more conference papers.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the journal papers that SCImago ranks, 35.2 percent of NIT Trichy’s and 38.3 percent of NIT Surathkal’s are in Q1 journals, which is 2,391 and 2,222 papers. Trichy has more papers in high-impact journals in absolute numbers: 2,413 papers in journals with IF above 5 and 352 above 10, against 2,124 and 280 at Surathkal. As a share of journal papers the two are almost the same. IF here is OpenAlex’s 2-year mean citedness, the impact-factor formula on open data, because Clarivate’s JCR is not open. The top five journals overlap a lot: Materials Today: Proceedings, a conference-proceedings journal that SCImago does not rank, is number one at both, and materials and metallurgy journals dominate. IEEE Access is NIT Surathkal’s second journal, reflecting its larger computing output.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NITs have almost the same research mix: about half of each NIT’s papers are in Engineering, then Computer Science and Materials Science. The differences are small but clear: NIT Surathkal has more Computer Science and twice as much Mathematics; NIT Trichy has more Materials Science, Energy, Chemistry and Medicine. On the right is our team’s AI analysis. AI papers rose from 9 percent of all papers in 2016 to 20 percent in 2025. Outside the computing departments, AI arrives as a tool, not a topic: papers whose topic is AI stayed flat at about 3.5 percent, but papers that use an AI method in their title rose from 1.9 to 8.7 percent. Fifteen of eighteen departments now have at least 5 percent AI papers; Chemistry, Physics and Metallurgy have almost none.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ten most-cited papers, with full titles: 1. A Review of Classical and Nonclassical Nucleation Theories. 2. Lignocellulosic biomass-based pyrolysis: A comprehensive review. 3. Crop pest classification based on deep convolutional neural network and transfer learning. 4. Characterization of raw and alkali treated new natural cellulosic fibers from Tridax procumbens. 5. A review on composite materials and process parameters optimisation for the fused deposition modelling process. 6. Influence of wood dust fillers on the mechanical, thermal, water absorption and biodegradation characteristics of jute fiber epoxy composites. 7. Are lead-free relaxor ferroelectric materials the most promising candidates for energy storage capacitors? 8. Green synthesis of iron nanoparticles using different leaf extracts for treatment of domestic waste water. 9. Application of life cycle assessment in municipal solid waste management: A worldwide critical review. 10. Enhancement of the properties of fly ash based geopolymer paste by incorporating ground granulated blast furnace slag. Seven are NIT Trichy’s, which is why Trichy has more citations per paper. All ten have an FWCI between 12 and 32, meaning 12 to 32 times the world average for their field and year.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h-index here is computed from each faculty member’s own 2016 to 2026 papers. NIT Trichy has more faculty with papers, 357 against 299, and many more of them in the lowest h-index group, 0 to 4; it also has many more Assistant Professors. Per person, NIT Surathkal faculty publish more: a median of 31 papers against 19, and a median h-index of 9 against 7; both differences are significant in a Mann–Whitney test. But field-weighted impact per person is not significantly different. The ranking on the right is our team’s composite score: the average percentile on seven measures (papers, citations, h-index, mean FWCI, top-10 percent papers, Q1 or CORE A-star/A papers and papers in IF above 5 journals), for current faculty with at least 10 papers. The full name of number 3 is Denthaje Krishna Bhat. It measures research output only, not teaching or service.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citation network has one node per paper and an arrow when one paper cites another. PageRank and in-degree are computed on the 23,822 citations between our own 18,343 papers. The in-degree distribution is very skewed: 58 percent of our papers are never cited by another of our papers, about 3,000 are cited once, and only a handful are cited 30 to 40 times. Fitting with the powerlaw package shows a heavy tail, but a log-normal fits better than a pure power law. The top papers by PageRank are mostly older papers, from 2016 to 2019, that started local chains of follow-up work: for example syntactic foams at NIT Surathkal and welding and materials work at NIT Trichy. Full titles: 1. Effect of particle surface treatment and blending method on flexural properties of injection-molded cenosphere/HDPE syntactic foams. 2. Myo-inositol based nano-PCM for solar thermal energy storage. 3. Studies on the weldability, mechanical properties and microstructural characterization of activated flux TIG welding of AISI 321 austenitic stainless steel. 4. Printability of multiwalled SS 316L by wire arc additive manufacturing route with tunable texture. 5. Half-sandwich RuCl2 (η6-p-cymene) core complexes containing sulfur donor aroylthiourea ligands. 6. Investigating the contrast diurnal relationship of land surface temperatures with various surface parameters over Ahmedabad. 7. High Thermoelectric Performance of Co-Doped Tin Telluride. 8. Experimental investigation on the mechanical properties of Cyperus pangorei fibers and jute fiber-based composites. 9. Effect of Oxide Fluxes on Depth of Penetration in Flux Bounded TIG Welding of AISI 304L Stainless Steel. 10. Hydrothermally Synthesized h-MoO3 and α-MoO3 Nanocrystals.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faculty co-authorship network: one node per faculty member and a link when two faculty wrote at least one paper together. 656 faculty have papers; 539 have at least one faculty co-author, with 961 links, and the largest connected group has 492 people. Degree is the number of faculty co-authors; betweenness measures how often someone lies on the shortest path between others, so high betweenness marks the bridges. Ramesh M R of NIT Surathkal Mechanical is first on both. Louvain finds 161 communities with modularity 0.85; they follow departments closely (NMI 0.68 against 0.24 for random labels), and the leaders of the largest communities include Udaya Bhat K, S Suresh, Jeny Rajan and Ramesh M R. The network is a small world: clustering is about 21 times that of random graphs with the same degrees, while paths are only 1.35 times longer (sigma 16.1). Only 28 links join the two NITs. Our team also found that a shared co-author makes a new collaboration about 19 times more likely the next year.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3, Indian connectivity. With other Indian institutes, NIT Trichy received 36,970 citations and gave 43,057, an impact ratio of 0.86; NIT Surathkal received 30,349 and gave 37,191, a ratio of 0.82. Up to 2022 both gave more than they received; since 2023 they receive more than they give. The chart on the right shows a clear knowledge hierarchy: for every citation we give them, IITs give us only 0.40 back, IISc and IISERs 0.34, CSIR labs 0.33 and DRDO 0.27. With other NITs the exchange is balanced, and universities and colleges cite us 1.32 times as much as we cite them. VIT is the Indian institute that cites both NITs most. NIT Trichy co-authored with 464 Indian institutes and NIT Surathkal with 471. Surathkal works more with IITs and IISc (583 joint papers with IITs against 411); Trichy works more with the strategic labs, DAE, ISRO and DRDO, and with industry such as BHEL. Our team’s geography analysis shows that people work locally but knowledge travels: 37 percent of joint papers are with institutes within 300 km, but only 16 percent of citations; doubling the distance cuts joint papers by about 38 percent but citations by only about 11 percent.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which NIT performs better? On raw numbers each wins something: the same number of papers, more citations per paper at Trichy, more papers per faculty member at Surathkal, and slightly higher mean FWCI and Q1 share at Surathkal. But once each paper’s field-weighted impact is compared with controls for branch, year, foreign and Indian collaboration, venue and team size, the institute effect is plus 1.2 percent with p = 0.23: no significant difference. The real differences are inside branches. Bootstrap intervals show NIT Surathkal is stronger in CSE, EEE and Mechanical, and NIT Trichy in Mathematics, Chemical and ECE; Civil, Chemistry, Physics and MME show no clear difference. In the brackets the stronger NIT’s value comes first. Recommendations: the two NITs wrote only 47 papers together, so each should pair its strong branches with the other’s; approach partners that are close in topic and already exchange many citations but have no joint papers, such as NSUT Delhi, SLIET Longowal and GLA University; and improve foreign collaboration in NIT Trichy CSE and impact in NIT Surathkal Mathematics. Papers with more than 50 authors were checked separately: none remain after the filters, and every author cap gives the same rankings. Everything is in our interactive dashboard.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975360"/>
            <a:ext cx="10566400" cy="426720"/>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706880"/>
            <a:ext cx="10566400" cy="433832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975360"/>
            <a:ext cx="10566400" cy="426720"/>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706880"/>
            <a:ext cx="10566400" cy="433832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aixbhargav.github.io/DPCN_assignment2/dashboard/"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github.com/saiXbhargav/DPCN_assignment2"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6096000" y="0"/>
            <a:ext cx="6096000" cy="4826000"/>
          </a:xfrm>
          <a:prstGeom prst="rect">
            <a:avLst/>
          </a:prstGeom>
          <a:gradFill rotWithShape="1">
            <a:gsLst>
              <a:gs pos="0">
                <a:srgbClr val="2A78D6">
                  <a:alpha val="38000"/>
                </a:srgbClr>
              </a:gs>
              <a:gs pos="68000">
                <a:srgbClr val="2A78D6">
                  <a:alpha val="0"/>
                </a:srgbClr>
              </a:gs>
            </a:gsLst>
            <a:path path="circle">
              <a:fillToRect l="70000" t="30000" r="30000" b="70000"/>
            </a:path>
          </a:gradFill>
          <a:ln/>
        </p:spPr>
      </p:sp>
      <p:sp>
        <p:nvSpPr>
          <p:cNvPr id="3" name="Shape 1"/>
          <p:cNvSpPr/>
          <p:nvPr/>
        </p:nvSpPr>
        <p:spPr>
          <a:xfrm>
            <a:off x="0" y="2667000"/>
            <a:ext cx="6985000" cy="4191000"/>
          </a:xfrm>
          <a:prstGeom prst="rect">
            <a:avLst/>
          </a:prstGeom>
          <a:gradFill rotWithShape="1">
            <a:gsLst>
              <a:gs pos="0">
                <a:srgbClr val="EB6834">
                  <a:alpha val="26000"/>
                </a:srgbClr>
              </a:gs>
              <a:gs pos="65000">
                <a:srgbClr val="EB6834">
                  <a:alpha val="0"/>
                </a:srgbClr>
              </a:gs>
            </a:gsLst>
            <a:path path="circle">
              <a:fillToRect l="25000" t="80000" r="75000" b="20000"/>
            </a:path>
          </a:gradFill>
          <a:ln/>
        </p:spPr>
      </p:sp>
      <p:sp>
        <p:nvSpPr>
          <p:cNvPr id="4" name="Text 2"/>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BFC8DA"/>
                </a:solidFill>
                <a:latin typeface="Public Sans" pitchFamily="34" charset="0"/>
                <a:ea typeface="Public Sans" pitchFamily="34" charset="-122"/>
                <a:cs typeface="Public Sans" pitchFamily="34" charset="-120"/>
              </a:rPr>
              <a:t>DPCN RESEARCH MAPPING · TEAM 12 · STATISTICS REPORT</a:t>
            </a:r>
            <a:endParaRPr lang="en-US" sz="1200" dirty="0"/>
          </a:p>
        </p:txBody>
      </p:sp>
      <p:sp>
        <p:nvSpPr>
          <p:cNvPr id="5" name="Text 3"/>
          <p:cNvSpPr>
            <a:spLocks noGrp="1"/>
          </p:cNvSpPr>
          <p:nvPr>
            <p:ph type="title"/>
          </p:nvPr>
        </p:nvSpPr>
        <p:spPr>
          <a:xfrm>
            <a:off x="812800" y="1203960"/>
            <a:ext cx="10883392" cy="1549400"/>
          </a:xfrm>
          <a:prstGeom prst="rect">
            <a:avLst/>
          </a:prstGeom>
          <a:noFill/>
          <a:ln/>
        </p:spPr>
        <p:txBody>
          <a:bodyPr wrap="square" lIns="0" tIns="0" rIns="0" bIns="0" rtlCol="0" anchor="t">
            <a:normAutofit/>
          </a:bodyPr>
          <a:lstStyle/>
          <a:p>
            <a:pPr marL="0" indent="0" algn="l">
              <a:lnSpc>
                <a:spcPts val="6000"/>
              </a:lnSpc>
              <a:buNone/>
            </a:pPr>
            <a:r>
              <a:rPr lang="en-US" sz="6000" b="1" i="0" kern="0" spc="-150" dirty="0">
                <a:solidFill>
                  <a:srgbClr val="6FA8F0"/>
                </a:solidFill>
                <a:latin typeface="Space Grotesk" pitchFamily="34" charset="0"/>
                <a:ea typeface="Space Grotesk" pitchFamily="34" charset="-122"/>
                <a:cs typeface="Space Grotesk" pitchFamily="34" charset="-120"/>
              </a:rPr>
              <a:t>NIT Trichy</a:t>
            </a:r>
            <a:r>
              <a:rPr lang="en-US" sz="6000" b="1" i="0" kern="0" spc="-150" dirty="0">
                <a:solidFill>
                  <a:srgbClr val="F2F0EA"/>
                </a:solidFill>
                <a:latin typeface="Space Grotesk" pitchFamily="34" charset="0"/>
                <a:ea typeface="Space Grotesk" pitchFamily="34" charset="-122"/>
                <a:cs typeface="Space Grotesk" pitchFamily="34" charset="-120"/>
              </a:rPr>
              <a:t> vs</a:t>
            </a:r>
            <a:endParaRPr lang="en-US" sz="6000" dirty="0"/>
          </a:p>
          <a:p>
            <a:pPr marL="0" indent="0" algn="l">
              <a:lnSpc>
                <a:spcPts val="6000"/>
              </a:lnSpc>
              <a:buNone/>
            </a:pPr>
            <a:r>
              <a:rPr lang="en-US" sz="6000" b="1" i="0" kern="0" spc="-150" dirty="0">
                <a:solidFill>
                  <a:srgbClr val="F39467"/>
                </a:solidFill>
                <a:latin typeface="Space Grotesk" pitchFamily="34" charset="0"/>
                <a:ea typeface="Space Grotesk" pitchFamily="34" charset="-122"/>
                <a:cs typeface="Space Grotesk" pitchFamily="34" charset="-120"/>
              </a:rPr>
              <a:t>NIT Surathkal</a:t>
            </a:r>
            <a:endParaRPr lang="en-US" sz="6000" dirty="0"/>
          </a:p>
        </p:txBody>
      </p:sp>
      <p:sp>
        <p:nvSpPr>
          <p:cNvPr id="6" name="Text 4"/>
          <p:cNvSpPr/>
          <p:nvPr/>
        </p:nvSpPr>
        <p:spPr>
          <a:xfrm>
            <a:off x="812800" y="2905760"/>
            <a:ext cx="10883392"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C9D1E2"/>
                </a:solidFill>
                <a:latin typeface="Public Sans" pitchFamily="34" charset="0"/>
                <a:ea typeface="Public Sans" pitchFamily="34" charset="-122"/>
                <a:cs typeface="Public Sans" pitchFamily="34" charset="-120"/>
              </a:rPr>
              <a:t>Research output, impact and networks of science and engineering faculty, 2016–2026</a:t>
            </a:r>
            <a:endParaRPr lang="en-US" sz="2000" dirty="0"/>
          </a:p>
        </p:txBody>
      </p:sp>
      <p:sp>
        <p:nvSpPr>
          <p:cNvPr id="7" name="Text 5"/>
          <p:cNvSpPr/>
          <p:nvPr/>
        </p:nvSpPr>
        <p:spPr>
          <a:xfrm>
            <a:off x="812800" y="341376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2F0EA"/>
                </a:solidFill>
                <a:latin typeface="Public Sans" pitchFamily="34" charset="0"/>
                <a:ea typeface="Public Sans" pitchFamily="34" charset="-122"/>
                <a:cs typeface="Public Sans" pitchFamily="34" charset="-120"/>
              </a:rPr>
              <a:t>Live dashboard: </a:t>
            </a:r>
            <a:r>
              <a:rPr lang="en-US" sz="1400" u="sng" dirty="0">
                <a:solidFill>
                  <a:srgbClr val="6FA8F0"/>
                </a:solidFill>
                <a:latin typeface="Public Sans" pitchFamily="34" charset="0"/>
                <a:ea typeface="Public Sans" pitchFamily="34" charset="-122"/>
                <a:cs typeface="Public Sans" pitchFamily="34" charset="-120"/>
                <a:hlinkClick r:id="rId3">
                  <a:extLst>
                    <a:ext uri="{A12FA001-AC4F-418D-AE19-62706E023703}">
                      <ahyp:hlinkClr xmlns:ahyp="http://schemas.microsoft.com/office/drawing/2018/hyperlinkcolor" val="tx"/>
                    </a:ext>
                  </a:extLst>
                </a:hlinkClick>
              </a:rPr>
              <a:t>saixbhargav.github.io/DPCN_assignment2/dashboard</a:t>
            </a:r>
            <a:endParaRPr lang="en-US" sz="1400" dirty="0"/>
          </a:p>
        </p:txBody>
      </p:sp>
      <p:sp>
        <p:nvSpPr>
          <p:cNvPr id="8" name="Text 6"/>
          <p:cNvSpPr/>
          <p:nvPr/>
        </p:nvSpPr>
        <p:spPr>
          <a:xfrm>
            <a:off x="812800" y="368808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2F0EA"/>
                </a:solidFill>
                <a:latin typeface="Public Sans" pitchFamily="34" charset="0"/>
                <a:ea typeface="Public Sans" pitchFamily="34" charset="-122"/>
                <a:cs typeface="Public Sans" pitchFamily="34" charset="-120"/>
              </a:rPr>
              <a:t>Code: </a:t>
            </a:r>
            <a:r>
              <a:rPr lang="en-US" sz="1400" u="sng" dirty="0">
                <a:solidFill>
                  <a:srgbClr val="6FA8F0"/>
                </a:solidFill>
                <a:latin typeface="Public Sans" pitchFamily="34" charset="0"/>
                <a:ea typeface="Public Sans" pitchFamily="34" charset="-122"/>
                <a:cs typeface="Public Sans" pitchFamily="34" charset="-120"/>
                <a:hlinkClick r:id="rId4">
                  <a:extLst>
                    <a:ext uri="{A12FA001-AC4F-418D-AE19-62706E023703}">
                      <ahyp:hlinkClr xmlns:ahyp="http://schemas.microsoft.com/office/drawing/2018/hyperlinkcolor" val="tx"/>
                    </a:ext>
                  </a:extLst>
                </a:hlinkClick>
              </a:rPr>
              <a:t>github.com/saiXbhargav/DPCN_assignment2</a:t>
            </a:r>
            <a:endParaRPr lang="en-US" sz="1400" dirty="0"/>
          </a:p>
        </p:txBody>
      </p:sp>
      <p:sp>
        <p:nvSpPr>
          <p:cNvPr id="9" name="Text 7"/>
          <p:cNvSpPr/>
          <p:nvPr/>
        </p:nvSpPr>
        <p:spPr>
          <a:xfrm>
            <a:off x="812800" y="4246880"/>
            <a:ext cx="3488212"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chemeClr val="bg1"/>
                </a:solidFill>
                <a:latin typeface="Public Sans" pitchFamily="34" charset="0"/>
                <a:ea typeface="Public Sans" pitchFamily="34" charset="-122"/>
                <a:cs typeface="Public Sans" pitchFamily="34" charset="-120"/>
              </a:rPr>
              <a:t>Ampilli Sai Venkata Naga Bhargav</a:t>
            </a:r>
            <a:endParaRPr lang="en-US" sz="1400" dirty="0">
              <a:solidFill>
                <a:schemeClr val="bg1"/>
              </a:solidFill>
            </a:endParaRPr>
          </a:p>
        </p:txBody>
      </p:sp>
      <p:sp>
        <p:nvSpPr>
          <p:cNvPr id="10" name="Text 8"/>
          <p:cNvSpPr/>
          <p:nvPr/>
        </p:nvSpPr>
        <p:spPr>
          <a:xfrm>
            <a:off x="812800" y="4472940"/>
            <a:ext cx="3488212" cy="238760"/>
          </a:xfrm>
          <a:prstGeom prst="rect">
            <a:avLst/>
          </a:prstGeom>
          <a:noFill/>
          <a:ln/>
        </p:spPr>
        <p:txBody>
          <a:bodyPr wrap="square" lIns="0" tIns="0" rIns="0" bIns="0" rtlCol="0" anchor="t">
            <a:normAutofit/>
          </a:bodyPr>
          <a:lstStyle/>
          <a:p>
            <a:pPr marL="0" indent="0" algn="l">
              <a:lnSpc>
                <a:spcPts val="1680"/>
              </a:lnSpc>
              <a:buNone/>
            </a:pPr>
            <a:r>
              <a:rPr lang="en-US" sz="1400" dirty="0">
                <a:solidFill>
                  <a:schemeClr val="bg1"/>
                </a:solidFill>
                <a:latin typeface="Public Sans" pitchFamily="34" charset="0"/>
                <a:ea typeface="Public Sans" pitchFamily="34" charset="-122"/>
                <a:cs typeface="Public Sans" pitchFamily="34" charset="-120"/>
              </a:rPr>
              <a:t>2023112014</a:t>
            </a:r>
            <a:endParaRPr lang="en-US" sz="1400" dirty="0">
              <a:solidFill>
                <a:schemeClr val="bg1"/>
              </a:solidFill>
            </a:endParaRPr>
          </a:p>
        </p:txBody>
      </p:sp>
      <p:sp>
        <p:nvSpPr>
          <p:cNvPr id="11" name="Text 9"/>
          <p:cNvSpPr/>
          <p:nvPr/>
        </p:nvSpPr>
        <p:spPr>
          <a:xfrm>
            <a:off x="4402614" y="4246880"/>
            <a:ext cx="3488294"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chemeClr val="bg1"/>
                </a:solidFill>
                <a:latin typeface="Public Sans" pitchFamily="34" charset="0"/>
                <a:ea typeface="Public Sans" pitchFamily="34" charset="-122"/>
                <a:cs typeface="Public Sans" pitchFamily="34" charset="-120"/>
              </a:rPr>
              <a:t>Chaitanya Thogata</a:t>
            </a:r>
            <a:endParaRPr lang="en-US" sz="1400" dirty="0">
              <a:solidFill>
                <a:schemeClr val="bg1"/>
              </a:solidFill>
            </a:endParaRPr>
          </a:p>
        </p:txBody>
      </p:sp>
      <p:sp>
        <p:nvSpPr>
          <p:cNvPr id="12" name="Text 10"/>
          <p:cNvSpPr/>
          <p:nvPr/>
        </p:nvSpPr>
        <p:spPr>
          <a:xfrm>
            <a:off x="4402614" y="4472940"/>
            <a:ext cx="3488294" cy="238760"/>
          </a:xfrm>
          <a:prstGeom prst="rect">
            <a:avLst/>
          </a:prstGeom>
          <a:noFill/>
          <a:ln/>
        </p:spPr>
        <p:txBody>
          <a:bodyPr wrap="square" lIns="0" tIns="0" rIns="0" bIns="0" rtlCol="0" anchor="t">
            <a:normAutofit/>
          </a:bodyPr>
          <a:lstStyle/>
          <a:p>
            <a:pPr marL="0" indent="0" algn="l">
              <a:lnSpc>
                <a:spcPts val="1680"/>
              </a:lnSpc>
              <a:buNone/>
            </a:pPr>
            <a:r>
              <a:rPr lang="en-US" sz="1400" dirty="0">
                <a:solidFill>
                  <a:schemeClr val="bg1"/>
                </a:solidFill>
                <a:latin typeface="Public Sans" pitchFamily="34" charset="0"/>
                <a:ea typeface="Public Sans" pitchFamily="34" charset="-122"/>
                <a:cs typeface="Public Sans" pitchFamily="34" charset="-120"/>
              </a:rPr>
              <a:t>2023113018</a:t>
            </a:r>
            <a:endParaRPr lang="en-US" sz="1400" dirty="0">
              <a:solidFill>
                <a:schemeClr val="bg1"/>
              </a:solidFill>
            </a:endParaRPr>
          </a:p>
        </p:txBody>
      </p:sp>
      <p:sp>
        <p:nvSpPr>
          <p:cNvPr id="13" name="Text 11"/>
          <p:cNvSpPr/>
          <p:nvPr/>
        </p:nvSpPr>
        <p:spPr>
          <a:xfrm>
            <a:off x="7992507" y="4246880"/>
            <a:ext cx="3488294"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chemeClr val="bg1"/>
                </a:solidFill>
                <a:latin typeface="Public Sans" pitchFamily="34" charset="0"/>
                <a:ea typeface="Public Sans" pitchFamily="34" charset="-122"/>
                <a:cs typeface="Public Sans" pitchFamily="34" charset="-120"/>
              </a:rPr>
              <a:t>Pasumarthy Deepak</a:t>
            </a:r>
            <a:endParaRPr lang="en-US" sz="1400" dirty="0">
              <a:solidFill>
                <a:schemeClr val="bg1"/>
              </a:solidFill>
            </a:endParaRPr>
          </a:p>
        </p:txBody>
      </p:sp>
      <p:sp>
        <p:nvSpPr>
          <p:cNvPr id="14" name="Text 12"/>
          <p:cNvSpPr/>
          <p:nvPr/>
        </p:nvSpPr>
        <p:spPr>
          <a:xfrm>
            <a:off x="7992507" y="4472940"/>
            <a:ext cx="3488294" cy="238760"/>
          </a:xfrm>
          <a:prstGeom prst="rect">
            <a:avLst/>
          </a:prstGeom>
          <a:noFill/>
          <a:ln/>
        </p:spPr>
        <p:txBody>
          <a:bodyPr wrap="square" lIns="0" tIns="0" rIns="0" bIns="0" rtlCol="0" anchor="t">
            <a:normAutofit/>
          </a:bodyPr>
          <a:lstStyle/>
          <a:p>
            <a:pPr marL="0" indent="0" algn="l">
              <a:lnSpc>
                <a:spcPts val="1680"/>
              </a:lnSpc>
              <a:buNone/>
            </a:pPr>
            <a:r>
              <a:rPr lang="en-US" sz="1400" dirty="0">
                <a:solidFill>
                  <a:schemeClr val="bg1"/>
                </a:solidFill>
                <a:latin typeface="Public Sans" pitchFamily="34" charset="0"/>
                <a:ea typeface="Public Sans" pitchFamily="34" charset="-122"/>
                <a:cs typeface="Public Sans" pitchFamily="34" charset="-120"/>
              </a:rPr>
              <a:t>2023101109</a:t>
            </a:r>
            <a:endParaRPr lang="en-US" sz="1400" dirty="0">
              <a:solidFill>
                <a:schemeClr val="bg1"/>
              </a:solidFill>
            </a:endParaRPr>
          </a:p>
        </p:txBody>
      </p:sp>
      <p:sp>
        <p:nvSpPr>
          <p:cNvPr id="15" name="Shape 13"/>
          <p:cNvSpPr/>
          <p:nvPr/>
        </p:nvSpPr>
        <p:spPr>
          <a:xfrm>
            <a:off x="812800" y="5002530"/>
            <a:ext cx="2489200" cy="0"/>
          </a:xfrm>
          <a:prstGeom prst="line">
            <a:avLst/>
          </a:prstGeom>
          <a:noFill/>
          <a:ln w="12700">
            <a:solidFill>
              <a:srgbClr val="3A4A6B"/>
            </a:solidFill>
            <a:prstDash val="solid"/>
          </a:ln>
        </p:spPr>
      </p:sp>
      <p:sp>
        <p:nvSpPr>
          <p:cNvPr id="16" name="Text 14"/>
          <p:cNvSpPr/>
          <p:nvPr/>
        </p:nvSpPr>
        <p:spPr>
          <a:xfrm>
            <a:off x="812800" y="5133340"/>
            <a:ext cx="2563876"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2F0EA"/>
                </a:solidFill>
                <a:latin typeface="Space Grotesk" pitchFamily="34" charset="0"/>
                <a:ea typeface="Space Grotesk" pitchFamily="34" charset="-122"/>
                <a:cs typeface="Space Grotesk" pitchFamily="34" charset="-120"/>
              </a:rPr>
              <a:t>767</a:t>
            </a:r>
            <a:endParaRPr lang="en-US" sz="3200" dirty="0"/>
          </a:p>
        </p:txBody>
      </p:sp>
      <p:sp>
        <p:nvSpPr>
          <p:cNvPr id="17" name="Text 15"/>
          <p:cNvSpPr/>
          <p:nvPr/>
        </p:nvSpPr>
        <p:spPr>
          <a:xfrm>
            <a:off x="812800" y="5618480"/>
            <a:ext cx="256387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1E2"/>
                </a:solidFill>
                <a:latin typeface="Public Sans" pitchFamily="34" charset="0"/>
                <a:ea typeface="Public Sans" pitchFamily="34" charset="-122"/>
                <a:cs typeface="Public Sans" pitchFamily="34" charset="-120"/>
              </a:rPr>
              <a:t>regular science &amp; engineering faculty</a:t>
            </a:r>
            <a:endParaRPr lang="en-US" sz="1200" dirty="0"/>
          </a:p>
        </p:txBody>
      </p:sp>
      <p:sp>
        <p:nvSpPr>
          <p:cNvPr id="18" name="Shape 16"/>
          <p:cNvSpPr/>
          <p:nvPr/>
        </p:nvSpPr>
        <p:spPr>
          <a:xfrm>
            <a:off x="3505200" y="5002530"/>
            <a:ext cx="2489200" cy="0"/>
          </a:xfrm>
          <a:prstGeom prst="line">
            <a:avLst/>
          </a:prstGeom>
          <a:noFill/>
          <a:ln w="12700">
            <a:solidFill>
              <a:srgbClr val="3A4A6B"/>
            </a:solidFill>
            <a:prstDash val="solid"/>
          </a:ln>
        </p:spPr>
      </p:sp>
      <p:sp>
        <p:nvSpPr>
          <p:cNvPr id="19" name="Text 17"/>
          <p:cNvSpPr/>
          <p:nvPr/>
        </p:nvSpPr>
        <p:spPr>
          <a:xfrm>
            <a:off x="3505200" y="5133340"/>
            <a:ext cx="2563876"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2F0EA"/>
                </a:solidFill>
                <a:latin typeface="Space Grotesk" pitchFamily="34" charset="0"/>
                <a:ea typeface="Space Grotesk" pitchFamily="34" charset="-122"/>
                <a:cs typeface="Space Grotesk" pitchFamily="34" charset="-120"/>
              </a:rPr>
              <a:t>18,343</a:t>
            </a:r>
            <a:endParaRPr lang="en-US" sz="3200" dirty="0"/>
          </a:p>
        </p:txBody>
      </p:sp>
      <p:sp>
        <p:nvSpPr>
          <p:cNvPr id="20" name="Text 18"/>
          <p:cNvSpPr/>
          <p:nvPr/>
        </p:nvSpPr>
        <p:spPr>
          <a:xfrm>
            <a:off x="3505200" y="5618480"/>
            <a:ext cx="256387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1E2"/>
                </a:solidFill>
                <a:latin typeface="Public Sans" pitchFamily="34" charset="0"/>
                <a:ea typeface="Public Sans" pitchFamily="34" charset="-122"/>
                <a:cs typeface="Public Sans" pitchFamily="34" charset="-120"/>
              </a:rPr>
              <a:t>papers, 2016–2026</a:t>
            </a:r>
            <a:endParaRPr lang="en-US" sz="1200" dirty="0"/>
          </a:p>
        </p:txBody>
      </p:sp>
      <p:sp>
        <p:nvSpPr>
          <p:cNvPr id="21" name="Shape 19"/>
          <p:cNvSpPr/>
          <p:nvPr/>
        </p:nvSpPr>
        <p:spPr>
          <a:xfrm>
            <a:off x="6197600" y="5002530"/>
            <a:ext cx="2489200" cy="0"/>
          </a:xfrm>
          <a:prstGeom prst="line">
            <a:avLst/>
          </a:prstGeom>
          <a:noFill/>
          <a:ln w="12700">
            <a:solidFill>
              <a:srgbClr val="3A4A6B"/>
            </a:solidFill>
            <a:prstDash val="solid"/>
          </a:ln>
        </p:spPr>
      </p:sp>
      <p:sp>
        <p:nvSpPr>
          <p:cNvPr id="22" name="Text 20"/>
          <p:cNvSpPr/>
          <p:nvPr/>
        </p:nvSpPr>
        <p:spPr>
          <a:xfrm>
            <a:off x="6197600" y="5133340"/>
            <a:ext cx="2563876"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2F0EA"/>
                </a:solidFill>
                <a:latin typeface="Space Grotesk" pitchFamily="34" charset="0"/>
                <a:ea typeface="Space Grotesk" pitchFamily="34" charset="-122"/>
                <a:cs typeface="Space Grotesk" pitchFamily="34" charset="-120"/>
              </a:rPr>
              <a:t>264,423</a:t>
            </a:r>
            <a:endParaRPr lang="en-US" sz="3200" dirty="0"/>
          </a:p>
        </p:txBody>
      </p:sp>
      <p:sp>
        <p:nvSpPr>
          <p:cNvPr id="23" name="Text 21"/>
          <p:cNvSpPr/>
          <p:nvPr/>
        </p:nvSpPr>
        <p:spPr>
          <a:xfrm>
            <a:off x="6197600" y="5618480"/>
            <a:ext cx="256387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1E2"/>
                </a:solidFill>
                <a:latin typeface="Public Sans" pitchFamily="34" charset="0"/>
                <a:ea typeface="Public Sans" pitchFamily="34" charset="-122"/>
                <a:cs typeface="Public Sans" pitchFamily="34" charset="-120"/>
              </a:rPr>
              <a:t>citations received</a:t>
            </a:r>
            <a:endParaRPr lang="en-US" sz="1200" dirty="0"/>
          </a:p>
        </p:txBody>
      </p:sp>
      <p:sp>
        <p:nvSpPr>
          <p:cNvPr id="24" name="Shape 22"/>
          <p:cNvSpPr/>
          <p:nvPr/>
        </p:nvSpPr>
        <p:spPr>
          <a:xfrm>
            <a:off x="8890000" y="5002530"/>
            <a:ext cx="2489200" cy="0"/>
          </a:xfrm>
          <a:prstGeom prst="line">
            <a:avLst/>
          </a:prstGeom>
          <a:noFill/>
          <a:ln w="12700">
            <a:solidFill>
              <a:srgbClr val="3A4A6B"/>
            </a:solidFill>
            <a:prstDash val="solid"/>
          </a:ln>
        </p:spPr>
      </p:sp>
      <p:sp>
        <p:nvSpPr>
          <p:cNvPr id="25" name="Text 23"/>
          <p:cNvSpPr/>
          <p:nvPr/>
        </p:nvSpPr>
        <p:spPr>
          <a:xfrm>
            <a:off x="8890000" y="5133340"/>
            <a:ext cx="2563876"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2F0EA"/>
                </a:solidFill>
                <a:latin typeface="Space Grotesk" pitchFamily="34" charset="0"/>
                <a:ea typeface="Space Grotesk" pitchFamily="34" charset="-122"/>
                <a:cs typeface="Space Grotesk" pitchFamily="34" charset="-120"/>
              </a:rPr>
              <a:t>181,189</a:t>
            </a:r>
            <a:endParaRPr lang="en-US" sz="3200" dirty="0"/>
          </a:p>
        </p:txBody>
      </p:sp>
      <p:sp>
        <p:nvSpPr>
          <p:cNvPr id="26" name="Text 24"/>
          <p:cNvSpPr/>
          <p:nvPr/>
        </p:nvSpPr>
        <p:spPr>
          <a:xfrm>
            <a:off x="8890000" y="5618480"/>
            <a:ext cx="256387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1E2"/>
                </a:solidFill>
                <a:latin typeface="Public Sans" pitchFamily="34" charset="0"/>
                <a:ea typeface="Public Sans" pitchFamily="34" charset="-122"/>
                <a:cs typeface="Public Sans" pitchFamily="34" charset="-120"/>
              </a:rPr>
              <a:t>citation links mapped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4BC4"/>
                </a:solidFill>
                <a:latin typeface="Public Sans" pitchFamily="34" charset="0"/>
                <a:ea typeface="Public Sans" pitchFamily="34" charset="-122"/>
                <a:cs typeface="Public Sans" pitchFamily="34" charset="-120"/>
              </a:rPr>
              <a:t>01 · PUBLICATION TREND</a:t>
            </a:r>
            <a:endParaRPr lang="en-US" sz="1200" dirty="0"/>
          </a:p>
        </p:txBody>
      </p:sp>
      <p:sp>
        <p:nvSpPr>
          <p:cNvPr id="3" name="Text 1"/>
          <p:cNvSpPr>
            <a:spLocks noGrp="1"/>
          </p:cNvSpPr>
          <p:nvPr>
            <p:ph type="title"/>
          </p:nvPr>
        </p:nvSpPr>
        <p:spPr>
          <a:xfrm>
            <a:off x="812800" y="975360"/>
            <a:ext cx="10883392" cy="452120"/>
          </a:xfrm>
          <a:prstGeom prst="rect">
            <a:avLst/>
          </a:prstGeom>
          <a:noFill/>
          <a:ln/>
        </p:spPr>
        <p:txBody>
          <a:bodyPr wrap="square" lIns="0" tIns="0" rIns="0" bIns="0" rtlCol="0" anchor="t">
            <a:normAutofit/>
          </a:bodyPr>
          <a:lstStyle/>
          <a:p>
            <a:pPr marL="0" indent="0" algn="l">
              <a:lnSpc>
                <a:spcPts val="3360"/>
              </a:lnSpc>
              <a:buNone/>
            </a:pPr>
            <a:r>
              <a:rPr lang="en-US" sz="3200" b="1" i="0" kern="0" spc="-50" dirty="0">
                <a:solidFill>
                  <a:srgbClr val="14213D"/>
                </a:solidFill>
                <a:latin typeface="Space Grotesk" pitchFamily="34" charset="0"/>
                <a:ea typeface="Space Grotesk" pitchFamily="34" charset="-122"/>
                <a:cs typeface="Space Grotesk" pitchFamily="34" charset="-120"/>
              </a:rPr>
              <a:t>Ten years of steady growth, neck and neck</a:t>
            </a:r>
            <a:endParaRPr lang="en-US" sz="3200" dirty="0"/>
          </a:p>
        </p:txBody>
      </p:sp>
      <p:sp>
        <p:nvSpPr>
          <p:cNvPr id="4" name="Shape 2"/>
          <p:cNvSpPr/>
          <p:nvPr/>
        </p:nvSpPr>
        <p:spPr>
          <a:xfrm>
            <a:off x="815975" y="1583055"/>
            <a:ext cx="7207250" cy="2719070"/>
          </a:xfrm>
          <a:prstGeom prst="roundRect">
            <a:avLst>
              <a:gd name="adj" fmla="val 4554"/>
            </a:avLst>
          </a:prstGeom>
          <a:solidFill>
            <a:srgbClr val="FDFCFA"/>
          </a:solidFill>
          <a:ln w="6350">
            <a:solidFill>
              <a:srgbClr val="E4E1D8"/>
            </a:solidFill>
            <a:prstDash val="solid"/>
          </a:ln>
        </p:spPr>
      </p:sp>
      <p:sp>
        <p:nvSpPr>
          <p:cNvPr id="5" name="Shape 3"/>
          <p:cNvSpPr/>
          <p:nvPr/>
        </p:nvSpPr>
        <p:spPr>
          <a:xfrm>
            <a:off x="970280" y="1824990"/>
            <a:ext cx="203200" cy="38100"/>
          </a:xfrm>
          <a:prstGeom prst="roundRect">
            <a:avLst>
              <a:gd name="adj" fmla="val 50000"/>
            </a:avLst>
          </a:prstGeom>
          <a:solidFill>
            <a:srgbClr val="2A78D6"/>
          </a:solidFill>
          <a:ln/>
        </p:spPr>
      </p:sp>
      <p:sp>
        <p:nvSpPr>
          <p:cNvPr id="6" name="Text 4"/>
          <p:cNvSpPr/>
          <p:nvPr/>
        </p:nvSpPr>
        <p:spPr>
          <a:xfrm>
            <a:off x="1236980" y="1737360"/>
            <a:ext cx="87915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Public Sans" pitchFamily="34" charset="0"/>
                <a:ea typeface="Public Sans" pitchFamily="34" charset="-122"/>
                <a:cs typeface="Public Sans" pitchFamily="34" charset="-120"/>
              </a:rPr>
              <a:t>NIT Trichy</a:t>
            </a:r>
            <a:endParaRPr lang="en-US" sz="1200" dirty="0"/>
          </a:p>
        </p:txBody>
      </p:sp>
      <p:sp>
        <p:nvSpPr>
          <p:cNvPr id="7" name="Shape 5"/>
          <p:cNvSpPr/>
          <p:nvPr/>
        </p:nvSpPr>
        <p:spPr>
          <a:xfrm>
            <a:off x="2172811" y="1824990"/>
            <a:ext cx="203200" cy="38100"/>
          </a:xfrm>
          <a:prstGeom prst="roundRect">
            <a:avLst>
              <a:gd name="adj" fmla="val 50000"/>
            </a:avLst>
          </a:prstGeom>
          <a:solidFill>
            <a:srgbClr val="EB6834"/>
          </a:solidFill>
          <a:ln/>
        </p:spPr>
      </p:sp>
      <p:sp>
        <p:nvSpPr>
          <p:cNvPr id="8" name="Text 6"/>
          <p:cNvSpPr/>
          <p:nvPr/>
        </p:nvSpPr>
        <p:spPr>
          <a:xfrm>
            <a:off x="2439511" y="1737360"/>
            <a:ext cx="119453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Public Sans" pitchFamily="34" charset="0"/>
                <a:ea typeface="Public Sans" pitchFamily="34" charset="-122"/>
                <a:cs typeface="Public Sans" pitchFamily="34" charset="-120"/>
              </a:rPr>
              <a:t>NIT Surathkal</a:t>
            </a:r>
            <a:endParaRPr lang="en-US" sz="1200" dirty="0"/>
          </a:p>
        </p:txBody>
      </p:sp>
      <p:sp>
        <p:nvSpPr>
          <p:cNvPr id="9" name="Text 7"/>
          <p:cNvSpPr/>
          <p:nvPr/>
        </p:nvSpPr>
        <p:spPr>
          <a:xfrm>
            <a:off x="3638153" y="1737360"/>
            <a:ext cx="4144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Public Sans" pitchFamily="34" charset="0"/>
                <a:ea typeface="Public Sans" pitchFamily="34" charset="-122"/>
                <a:cs typeface="Public Sans" pitchFamily="34" charset="-120"/>
              </a:rPr>
              <a:t>papers per year · *2026 = January to mid-October</a:t>
            </a:r>
            <a:endParaRPr lang="en-US" sz="1200" dirty="0"/>
          </a:p>
        </p:txBody>
      </p:sp>
      <p:pic>
        <p:nvPicPr>
          <p:cNvPr id="10" name="Image 0" descr="Line chart of papers per year, 2016 to 2026, for NIT Trichy and NIT Surathkal. Both rise from about 540 in 2016 to about 1,000 a year from 2020 on."/>
          <p:cNvPicPr>
            <a:picLocks noChangeAspect="1"/>
          </p:cNvPicPr>
          <p:nvPr/>
        </p:nvPicPr>
        <p:blipFill>
          <a:blip r:embed="rId3"/>
          <a:srcRect l="-10" r="-10"/>
          <a:stretch/>
        </p:blipFill>
        <p:spPr>
          <a:xfrm>
            <a:off x="970280" y="2026920"/>
            <a:ext cx="6858000" cy="1905000"/>
          </a:xfrm>
          <a:prstGeom prst="rect">
            <a:avLst/>
          </a:prstGeom>
        </p:spPr>
      </p:pic>
      <p:sp>
        <p:nvSpPr>
          <p:cNvPr id="11" name="Text 8"/>
          <p:cNvSpPr/>
          <p:nvPr/>
        </p:nvSpPr>
        <p:spPr>
          <a:xfrm>
            <a:off x="919480" y="3696970"/>
            <a:ext cx="4064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Public Sans" pitchFamily="34" charset="0"/>
                <a:ea typeface="Public Sans" pitchFamily="34" charset="-122"/>
                <a:cs typeface="Public Sans" pitchFamily="34" charset="-120"/>
              </a:rPr>
              <a:t>0</a:t>
            </a:r>
            <a:endParaRPr lang="en-US" sz="1200" dirty="0"/>
          </a:p>
        </p:txBody>
      </p:sp>
      <p:sp>
        <p:nvSpPr>
          <p:cNvPr id="12" name="Text 9"/>
          <p:cNvSpPr/>
          <p:nvPr/>
        </p:nvSpPr>
        <p:spPr>
          <a:xfrm>
            <a:off x="919480" y="3144520"/>
            <a:ext cx="4064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Public Sans" pitchFamily="34" charset="0"/>
                <a:ea typeface="Public Sans" pitchFamily="34" charset="-122"/>
                <a:cs typeface="Public Sans" pitchFamily="34" charset="-120"/>
              </a:rPr>
              <a:t>400</a:t>
            </a:r>
            <a:endParaRPr lang="en-US" sz="1200" dirty="0"/>
          </a:p>
        </p:txBody>
      </p:sp>
      <p:sp>
        <p:nvSpPr>
          <p:cNvPr id="13" name="Text 10"/>
          <p:cNvSpPr/>
          <p:nvPr/>
        </p:nvSpPr>
        <p:spPr>
          <a:xfrm>
            <a:off x="919480" y="2598420"/>
            <a:ext cx="4064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Public Sans" pitchFamily="34" charset="0"/>
                <a:ea typeface="Public Sans" pitchFamily="34" charset="-122"/>
                <a:cs typeface="Public Sans" pitchFamily="34" charset="-120"/>
              </a:rPr>
              <a:t>800</a:t>
            </a:r>
            <a:endParaRPr lang="en-US" sz="1200" dirty="0"/>
          </a:p>
        </p:txBody>
      </p:sp>
      <p:sp>
        <p:nvSpPr>
          <p:cNvPr id="14" name="Text 11"/>
          <p:cNvSpPr/>
          <p:nvPr/>
        </p:nvSpPr>
        <p:spPr>
          <a:xfrm>
            <a:off x="919480" y="2045970"/>
            <a:ext cx="406400" cy="4521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Public Sans" pitchFamily="34" charset="0"/>
                <a:ea typeface="Public Sans" pitchFamily="34" charset="-122"/>
                <a:cs typeface="Public Sans" pitchFamily="34" charset="-120"/>
              </a:rPr>
              <a:t>1,200</a:t>
            </a:r>
            <a:endParaRPr lang="en-US" sz="1200" dirty="0"/>
          </a:p>
        </p:txBody>
      </p:sp>
      <p:sp>
        <p:nvSpPr>
          <p:cNvPr id="15" name="Text 12"/>
          <p:cNvSpPr/>
          <p:nvPr/>
        </p:nvSpPr>
        <p:spPr>
          <a:xfrm>
            <a:off x="1135380" y="3931920"/>
            <a:ext cx="558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7280"/>
                </a:solidFill>
                <a:latin typeface="Public Sans" pitchFamily="34" charset="0"/>
                <a:ea typeface="Public Sans" pitchFamily="34" charset="-122"/>
                <a:cs typeface="Public Sans" pitchFamily="34" charset="-120"/>
              </a:rPr>
              <a:t>2016</a:t>
            </a:r>
            <a:endParaRPr lang="en-US" sz="1200" dirty="0"/>
          </a:p>
        </p:txBody>
      </p:sp>
      <p:sp>
        <p:nvSpPr>
          <p:cNvPr id="16" name="Text 13"/>
          <p:cNvSpPr/>
          <p:nvPr/>
        </p:nvSpPr>
        <p:spPr>
          <a:xfrm>
            <a:off x="1751330" y="3931920"/>
            <a:ext cx="558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7280"/>
                </a:solidFill>
                <a:latin typeface="Public Sans" pitchFamily="34" charset="0"/>
                <a:ea typeface="Public Sans" pitchFamily="34" charset="-122"/>
                <a:cs typeface="Public Sans" pitchFamily="34" charset="-120"/>
              </a:rPr>
              <a:t>2017</a:t>
            </a:r>
            <a:endParaRPr lang="en-US" sz="1200" dirty="0"/>
          </a:p>
        </p:txBody>
      </p:sp>
      <p:sp>
        <p:nvSpPr>
          <p:cNvPr id="17" name="Text 14"/>
          <p:cNvSpPr/>
          <p:nvPr/>
        </p:nvSpPr>
        <p:spPr>
          <a:xfrm>
            <a:off x="2367280" y="3931920"/>
            <a:ext cx="558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7280"/>
                </a:solidFill>
                <a:latin typeface="Public Sans" pitchFamily="34" charset="0"/>
                <a:ea typeface="Public Sans" pitchFamily="34" charset="-122"/>
                <a:cs typeface="Public Sans" pitchFamily="34" charset="-120"/>
              </a:rPr>
              <a:t>2018</a:t>
            </a:r>
            <a:endParaRPr lang="en-US" sz="1200" dirty="0"/>
          </a:p>
        </p:txBody>
      </p:sp>
      <p:sp>
        <p:nvSpPr>
          <p:cNvPr id="18" name="Text 15"/>
          <p:cNvSpPr/>
          <p:nvPr/>
        </p:nvSpPr>
        <p:spPr>
          <a:xfrm>
            <a:off x="2983230" y="3931920"/>
            <a:ext cx="558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7280"/>
                </a:solidFill>
                <a:latin typeface="Public Sans" pitchFamily="34" charset="0"/>
                <a:ea typeface="Public Sans" pitchFamily="34" charset="-122"/>
                <a:cs typeface="Public Sans" pitchFamily="34" charset="-120"/>
              </a:rPr>
              <a:t>2019</a:t>
            </a:r>
            <a:endParaRPr lang="en-US" sz="1200" dirty="0"/>
          </a:p>
        </p:txBody>
      </p:sp>
      <p:sp>
        <p:nvSpPr>
          <p:cNvPr id="19" name="Text 16"/>
          <p:cNvSpPr/>
          <p:nvPr/>
        </p:nvSpPr>
        <p:spPr>
          <a:xfrm>
            <a:off x="3599180" y="3931920"/>
            <a:ext cx="558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7280"/>
                </a:solidFill>
                <a:latin typeface="Public Sans" pitchFamily="34" charset="0"/>
                <a:ea typeface="Public Sans" pitchFamily="34" charset="-122"/>
                <a:cs typeface="Public Sans" pitchFamily="34" charset="-120"/>
              </a:rPr>
              <a:t>2020</a:t>
            </a:r>
            <a:endParaRPr lang="en-US" sz="1200" dirty="0"/>
          </a:p>
        </p:txBody>
      </p:sp>
      <p:sp>
        <p:nvSpPr>
          <p:cNvPr id="20" name="Text 17"/>
          <p:cNvSpPr/>
          <p:nvPr/>
        </p:nvSpPr>
        <p:spPr>
          <a:xfrm>
            <a:off x="4215130" y="3931920"/>
            <a:ext cx="558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7280"/>
                </a:solidFill>
                <a:latin typeface="Public Sans" pitchFamily="34" charset="0"/>
                <a:ea typeface="Public Sans" pitchFamily="34" charset="-122"/>
                <a:cs typeface="Public Sans" pitchFamily="34" charset="-120"/>
              </a:rPr>
              <a:t>2021</a:t>
            </a:r>
            <a:endParaRPr lang="en-US" sz="1200" dirty="0"/>
          </a:p>
        </p:txBody>
      </p:sp>
      <p:sp>
        <p:nvSpPr>
          <p:cNvPr id="21" name="Text 18"/>
          <p:cNvSpPr/>
          <p:nvPr/>
        </p:nvSpPr>
        <p:spPr>
          <a:xfrm>
            <a:off x="4831080" y="3931920"/>
            <a:ext cx="558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7280"/>
                </a:solidFill>
                <a:latin typeface="Public Sans" pitchFamily="34" charset="0"/>
                <a:ea typeface="Public Sans" pitchFamily="34" charset="-122"/>
                <a:cs typeface="Public Sans" pitchFamily="34" charset="-120"/>
              </a:rPr>
              <a:t>2022</a:t>
            </a:r>
            <a:endParaRPr lang="en-US" sz="1200" dirty="0"/>
          </a:p>
        </p:txBody>
      </p:sp>
      <p:sp>
        <p:nvSpPr>
          <p:cNvPr id="22" name="Text 19"/>
          <p:cNvSpPr/>
          <p:nvPr/>
        </p:nvSpPr>
        <p:spPr>
          <a:xfrm>
            <a:off x="5447030" y="3931920"/>
            <a:ext cx="558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7280"/>
                </a:solidFill>
                <a:latin typeface="Public Sans" pitchFamily="34" charset="0"/>
                <a:ea typeface="Public Sans" pitchFamily="34" charset="-122"/>
                <a:cs typeface="Public Sans" pitchFamily="34" charset="-120"/>
              </a:rPr>
              <a:t>2023</a:t>
            </a:r>
            <a:endParaRPr lang="en-US" sz="1200" dirty="0"/>
          </a:p>
        </p:txBody>
      </p:sp>
      <p:sp>
        <p:nvSpPr>
          <p:cNvPr id="23" name="Text 20"/>
          <p:cNvSpPr/>
          <p:nvPr/>
        </p:nvSpPr>
        <p:spPr>
          <a:xfrm>
            <a:off x="6062980" y="3931920"/>
            <a:ext cx="558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7280"/>
                </a:solidFill>
                <a:latin typeface="Public Sans" pitchFamily="34" charset="0"/>
                <a:ea typeface="Public Sans" pitchFamily="34" charset="-122"/>
                <a:cs typeface="Public Sans" pitchFamily="34" charset="-120"/>
              </a:rPr>
              <a:t>2024</a:t>
            </a:r>
            <a:endParaRPr lang="en-US" sz="1200" dirty="0"/>
          </a:p>
        </p:txBody>
      </p:sp>
      <p:sp>
        <p:nvSpPr>
          <p:cNvPr id="24" name="Text 21"/>
          <p:cNvSpPr/>
          <p:nvPr/>
        </p:nvSpPr>
        <p:spPr>
          <a:xfrm>
            <a:off x="6678930" y="3931920"/>
            <a:ext cx="558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7280"/>
                </a:solidFill>
                <a:latin typeface="Public Sans" pitchFamily="34" charset="0"/>
                <a:ea typeface="Public Sans" pitchFamily="34" charset="-122"/>
                <a:cs typeface="Public Sans" pitchFamily="34" charset="-120"/>
              </a:rPr>
              <a:t>2025</a:t>
            </a:r>
            <a:endParaRPr lang="en-US" sz="1200" dirty="0"/>
          </a:p>
        </p:txBody>
      </p:sp>
      <p:sp>
        <p:nvSpPr>
          <p:cNvPr id="25" name="Text 22"/>
          <p:cNvSpPr/>
          <p:nvPr/>
        </p:nvSpPr>
        <p:spPr>
          <a:xfrm>
            <a:off x="7294880" y="3931920"/>
            <a:ext cx="558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7280"/>
                </a:solidFill>
                <a:latin typeface="Public Sans" pitchFamily="34" charset="0"/>
                <a:ea typeface="Public Sans" pitchFamily="34" charset="-122"/>
                <a:cs typeface="Public Sans" pitchFamily="34" charset="-120"/>
              </a:rPr>
              <a:t>2026*</a:t>
            </a:r>
            <a:endParaRPr lang="en-US" sz="1200" dirty="0"/>
          </a:p>
        </p:txBody>
      </p:sp>
      <p:sp>
        <p:nvSpPr>
          <p:cNvPr id="26" name="Shape 23"/>
          <p:cNvSpPr/>
          <p:nvPr/>
        </p:nvSpPr>
        <p:spPr>
          <a:xfrm>
            <a:off x="8207375" y="1583055"/>
            <a:ext cx="3168650" cy="851297"/>
          </a:xfrm>
          <a:prstGeom prst="roundRect">
            <a:avLst>
              <a:gd name="adj" fmla="val 14545"/>
            </a:avLst>
          </a:prstGeom>
          <a:solidFill>
            <a:srgbClr val="FDFCFA"/>
          </a:solidFill>
          <a:ln w="6350">
            <a:solidFill>
              <a:srgbClr val="E4E1D8"/>
            </a:solidFill>
            <a:prstDash val="solid"/>
          </a:ln>
        </p:spPr>
      </p:sp>
      <p:sp>
        <p:nvSpPr>
          <p:cNvPr id="27" name="Text 24"/>
          <p:cNvSpPr/>
          <p:nvPr/>
        </p:nvSpPr>
        <p:spPr>
          <a:xfrm>
            <a:off x="8361680" y="1750854"/>
            <a:ext cx="2945841"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14213D"/>
                </a:solidFill>
                <a:latin typeface="Space Grotesk" pitchFamily="34" charset="0"/>
                <a:ea typeface="Space Grotesk" pitchFamily="34" charset="-122"/>
                <a:cs typeface="Space Grotesk" pitchFamily="34" charset="-120"/>
              </a:rPr>
              <a:t>18,343 papers</a:t>
            </a:r>
            <a:endParaRPr lang="en-US" sz="2000" dirty="0"/>
          </a:p>
        </p:txBody>
      </p:sp>
      <p:sp>
        <p:nvSpPr>
          <p:cNvPr id="28" name="Text 25"/>
          <p:cNvSpPr/>
          <p:nvPr/>
        </p:nvSpPr>
        <p:spPr>
          <a:xfrm>
            <a:off x="8361680" y="2068354"/>
            <a:ext cx="2945841"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F63B8"/>
                </a:solidFill>
                <a:latin typeface="Public Sans" pitchFamily="34" charset="0"/>
                <a:ea typeface="Public Sans" pitchFamily="34" charset="-122"/>
                <a:cs typeface="Public Sans" pitchFamily="34" charset="-120"/>
              </a:rPr>
              <a:t>9,184 Trichy</a:t>
            </a:r>
            <a:r>
              <a:rPr lang="en-US" sz="1200" dirty="0">
                <a:solidFill>
                  <a:srgbClr val="4A5568"/>
                </a:solidFill>
                <a:latin typeface="Public Sans" pitchFamily="34" charset="0"/>
                <a:ea typeface="Public Sans" pitchFamily="34" charset="-122"/>
                <a:cs typeface="Public Sans" pitchFamily="34" charset="-120"/>
              </a:rPr>
              <a:t> · </a:t>
            </a:r>
            <a:r>
              <a:rPr lang="en-US" sz="1200" dirty="0">
                <a:solidFill>
                  <a:srgbClr val="B34A1C"/>
                </a:solidFill>
                <a:latin typeface="Public Sans" pitchFamily="34" charset="0"/>
                <a:ea typeface="Public Sans" pitchFamily="34" charset="-122"/>
                <a:cs typeface="Public Sans" pitchFamily="34" charset="-120"/>
              </a:rPr>
              <a:t>9,206 Surathkal</a:t>
            </a:r>
            <a:endParaRPr lang="en-US" sz="1200" dirty="0"/>
          </a:p>
        </p:txBody>
      </p:sp>
      <p:sp>
        <p:nvSpPr>
          <p:cNvPr id="29" name="Shape 26"/>
          <p:cNvSpPr/>
          <p:nvPr/>
        </p:nvSpPr>
        <p:spPr>
          <a:xfrm>
            <a:off x="8207375" y="2516902"/>
            <a:ext cx="3168650" cy="851376"/>
          </a:xfrm>
          <a:prstGeom prst="roundRect">
            <a:avLst>
              <a:gd name="adj" fmla="val 14544"/>
            </a:avLst>
          </a:prstGeom>
          <a:solidFill>
            <a:srgbClr val="FDFCFA"/>
          </a:solidFill>
          <a:ln w="6350">
            <a:solidFill>
              <a:srgbClr val="E4E1D8"/>
            </a:solidFill>
            <a:prstDash val="solid"/>
          </a:ln>
        </p:spPr>
      </p:sp>
      <p:sp>
        <p:nvSpPr>
          <p:cNvPr id="30" name="Text 27"/>
          <p:cNvSpPr/>
          <p:nvPr/>
        </p:nvSpPr>
        <p:spPr>
          <a:xfrm>
            <a:off x="8361680" y="2684780"/>
            <a:ext cx="2945841"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14213D"/>
                </a:solidFill>
                <a:latin typeface="Space Grotesk" pitchFamily="34" charset="0"/>
                <a:ea typeface="Space Grotesk" pitchFamily="34" charset="-122"/>
                <a:cs typeface="Space Grotesk" pitchFamily="34" charset="-120"/>
              </a:rPr>
              <a:t>1.8× growth</a:t>
            </a:r>
            <a:endParaRPr lang="en-US" sz="2000" dirty="0"/>
          </a:p>
        </p:txBody>
      </p:sp>
      <p:sp>
        <p:nvSpPr>
          <p:cNvPr id="31" name="Text 28"/>
          <p:cNvSpPr/>
          <p:nvPr/>
        </p:nvSpPr>
        <p:spPr>
          <a:xfrm>
            <a:off x="8361680" y="3002280"/>
            <a:ext cx="2945841"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A5568"/>
                </a:solidFill>
                <a:latin typeface="Public Sans" pitchFamily="34" charset="0"/>
                <a:ea typeface="Public Sans" pitchFamily="34" charset="-122"/>
                <a:cs typeface="Public Sans" pitchFamily="34" charset="-120"/>
              </a:rPr>
              <a:t>papers in 2025 vs 2016 (1,924 vs 1,071)</a:t>
            </a:r>
            <a:endParaRPr lang="en-US" sz="1200" dirty="0"/>
          </a:p>
        </p:txBody>
      </p:sp>
      <p:sp>
        <p:nvSpPr>
          <p:cNvPr id="32" name="Shape 29"/>
          <p:cNvSpPr/>
          <p:nvPr/>
        </p:nvSpPr>
        <p:spPr>
          <a:xfrm>
            <a:off x="8207375" y="3450828"/>
            <a:ext cx="3168650" cy="851297"/>
          </a:xfrm>
          <a:prstGeom prst="roundRect">
            <a:avLst>
              <a:gd name="adj" fmla="val 14545"/>
            </a:avLst>
          </a:prstGeom>
          <a:solidFill>
            <a:srgbClr val="FDFCFA"/>
          </a:solidFill>
          <a:ln w="6350">
            <a:solidFill>
              <a:srgbClr val="E4E1D8"/>
            </a:solidFill>
            <a:prstDash val="solid"/>
          </a:ln>
        </p:spPr>
      </p:sp>
      <p:sp>
        <p:nvSpPr>
          <p:cNvPr id="33" name="Text 30"/>
          <p:cNvSpPr/>
          <p:nvPr/>
        </p:nvSpPr>
        <p:spPr>
          <a:xfrm>
            <a:off x="8361680" y="3567033"/>
            <a:ext cx="2945841" cy="265589"/>
          </a:xfrm>
          <a:prstGeom prst="rect">
            <a:avLst/>
          </a:prstGeom>
          <a:noFill/>
          <a:ln/>
        </p:spPr>
        <p:txBody>
          <a:bodyPr wrap="square" lIns="0" tIns="0" rIns="0" bIns="0" rtlCol="0" anchor="t">
            <a:normAutofit/>
          </a:bodyPr>
          <a:lstStyle/>
          <a:p>
            <a:pPr marL="0" indent="0" algn="l">
              <a:lnSpc>
                <a:spcPts val="1918"/>
              </a:lnSpc>
              <a:buNone/>
            </a:pPr>
            <a:r>
              <a:rPr lang="en-US" sz="1744" b="1" dirty="0">
                <a:solidFill>
                  <a:srgbClr val="1F63B8"/>
                </a:solidFill>
                <a:latin typeface="Space Grotesk" pitchFamily="34" charset="0"/>
                <a:ea typeface="Space Grotesk" pitchFamily="34" charset="-122"/>
                <a:cs typeface="Space Grotesk" pitchFamily="34" charset="-120"/>
              </a:rPr>
              <a:t>80%</a:t>
            </a:r>
            <a:r>
              <a:rPr lang="en-US" sz="1744" b="1" dirty="0">
                <a:solidFill>
                  <a:srgbClr val="14213D"/>
                </a:solidFill>
                <a:latin typeface="Space Grotesk" pitchFamily="34" charset="0"/>
                <a:ea typeface="Space Grotesk" pitchFamily="34" charset="-122"/>
                <a:cs typeface="Space Grotesk" pitchFamily="34" charset="-120"/>
              </a:rPr>
              <a:t> vs </a:t>
            </a:r>
            <a:r>
              <a:rPr lang="en-US" sz="1744" b="1" dirty="0">
                <a:solidFill>
                  <a:srgbClr val="B34A1C"/>
                </a:solidFill>
                <a:latin typeface="Space Grotesk" pitchFamily="34" charset="0"/>
                <a:ea typeface="Space Grotesk" pitchFamily="34" charset="-122"/>
                <a:cs typeface="Space Grotesk" pitchFamily="34" charset="-120"/>
              </a:rPr>
              <a:t>68%</a:t>
            </a:r>
            <a:endParaRPr lang="en-US" sz="1744" dirty="0"/>
          </a:p>
        </p:txBody>
      </p:sp>
      <p:sp>
        <p:nvSpPr>
          <p:cNvPr id="34" name="Text 31"/>
          <p:cNvSpPr/>
          <p:nvPr/>
        </p:nvSpPr>
        <p:spPr>
          <a:xfrm>
            <a:off x="8361680" y="3845322"/>
            <a:ext cx="2945841" cy="365998"/>
          </a:xfrm>
          <a:prstGeom prst="rect">
            <a:avLst/>
          </a:prstGeom>
          <a:noFill/>
          <a:ln/>
        </p:spPr>
        <p:txBody>
          <a:bodyPr wrap="square" lIns="0" tIns="0" rIns="0" bIns="0" rtlCol="0" anchor="t">
            <a:normAutofit/>
          </a:bodyPr>
          <a:lstStyle/>
          <a:p>
            <a:pPr marL="0" indent="0" algn="l">
              <a:lnSpc>
                <a:spcPts val="1360"/>
              </a:lnSpc>
              <a:buNone/>
            </a:pPr>
            <a:r>
              <a:rPr lang="en-US" sz="1046" dirty="0">
                <a:solidFill>
                  <a:srgbClr val="4A5568"/>
                </a:solidFill>
                <a:latin typeface="Public Sans" pitchFamily="34" charset="0"/>
                <a:ea typeface="Public Sans" pitchFamily="34" charset="-122"/>
                <a:cs typeface="Public Sans" pitchFamily="34" charset="-120"/>
              </a:rPr>
              <a:t>of papers are in journals; the rest are conference papers</a:t>
            </a:r>
            <a:endParaRPr lang="en-US" sz="1046"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822960" y="4493260"/>
          <a:ext cx="10556238" cy="1320800"/>
        </p:xfrm>
        <a:graphic>
          <a:graphicData uri="http://schemas.openxmlformats.org/drawingml/2006/table">
            <a:tbl>
              <a:tblPr/>
              <a:tblGrid>
                <a:gridCol w="1319530">
                  <a:extLst>
                    <a:ext uri="{9D8B030D-6E8A-4147-A177-3AD203B41FA5}">
                      <a16:colId xmlns:a16="http://schemas.microsoft.com/office/drawing/2014/main" val="20000"/>
                    </a:ext>
                  </a:extLst>
                </a:gridCol>
                <a:gridCol w="710516">
                  <a:extLst>
                    <a:ext uri="{9D8B030D-6E8A-4147-A177-3AD203B41FA5}">
                      <a16:colId xmlns:a16="http://schemas.microsoft.com/office/drawing/2014/main" val="20001"/>
                    </a:ext>
                  </a:extLst>
                </a:gridCol>
                <a:gridCol w="710516">
                  <a:extLst>
                    <a:ext uri="{9D8B030D-6E8A-4147-A177-3AD203B41FA5}">
                      <a16:colId xmlns:a16="http://schemas.microsoft.com/office/drawing/2014/main" val="20002"/>
                    </a:ext>
                  </a:extLst>
                </a:gridCol>
                <a:gridCol w="710516">
                  <a:extLst>
                    <a:ext uri="{9D8B030D-6E8A-4147-A177-3AD203B41FA5}">
                      <a16:colId xmlns:a16="http://schemas.microsoft.com/office/drawing/2014/main" val="20003"/>
                    </a:ext>
                  </a:extLst>
                </a:gridCol>
                <a:gridCol w="710516">
                  <a:extLst>
                    <a:ext uri="{9D8B030D-6E8A-4147-A177-3AD203B41FA5}">
                      <a16:colId xmlns:a16="http://schemas.microsoft.com/office/drawing/2014/main" val="20004"/>
                    </a:ext>
                  </a:extLst>
                </a:gridCol>
                <a:gridCol w="710516">
                  <a:extLst>
                    <a:ext uri="{9D8B030D-6E8A-4147-A177-3AD203B41FA5}">
                      <a16:colId xmlns:a16="http://schemas.microsoft.com/office/drawing/2014/main" val="20005"/>
                    </a:ext>
                  </a:extLst>
                </a:gridCol>
                <a:gridCol w="710516">
                  <a:extLst>
                    <a:ext uri="{9D8B030D-6E8A-4147-A177-3AD203B41FA5}">
                      <a16:colId xmlns:a16="http://schemas.microsoft.com/office/drawing/2014/main" val="20006"/>
                    </a:ext>
                  </a:extLst>
                </a:gridCol>
                <a:gridCol w="710516">
                  <a:extLst>
                    <a:ext uri="{9D8B030D-6E8A-4147-A177-3AD203B41FA5}">
                      <a16:colId xmlns:a16="http://schemas.microsoft.com/office/drawing/2014/main" val="20007"/>
                    </a:ext>
                  </a:extLst>
                </a:gridCol>
                <a:gridCol w="710516">
                  <a:extLst>
                    <a:ext uri="{9D8B030D-6E8A-4147-A177-3AD203B41FA5}">
                      <a16:colId xmlns:a16="http://schemas.microsoft.com/office/drawing/2014/main" val="20008"/>
                    </a:ext>
                  </a:extLst>
                </a:gridCol>
                <a:gridCol w="710516">
                  <a:extLst>
                    <a:ext uri="{9D8B030D-6E8A-4147-A177-3AD203B41FA5}">
                      <a16:colId xmlns:a16="http://schemas.microsoft.com/office/drawing/2014/main" val="20009"/>
                    </a:ext>
                  </a:extLst>
                </a:gridCol>
                <a:gridCol w="710516">
                  <a:extLst>
                    <a:ext uri="{9D8B030D-6E8A-4147-A177-3AD203B41FA5}">
                      <a16:colId xmlns:a16="http://schemas.microsoft.com/office/drawing/2014/main" val="20010"/>
                    </a:ext>
                  </a:extLst>
                </a:gridCol>
                <a:gridCol w="710516">
                  <a:extLst>
                    <a:ext uri="{9D8B030D-6E8A-4147-A177-3AD203B41FA5}">
                      <a16:colId xmlns:a16="http://schemas.microsoft.com/office/drawing/2014/main" val="20011"/>
                    </a:ext>
                  </a:extLst>
                </a:gridCol>
                <a:gridCol w="1421032">
                  <a:extLst>
                    <a:ext uri="{9D8B030D-6E8A-4147-A177-3AD203B41FA5}">
                      <a16:colId xmlns:a16="http://schemas.microsoft.com/office/drawing/2014/main" val="20012"/>
                    </a:ext>
                  </a:extLst>
                </a:gridCol>
              </a:tblGrid>
              <a:tr h="330200">
                <a:tc>
                  <a:txBody>
                    <a:bodyPr/>
                    <a:lstStyle/>
                    <a:p>
                      <a:pPr marL="0" indent="0">
                        <a:lnSpc>
                          <a:spcPts val="1680"/>
                        </a:lnSpc>
                        <a:buNone/>
                      </a:pPr>
                      <a:r>
                        <a:rPr lang="en-US" sz="1200" b="1" dirty="0">
                          <a:solidFill>
                            <a:srgbClr val="6B7280"/>
                          </a:solidFill>
                          <a:latin typeface="Public Sans" pitchFamily="34" charset="0"/>
                          <a:ea typeface="Public Sans" pitchFamily="34" charset="-122"/>
                          <a:cs typeface="Public Sans" pitchFamily="34" charset="-120"/>
                        </a:rPr>
                        <a:t>Papers</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1680"/>
                        </a:lnSpc>
                        <a:buNone/>
                      </a:pPr>
                      <a:r>
                        <a:rPr lang="en-US" sz="1200" b="1" dirty="0">
                          <a:solidFill>
                            <a:srgbClr val="6B7280"/>
                          </a:solidFill>
                          <a:latin typeface="Public Sans" pitchFamily="34" charset="0"/>
                          <a:ea typeface="Public Sans" pitchFamily="34" charset="-122"/>
                          <a:cs typeface="Public Sans" pitchFamily="34" charset="-120"/>
                        </a:rPr>
                        <a:t>2016</a:t>
                      </a:r>
                      <a:endParaRPr lang="en-US" sz="1200" dirty="0">
                        <a:latin typeface="Public Sans" charset="0"/>
                        <a:ea typeface="Public Sans" charset="0"/>
                        <a:cs typeface="Public Sans" charset="0"/>
                      </a:endParaRPr>
                    </a:p>
                  </a:txBody>
                  <a:tcPr marL="53340" marR="53340" marT="53340" marB="5334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1680"/>
                        </a:lnSpc>
                        <a:buNone/>
                      </a:pPr>
                      <a:r>
                        <a:rPr lang="en-US" sz="1200" b="1" dirty="0">
                          <a:solidFill>
                            <a:srgbClr val="6B7280"/>
                          </a:solidFill>
                          <a:latin typeface="Public Sans" pitchFamily="34" charset="0"/>
                          <a:ea typeface="Public Sans" pitchFamily="34" charset="-122"/>
                          <a:cs typeface="Public Sans" pitchFamily="34" charset="-120"/>
                        </a:rPr>
                        <a:t>2017</a:t>
                      </a:r>
                      <a:endParaRPr lang="en-US" sz="1200" dirty="0">
                        <a:latin typeface="Public Sans" charset="0"/>
                        <a:ea typeface="Public Sans" charset="0"/>
                        <a:cs typeface="Public Sans" charset="0"/>
                      </a:endParaRPr>
                    </a:p>
                  </a:txBody>
                  <a:tcPr marL="53340" marR="53340" marT="53340" marB="5334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1680"/>
                        </a:lnSpc>
                        <a:buNone/>
                      </a:pPr>
                      <a:r>
                        <a:rPr lang="en-US" sz="1200" b="1" dirty="0">
                          <a:solidFill>
                            <a:srgbClr val="6B7280"/>
                          </a:solidFill>
                          <a:latin typeface="Public Sans" pitchFamily="34" charset="0"/>
                          <a:ea typeface="Public Sans" pitchFamily="34" charset="-122"/>
                          <a:cs typeface="Public Sans" pitchFamily="34" charset="-120"/>
                        </a:rPr>
                        <a:t>2018</a:t>
                      </a:r>
                      <a:endParaRPr lang="en-US" sz="1200" dirty="0">
                        <a:latin typeface="Public Sans" charset="0"/>
                        <a:ea typeface="Public Sans" charset="0"/>
                        <a:cs typeface="Public Sans" charset="0"/>
                      </a:endParaRPr>
                    </a:p>
                  </a:txBody>
                  <a:tcPr marL="53340" marR="53340" marT="53340" marB="5334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1680"/>
                        </a:lnSpc>
                        <a:buNone/>
                      </a:pPr>
                      <a:r>
                        <a:rPr lang="en-US" sz="1200" b="1" dirty="0">
                          <a:solidFill>
                            <a:srgbClr val="6B7280"/>
                          </a:solidFill>
                          <a:latin typeface="Public Sans" pitchFamily="34" charset="0"/>
                          <a:ea typeface="Public Sans" pitchFamily="34" charset="-122"/>
                          <a:cs typeface="Public Sans" pitchFamily="34" charset="-120"/>
                        </a:rPr>
                        <a:t>2019</a:t>
                      </a:r>
                      <a:endParaRPr lang="en-US" sz="1200" dirty="0">
                        <a:latin typeface="Public Sans" charset="0"/>
                        <a:ea typeface="Public Sans" charset="0"/>
                        <a:cs typeface="Public Sans" charset="0"/>
                      </a:endParaRPr>
                    </a:p>
                  </a:txBody>
                  <a:tcPr marL="53340" marR="53340" marT="53340" marB="5334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1680"/>
                        </a:lnSpc>
                        <a:buNone/>
                      </a:pPr>
                      <a:r>
                        <a:rPr lang="en-US" sz="1200" b="1" dirty="0">
                          <a:solidFill>
                            <a:srgbClr val="6B7280"/>
                          </a:solidFill>
                          <a:latin typeface="Public Sans" pitchFamily="34" charset="0"/>
                          <a:ea typeface="Public Sans" pitchFamily="34" charset="-122"/>
                          <a:cs typeface="Public Sans" pitchFamily="34" charset="-120"/>
                        </a:rPr>
                        <a:t>2020</a:t>
                      </a:r>
                      <a:endParaRPr lang="en-US" sz="1200" dirty="0">
                        <a:latin typeface="Public Sans" charset="0"/>
                        <a:ea typeface="Public Sans" charset="0"/>
                        <a:cs typeface="Public Sans" charset="0"/>
                      </a:endParaRPr>
                    </a:p>
                  </a:txBody>
                  <a:tcPr marL="53340" marR="53340" marT="53340" marB="5334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1680"/>
                        </a:lnSpc>
                        <a:buNone/>
                      </a:pPr>
                      <a:r>
                        <a:rPr lang="en-US" sz="1200" b="1" dirty="0">
                          <a:solidFill>
                            <a:srgbClr val="6B7280"/>
                          </a:solidFill>
                          <a:latin typeface="Public Sans" pitchFamily="34" charset="0"/>
                          <a:ea typeface="Public Sans" pitchFamily="34" charset="-122"/>
                          <a:cs typeface="Public Sans" pitchFamily="34" charset="-120"/>
                        </a:rPr>
                        <a:t>2021</a:t>
                      </a:r>
                      <a:endParaRPr lang="en-US" sz="1200" dirty="0">
                        <a:latin typeface="Public Sans" charset="0"/>
                        <a:ea typeface="Public Sans" charset="0"/>
                        <a:cs typeface="Public Sans" charset="0"/>
                      </a:endParaRPr>
                    </a:p>
                  </a:txBody>
                  <a:tcPr marL="53340" marR="53340" marT="53340" marB="5334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1680"/>
                        </a:lnSpc>
                        <a:buNone/>
                      </a:pPr>
                      <a:r>
                        <a:rPr lang="en-US" sz="1200" b="1" dirty="0">
                          <a:solidFill>
                            <a:srgbClr val="6B7280"/>
                          </a:solidFill>
                          <a:latin typeface="Public Sans" pitchFamily="34" charset="0"/>
                          <a:ea typeface="Public Sans" pitchFamily="34" charset="-122"/>
                          <a:cs typeface="Public Sans" pitchFamily="34" charset="-120"/>
                        </a:rPr>
                        <a:t>2022</a:t>
                      </a:r>
                      <a:endParaRPr lang="en-US" sz="1200" dirty="0">
                        <a:latin typeface="Public Sans" charset="0"/>
                        <a:ea typeface="Public Sans" charset="0"/>
                        <a:cs typeface="Public Sans" charset="0"/>
                      </a:endParaRPr>
                    </a:p>
                  </a:txBody>
                  <a:tcPr marL="53340" marR="53340" marT="53340" marB="5334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1680"/>
                        </a:lnSpc>
                        <a:buNone/>
                      </a:pPr>
                      <a:r>
                        <a:rPr lang="en-US" sz="1200" b="1" dirty="0">
                          <a:solidFill>
                            <a:srgbClr val="6B7280"/>
                          </a:solidFill>
                          <a:latin typeface="Public Sans" pitchFamily="34" charset="0"/>
                          <a:ea typeface="Public Sans" pitchFamily="34" charset="-122"/>
                          <a:cs typeface="Public Sans" pitchFamily="34" charset="-120"/>
                        </a:rPr>
                        <a:t>2023</a:t>
                      </a:r>
                      <a:endParaRPr lang="en-US" sz="1200" dirty="0">
                        <a:latin typeface="Public Sans" charset="0"/>
                        <a:ea typeface="Public Sans" charset="0"/>
                        <a:cs typeface="Public Sans" charset="0"/>
                      </a:endParaRPr>
                    </a:p>
                  </a:txBody>
                  <a:tcPr marL="53340" marR="53340" marT="53340" marB="5334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1680"/>
                        </a:lnSpc>
                        <a:buNone/>
                      </a:pPr>
                      <a:r>
                        <a:rPr lang="en-US" sz="1200" b="1" dirty="0">
                          <a:solidFill>
                            <a:srgbClr val="6B7280"/>
                          </a:solidFill>
                          <a:latin typeface="Public Sans" pitchFamily="34" charset="0"/>
                          <a:ea typeface="Public Sans" pitchFamily="34" charset="-122"/>
                          <a:cs typeface="Public Sans" pitchFamily="34" charset="-120"/>
                        </a:rPr>
                        <a:t>2024</a:t>
                      </a:r>
                      <a:endParaRPr lang="en-US" sz="1200" dirty="0">
                        <a:latin typeface="Public Sans" charset="0"/>
                        <a:ea typeface="Public Sans" charset="0"/>
                        <a:cs typeface="Public Sans" charset="0"/>
                      </a:endParaRPr>
                    </a:p>
                  </a:txBody>
                  <a:tcPr marL="53340" marR="53340" marT="53340" marB="5334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1680"/>
                        </a:lnSpc>
                        <a:buNone/>
                      </a:pPr>
                      <a:r>
                        <a:rPr lang="en-US" sz="1200" b="1" dirty="0">
                          <a:solidFill>
                            <a:srgbClr val="6B7280"/>
                          </a:solidFill>
                          <a:latin typeface="Public Sans" pitchFamily="34" charset="0"/>
                          <a:ea typeface="Public Sans" pitchFamily="34" charset="-122"/>
                          <a:cs typeface="Public Sans" pitchFamily="34" charset="-120"/>
                        </a:rPr>
                        <a:t>2025</a:t>
                      </a:r>
                      <a:endParaRPr lang="en-US" sz="1200" dirty="0">
                        <a:latin typeface="Public Sans" charset="0"/>
                        <a:ea typeface="Public Sans" charset="0"/>
                        <a:cs typeface="Public Sans" charset="0"/>
                      </a:endParaRPr>
                    </a:p>
                  </a:txBody>
                  <a:tcPr marL="53340" marR="53340" marT="53340" marB="5334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1680"/>
                        </a:lnSpc>
                        <a:buNone/>
                      </a:pPr>
                      <a:r>
                        <a:rPr lang="en-US" sz="1200" b="1" dirty="0">
                          <a:solidFill>
                            <a:srgbClr val="6B7280"/>
                          </a:solidFill>
                          <a:latin typeface="Public Sans" pitchFamily="34" charset="0"/>
                          <a:ea typeface="Public Sans" pitchFamily="34" charset="-122"/>
                          <a:cs typeface="Public Sans" pitchFamily="34" charset="-120"/>
                        </a:rPr>
                        <a:t>2026*</a:t>
                      </a:r>
                      <a:endParaRPr lang="en-US" sz="1200" dirty="0">
                        <a:latin typeface="Public Sans" charset="0"/>
                        <a:ea typeface="Public Sans" charset="0"/>
                        <a:cs typeface="Public Sans" charset="0"/>
                      </a:endParaRPr>
                    </a:p>
                  </a:txBody>
                  <a:tcPr marL="53340" marR="53340" marT="53340" marB="5334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1680"/>
                        </a:lnSpc>
                        <a:buNone/>
                      </a:pPr>
                      <a:r>
                        <a:rPr lang="en-US" sz="1200" b="1" dirty="0">
                          <a:solidFill>
                            <a:srgbClr val="6B7280"/>
                          </a:solidFill>
                          <a:latin typeface="Public Sans" pitchFamily="34" charset="0"/>
                          <a:ea typeface="Public Sans" pitchFamily="34" charset="-122"/>
                          <a:cs typeface="Public Sans" pitchFamily="34" charset="-120"/>
                        </a:rPr>
                        <a:t>Total</a:t>
                      </a:r>
                      <a:endParaRPr lang="en-US" sz="1200" dirty="0">
                        <a:latin typeface="Public Sans" charset="0"/>
                        <a:ea typeface="Public Sans" charset="0"/>
                        <a:cs typeface="Public Sans" charset="0"/>
                      </a:endParaRPr>
                    </a:p>
                  </a:txBody>
                  <a:tcPr marL="53340" marR="53340" marT="53340" marB="5334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F63B8"/>
                          </a:solidFill>
                          <a:latin typeface="Public Sans" pitchFamily="34" charset="0"/>
                          <a:ea typeface="Public Sans" pitchFamily="34" charset="-122"/>
                          <a:cs typeface="Public Sans" pitchFamily="34" charset="-120"/>
                        </a:rPr>
                        <a:t>NIT Trichy</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550</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568</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774</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895</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990</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883</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967</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1,031</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939</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989</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598</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14213D"/>
                          </a:solidFill>
                          <a:latin typeface="Public Sans" pitchFamily="34" charset="0"/>
                          <a:ea typeface="Public Sans" pitchFamily="34" charset="-122"/>
                          <a:cs typeface="Public Sans" pitchFamily="34" charset="-120"/>
                        </a:rPr>
                        <a:t>9,184</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B34A1C"/>
                          </a:solidFill>
                          <a:latin typeface="Public Sans" pitchFamily="34" charset="0"/>
                          <a:ea typeface="Public Sans" pitchFamily="34" charset="-122"/>
                          <a:cs typeface="Public Sans" pitchFamily="34" charset="-120"/>
                        </a:rPr>
                        <a:t>NIT Surathkal</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527</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631</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878</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844</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967</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850</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852</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1,011</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1,117</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939</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590</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14213D"/>
                          </a:solidFill>
                          <a:latin typeface="Public Sans" pitchFamily="34" charset="0"/>
                          <a:ea typeface="Public Sans" pitchFamily="34" charset="-122"/>
                          <a:cs typeface="Public Sans" pitchFamily="34" charset="-120"/>
                        </a:rPr>
                        <a:t>9,206</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14213D"/>
                          </a:solidFill>
                          <a:latin typeface="Public Sans" pitchFamily="34" charset="0"/>
                          <a:ea typeface="Public Sans" pitchFamily="34" charset="-122"/>
                          <a:cs typeface="Public Sans" pitchFamily="34" charset="-120"/>
                        </a:rPr>
                        <a:t>Both, unique</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1,071</a:t>
                      </a:r>
                      <a:endParaRPr lang="en-US" sz="1200" dirty="0">
                        <a:latin typeface="Public Sans" charset="0"/>
                        <a:ea typeface="Public Sans" charset="0"/>
                        <a:cs typeface="Public Sans" charset="0"/>
                      </a:endParaRPr>
                    </a:p>
                  </a:txBody>
                  <a:tcPr marL="53340" marR="53340" marT="53340" marB="53340">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1,197</a:t>
                      </a:r>
                      <a:endParaRPr lang="en-US" sz="1200" dirty="0">
                        <a:latin typeface="Public Sans" charset="0"/>
                        <a:ea typeface="Public Sans" charset="0"/>
                        <a:cs typeface="Public Sans" charset="0"/>
                      </a:endParaRPr>
                    </a:p>
                  </a:txBody>
                  <a:tcPr marL="53340" marR="53340" marT="53340" marB="53340">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1,644</a:t>
                      </a:r>
                      <a:endParaRPr lang="en-US" sz="1200" dirty="0">
                        <a:latin typeface="Public Sans" charset="0"/>
                        <a:ea typeface="Public Sans" charset="0"/>
                        <a:cs typeface="Public Sans" charset="0"/>
                      </a:endParaRPr>
                    </a:p>
                  </a:txBody>
                  <a:tcPr marL="53340" marR="53340" marT="53340" marB="53340">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1,736</a:t>
                      </a:r>
                      <a:endParaRPr lang="en-US" sz="1200" dirty="0">
                        <a:latin typeface="Public Sans" charset="0"/>
                        <a:ea typeface="Public Sans" charset="0"/>
                        <a:cs typeface="Public Sans" charset="0"/>
                      </a:endParaRPr>
                    </a:p>
                  </a:txBody>
                  <a:tcPr marL="53340" marR="53340" marT="53340" marB="53340">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1,953</a:t>
                      </a:r>
                      <a:endParaRPr lang="en-US" sz="1200" dirty="0">
                        <a:latin typeface="Public Sans" charset="0"/>
                        <a:ea typeface="Public Sans" charset="0"/>
                        <a:cs typeface="Public Sans" charset="0"/>
                      </a:endParaRPr>
                    </a:p>
                  </a:txBody>
                  <a:tcPr marL="53340" marR="53340" marT="53340" marB="53340">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1,728</a:t>
                      </a:r>
                      <a:endParaRPr lang="en-US" sz="1200" dirty="0">
                        <a:latin typeface="Public Sans" charset="0"/>
                        <a:ea typeface="Public Sans" charset="0"/>
                        <a:cs typeface="Public Sans" charset="0"/>
                      </a:endParaRPr>
                    </a:p>
                  </a:txBody>
                  <a:tcPr marL="53340" marR="53340" marT="53340" marB="53340">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1,814</a:t>
                      </a:r>
                      <a:endParaRPr lang="en-US" sz="1200" dirty="0">
                        <a:latin typeface="Public Sans" charset="0"/>
                        <a:ea typeface="Public Sans" charset="0"/>
                        <a:cs typeface="Public Sans" charset="0"/>
                      </a:endParaRPr>
                    </a:p>
                  </a:txBody>
                  <a:tcPr marL="53340" marR="53340" marT="53340" marB="53340">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2,040</a:t>
                      </a:r>
                      <a:endParaRPr lang="en-US" sz="1200" dirty="0">
                        <a:latin typeface="Public Sans" charset="0"/>
                        <a:ea typeface="Public Sans" charset="0"/>
                        <a:cs typeface="Public Sans" charset="0"/>
                      </a:endParaRPr>
                    </a:p>
                  </a:txBody>
                  <a:tcPr marL="53340" marR="53340" marT="53340" marB="53340">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2,052</a:t>
                      </a:r>
                      <a:endParaRPr lang="en-US" sz="1200" dirty="0">
                        <a:latin typeface="Public Sans" charset="0"/>
                        <a:ea typeface="Public Sans" charset="0"/>
                        <a:cs typeface="Public Sans" charset="0"/>
                      </a:endParaRPr>
                    </a:p>
                  </a:txBody>
                  <a:tcPr marL="53340" marR="53340" marT="53340" marB="53340">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1,924</a:t>
                      </a:r>
                      <a:endParaRPr lang="en-US" sz="1200" dirty="0">
                        <a:latin typeface="Public Sans" charset="0"/>
                        <a:ea typeface="Public Sans" charset="0"/>
                        <a:cs typeface="Public Sans" charset="0"/>
                      </a:endParaRPr>
                    </a:p>
                  </a:txBody>
                  <a:tcPr marL="53340" marR="53340" marT="53340" marB="53340">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1,184</a:t>
                      </a:r>
                      <a:endParaRPr lang="en-US" sz="1200" dirty="0">
                        <a:latin typeface="Public Sans" charset="0"/>
                        <a:ea typeface="Public Sans" charset="0"/>
                        <a:cs typeface="Public Sans" charset="0"/>
                      </a:endParaRPr>
                    </a:p>
                  </a:txBody>
                  <a:tcPr marL="53340" marR="53340" marT="53340" marB="53340">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gn="r">
                        <a:lnSpc>
                          <a:spcPts val="1680"/>
                        </a:lnSpc>
                        <a:buNone/>
                      </a:pPr>
                      <a:r>
                        <a:rPr lang="en-US" sz="1200" dirty="0">
                          <a:solidFill>
                            <a:srgbClr val="14213D"/>
                          </a:solidFill>
                          <a:latin typeface="Public Sans" pitchFamily="34" charset="0"/>
                          <a:ea typeface="Public Sans" pitchFamily="34" charset="-122"/>
                          <a:cs typeface="Public Sans" pitchFamily="34" charset="-120"/>
                        </a:rPr>
                        <a:t>18,343</a:t>
                      </a:r>
                      <a:endParaRPr lang="en-US" sz="1200" dirty="0">
                        <a:latin typeface="Public Sans" charset="0"/>
                        <a:ea typeface="Public Sans" charset="0"/>
                        <a:cs typeface="Public Sans" charset="0"/>
                      </a:endParaRPr>
                    </a:p>
                  </a:txBody>
                  <a:tcPr marL="53340" marR="53340" marT="53340" marB="53340">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5029"/>
          </a:xfrm>
          <a:prstGeom prst="rect">
            <a:avLst/>
          </a:prstGeom>
          <a:noFill/>
          <a:ln/>
        </p:spPr>
        <p:txBody>
          <a:bodyPr wrap="square" lIns="0" tIns="0" rIns="0" bIns="0" rtlCol="0" anchor="t">
            <a:normAutofit/>
          </a:bodyPr>
          <a:lstStyle/>
          <a:p>
            <a:pPr marL="0" indent="0" algn="l">
              <a:lnSpc>
                <a:spcPts val="1675"/>
              </a:lnSpc>
              <a:buNone/>
            </a:pPr>
            <a:r>
              <a:rPr lang="en-US" sz="1196" b="1" kern="0" spc="150" dirty="0">
                <a:solidFill>
                  <a:srgbClr val="5B4BC4"/>
                </a:solidFill>
                <a:latin typeface="Public Sans" pitchFamily="34" charset="0"/>
                <a:ea typeface="Public Sans" pitchFamily="34" charset="-122"/>
                <a:cs typeface="Public Sans" pitchFamily="34" charset="-120"/>
              </a:rPr>
              <a:t>02 · JOURNAL QUALITY</a:t>
            </a:r>
            <a:endParaRPr lang="en-US" sz="1196" dirty="0"/>
          </a:p>
        </p:txBody>
      </p:sp>
      <p:sp>
        <p:nvSpPr>
          <p:cNvPr id="3" name="Text 1"/>
          <p:cNvSpPr>
            <a:spLocks noGrp="1"/>
          </p:cNvSpPr>
          <p:nvPr>
            <p:ph type="title"/>
          </p:nvPr>
        </p:nvSpPr>
        <p:spPr>
          <a:xfrm>
            <a:off x="812800" y="971629"/>
            <a:ext cx="10883392" cy="444738"/>
          </a:xfrm>
          <a:prstGeom prst="rect">
            <a:avLst/>
          </a:prstGeom>
          <a:noFill/>
          <a:ln/>
        </p:spPr>
        <p:txBody>
          <a:bodyPr wrap="square" lIns="0" tIns="0" rIns="0" bIns="0" rtlCol="0" anchor="t">
            <a:normAutofit/>
          </a:bodyPr>
          <a:lstStyle/>
          <a:p>
            <a:pPr marL="0" indent="0" algn="l">
              <a:lnSpc>
                <a:spcPts val="3318"/>
              </a:lnSpc>
              <a:buNone/>
            </a:pPr>
            <a:r>
              <a:rPr lang="en-US" sz="3160" b="1" i="0" kern="0" spc="-50" dirty="0">
                <a:solidFill>
                  <a:srgbClr val="14213D"/>
                </a:solidFill>
                <a:latin typeface="Space Grotesk" pitchFamily="34" charset="0"/>
                <a:ea typeface="Space Grotesk" pitchFamily="34" charset="-122"/>
                <a:cs typeface="Space Grotesk" pitchFamily="34" charset="-120"/>
              </a:rPr>
              <a:t>More than a third of journal papers are Q1</a:t>
            </a:r>
            <a:endParaRPr lang="en-US" sz="3160" dirty="0"/>
          </a:p>
        </p:txBody>
      </p:sp>
      <p:sp>
        <p:nvSpPr>
          <p:cNvPr id="4" name="Shape 2"/>
          <p:cNvSpPr/>
          <p:nvPr/>
        </p:nvSpPr>
        <p:spPr>
          <a:xfrm>
            <a:off x="815975" y="1571943"/>
            <a:ext cx="10560050" cy="1628140"/>
          </a:xfrm>
          <a:prstGeom prst="roundRect">
            <a:avLst>
              <a:gd name="adj" fmla="val 7605"/>
            </a:avLst>
          </a:prstGeom>
          <a:solidFill>
            <a:srgbClr val="FDFCFA"/>
          </a:solidFill>
          <a:ln w="6350">
            <a:solidFill>
              <a:srgbClr val="E4E1D8"/>
            </a:solidFill>
            <a:prstDash val="solid"/>
          </a:ln>
        </p:spPr>
      </p:sp>
      <p:sp>
        <p:nvSpPr>
          <p:cNvPr id="5" name="Text 3"/>
          <p:cNvSpPr/>
          <p:nvPr/>
        </p:nvSpPr>
        <p:spPr>
          <a:xfrm>
            <a:off x="970280" y="1776175"/>
            <a:ext cx="15113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63B8"/>
                </a:solidFill>
                <a:latin typeface="Public Sans" pitchFamily="34" charset="0"/>
                <a:ea typeface="Public Sans" pitchFamily="34" charset="-122"/>
                <a:cs typeface="Public Sans" pitchFamily="34" charset="-120"/>
              </a:rPr>
              <a:t>NIT Trichy</a:t>
            </a:r>
            <a:endParaRPr lang="en-US" sz="1400" dirty="0"/>
          </a:p>
        </p:txBody>
      </p:sp>
      <p:sp>
        <p:nvSpPr>
          <p:cNvPr id="6" name="Text 4"/>
          <p:cNvSpPr/>
          <p:nvPr/>
        </p:nvSpPr>
        <p:spPr>
          <a:xfrm>
            <a:off x="2532380" y="1722913"/>
            <a:ext cx="3022600" cy="355600"/>
          </a:xfrm>
          <a:custGeom>
            <a:avLst/>
            <a:gdLst/>
            <a:ahLst/>
            <a:cxnLst/>
            <a:rect l="l" t="t" r="r" b="b"/>
            <a:pathLst>
              <a:path w="3022600" h="355600">
                <a:moveTo>
                  <a:pt x="50800" y="0"/>
                </a:moveTo>
                <a:lnTo>
                  <a:pt x="3022600" y="0"/>
                </a:lnTo>
                <a:lnTo>
                  <a:pt x="3022600" y="355600"/>
                </a:lnTo>
                <a:lnTo>
                  <a:pt x="50800" y="355600"/>
                </a:lnTo>
                <a:arcTo wR="50800" hR="50800" stAng="5400000" swAng="5400000"/>
                <a:lnTo>
                  <a:pt x="0" y="50800"/>
                </a:lnTo>
                <a:arcTo wR="50800" hR="50800" stAng="10800000" swAng="5400000"/>
                <a:close/>
              </a:path>
            </a:pathLst>
          </a:custGeom>
          <a:solidFill>
            <a:srgbClr val="3B3FA8"/>
          </a:solidFill>
          <a:ln/>
        </p:spPr>
        <p:txBody>
          <a:bodyPr wrap="square" lIns="0" tIns="0" rIns="15240" bIns="0" rtlCol="0" anchor="ctr">
            <a:normAutofit/>
          </a:bodyPr>
          <a:lstStyle/>
          <a:p>
            <a:pPr marL="0" indent="0" algn="ctr">
              <a:lnSpc>
                <a:spcPts val="1680"/>
              </a:lnSpc>
              <a:buNone/>
            </a:pPr>
            <a:r>
              <a:rPr lang="en-US" sz="1200" b="1" dirty="0">
                <a:solidFill>
                  <a:srgbClr val="F2F0EA"/>
                </a:solidFill>
                <a:latin typeface="Public Sans" pitchFamily="34" charset="0"/>
                <a:ea typeface="Public Sans" pitchFamily="34" charset="-122"/>
                <a:cs typeface="Public Sans" pitchFamily="34" charset="-120"/>
              </a:rPr>
              <a:t>Q1 · 35%</a:t>
            </a:r>
            <a:endParaRPr lang="en-US" sz="1200" dirty="0"/>
          </a:p>
        </p:txBody>
      </p:sp>
      <p:sp>
        <p:nvSpPr>
          <p:cNvPr id="7" name="Shape 5"/>
          <p:cNvSpPr/>
          <p:nvPr/>
        </p:nvSpPr>
        <p:spPr>
          <a:xfrm>
            <a:off x="2532380" y="1722913"/>
            <a:ext cx="3022600" cy="355600"/>
          </a:xfrm>
          <a:custGeom>
            <a:avLst/>
            <a:gdLst/>
            <a:ahLst/>
            <a:cxnLst/>
            <a:rect l="l" t="t" r="r" b="b"/>
            <a:pathLst>
              <a:path w="3022600" h="355600">
                <a:moveTo>
                  <a:pt x="3003550" y="0"/>
                </a:moveTo>
                <a:lnTo>
                  <a:pt x="3022600" y="0"/>
                </a:lnTo>
                <a:lnTo>
                  <a:pt x="3022600" y="355600"/>
                </a:lnTo>
                <a:lnTo>
                  <a:pt x="3003550" y="355600"/>
                </a:lnTo>
                <a:lnTo>
                  <a:pt x="3003550" y="0"/>
                </a:lnTo>
                <a:close/>
              </a:path>
            </a:pathLst>
          </a:custGeom>
          <a:solidFill>
            <a:srgbClr val="FDFCFA"/>
          </a:solidFill>
          <a:ln/>
        </p:spPr>
      </p:sp>
      <p:sp>
        <p:nvSpPr>
          <p:cNvPr id="8" name="Text 6"/>
          <p:cNvSpPr/>
          <p:nvPr/>
        </p:nvSpPr>
        <p:spPr>
          <a:xfrm>
            <a:off x="5554980" y="1722913"/>
            <a:ext cx="3390900" cy="355600"/>
          </a:xfrm>
          <a:prstGeom prst="rect">
            <a:avLst/>
          </a:prstGeom>
          <a:solidFill>
            <a:srgbClr val="5A5FBF"/>
          </a:solidFill>
          <a:ln/>
        </p:spPr>
        <p:txBody>
          <a:bodyPr wrap="square" lIns="0" tIns="0" rIns="15240" bIns="0" rtlCol="0" anchor="ctr">
            <a:normAutofit/>
          </a:bodyPr>
          <a:lstStyle/>
          <a:p>
            <a:pPr marL="0" indent="0" algn="ctr">
              <a:lnSpc>
                <a:spcPts val="1680"/>
              </a:lnSpc>
              <a:buNone/>
            </a:pPr>
            <a:r>
              <a:rPr lang="en-US" sz="1200" b="1" dirty="0">
                <a:solidFill>
                  <a:srgbClr val="F2F0EA"/>
                </a:solidFill>
                <a:latin typeface="Public Sans" pitchFamily="34" charset="0"/>
                <a:ea typeface="Public Sans" pitchFamily="34" charset="-122"/>
                <a:cs typeface="Public Sans" pitchFamily="34" charset="-120"/>
              </a:rPr>
              <a:t>Q2 · 39%</a:t>
            </a:r>
            <a:endParaRPr lang="en-US" sz="1200" dirty="0"/>
          </a:p>
        </p:txBody>
      </p:sp>
      <p:sp>
        <p:nvSpPr>
          <p:cNvPr id="9" name="Shape 7"/>
          <p:cNvSpPr/>
          <p:nvPr/>
        </p:nvSpPr>
        <p:spPr>
          <a:xfrm>
            <a:off x="8936355" y="1722913"/>
            <a:ext cx="0" cy="355600"/>
          </a:xfrm>
          <a:prstGeom prst="line">
            <a:avLst/>
          </a:prstGeom>
          <a:noFill/>
          <a:ln w="19050">
            <a:solidFill>
              <a:srgbClr val="FDFCFA"/>
            </a:solidFill>
            <a:prstDash val="solid"/>
          </a:ln>
        </p:spPr>
      </p:sp>
      <p:sp>
        <p:nvSpPr>
          <p:cNvPr id="10" name="Text 8"/>
          <p:cNvSpPr/>
          <p:nvPr/>
        </p:nvSpPr>
        <p:spPr>
          <a:xfrm>
            <a:off x="8945880" y="1722913"/>
            <a:ext cx="1758950" cy="355600"/>
          </a:xfrm>
          <a:prstGeom prst="rect">
            <a:avLst/>
          </a:prstGeom>
          <a:solidFill>
            <a:srgbClr val="A9ACE0"/>
          </a:solidFill>
          <a:ln/>
        </p:spPr>
        <p:txBody>
          <a:bodyPr wrap="square" lIns="0" tIns="0" rIns="15240" bIns="0" rtlCol="0" anchor="ctr">
            <a:normAutofit/>
          </a:bodyPr>
          <a:lstStyle/>
          <a:p>
            <a:pPr marL="0" indent="0" algn="ctr">
              <a:lnSpc>
                <a:spcPts val="1680"/>
              </a:lnSpc>
              <a:buNone/>
            </a:pPr>
            <a:r>
              <a:rPr lang="en-US" sz="1200" b="1" dirty="0">
                <a:solidFill>
                  <a:srgbClr val="14213D"/>
                </a:solidFill>
                <a:latin typeface="Public Sans" pitchFamily="34" charset="0"/>
                <a:ea typeface="Public Sans" pitchFamily="34" charset="-122"/>
                <a:cs typeface="Public Sans" pitchFamily="34" charset="-120"/>
              </a:rPr>
              <a:t>Q3 · 20%</a:t>
            </a:r>
            <a:endParaRPr lang="en-US" sz="1200" dirty="0"/>
          </a:p>
        </p:txBody>
      </p:sp>
      <p:sp>
        <p:nvSpPr>
          <p:cNvPr id="11" name="Shape 9"/>
          <p:cNvSpPr/>
          <p:nvPr/>
        </p:nvSpPr>
        <p:spPr>
          <a:xfrm>
            <a:off x="10695305" y="1722913"/>
            <a:ext cx="0" cy="355600"/>
          </a:xfrm>
          <a:prstGeom prst="line">
            <a:avLst/>
          </a:prstGeom>
          <a:noFill/>
          <a:ln w="19050">
            <a:solidFill>
              <a:srgbClr val="FDFCFA"/>
            </a:solidFill>
            <a:prstDash val="solid"/>
          </a:ln>
        </p:spPr>
      </p:sp>
      <p:sp>
        <p:nvSpPr>
          <p:cNvPr id="12" name="Text 10"/>
          <p:cNvSpPr/>
          <p:nvPr/>
        </p:nvSpPr>
        <p:spPr>
          <a:xfrm>
            <a:off x="10704830" y="1722913"/>
            <a:ext cx="425450" cy="355600"/>
          </a:xfrm>
          <a:custGeom>
            <a:avLst/>
            <a:gdLst/>
            <a:ahLst/>
            <a:cxnLst/>
            <a:rect l="l" t="t" r="r" b="b"/>
            <a:pathLst>
              <a:path w="425450" h="355600">
                <a:moveTo>
                  <a:pt x="0" y="0"/>
                </a:moveTo>
                <a:lnTo>
                  <a:pt x="374650" y="0"/>
                </a:lnTo>
                <a:arcTo wR="50800" hR="50800" stAng="16200000" swAng="5400000"/>
                <a:lnTo>
                  <a:pt x="425450" y="304800"/>
                </a:lnTo>
                <a:arcTo wR="50800" hR="50800" stAng="0" swAng="5400000"/>
                <a:lnTo>
                  <a:pt x="0" y="355600"/>
                </a:lnTo>
                <a:lnTo>
                  <a:pt x="0" y="0"/>
                </a:lnTo>
                <a:close/>
              </a:path>
            </a:pathLst>
          </a:custGeom>
          <a:solidFill>
            <a:srgbClr val="DADBF3"/>
          </a:solidFill>
          <a:ln/>
        </p:spPr>
        <p:txBody>
          <a:bodyPr wrap="square" lIns="0" tIns="0" rIns="0" bIns="0" rtlCol="0" anchor="ctr">
            <a:normAutofit/>
          </a:bodyPr>
          <a:lstStyle/>
          <a:p>
            <a:pPr marL="0" indent="0" algn="ctr">
              <a:lnSpc>
                <a:spcPts val="1680"/>
              </a:lnSpc>
              <a:buNone/>
            </a:pPr>
            <a:r>
              <a:rPr lang="en-US" sz="1200" b="1" dirty="0">
                <a:solidFill>
                  <a:srgbClr val="14213D"/>
                </a:solidFill>
                <a:latin typeface="Public Sans" pitchFamily="34" charset="0"/>
                <a:ea typeface="Public Sans" pitchFamily="34" charset="-122"/>
                <a:cs typeface="Public Sans" pitchFamily="34" charset="-120"/>
              </a:rPr>
              <a:t>5%</a:t>
            </a:r>
            <a:endParaRPr lang="en-US" sz="1200" dirty="0"/>
          </a:p>
        </p:txBody>
      </p:sp>
      <p:sp>
        <p:nvSpPr>
          <p:cNvPr id="13" name="Text 11"/>
          <p:cNvSpPr/>
          <p:nvPr/>
        </p:nvSpPr>
        <p:spPr>
          <a:xfrm>
            <a:off x="970280" y="2226628"/>
            <a:ext cx="15113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B34A1C"/>
                </a:solidFill>
                <a:latin typeface="Public Sans" pitchFamily="34" charset="0"/>
                <a:ea typeface="Public Sans" pitchFamily="34" charset="-122"/>
                <a:cs typeface="Public Sans" pitchFamily="34" charset="-120"/>
              </a:rPr>
              <a:t>NIT Surathkal</a:t>
            </a:r>
            <a:endParaRPr lang="en-US" sz="1400" dirty="0"/>
          </a:p>
        </p:txBody>
      </p:sp>
      <p:sp>
        <p:nvSpPr>
          <p:cNvPr id="14" name="Text 12"/>
          <p:cNvSpPr/>
          <p:nvPr/>
        </p:nvSpPr>
        <p:spPr>
          <a:xfrm>
            <a:off x="2532380" y="2173367"/>
            <a:ext cx="3295650" cy="355600"/>
          </a:xfrm>
          <a:custGeom>
            <a:avLst/>
            <a:gdLst/>
            <a:ahLst/>
            <a:cxnLst/>
            <a:rect l="l" t="t" r="r" b="b"/>
            <a:pathLst>
              <a:path w="3295650" h="355600">
                <a:moveTo>
                  <a:pt x="50800" y="0"/>
                </a:moveTo>
                <a:lnTo>
                  <a:pt x="3295650" y="0"/>
                </a:lnTo>
                <a:lnTo>
                  <a:pt x="3295650" y="355600"/>
                </a:lnTo>
                <a:lnTo>
                  <a:pt x="50800" y="355600"/>
                </a:lnTo>
                <a:arcTo wR="50800" hR="50800" stAng="5400000" swAng="5400000"/>
                <a:lnTo>
                  <a:pt x="0" y="50800"/>
                </a:lnTo>
                <a:arcTo wR="50800" hR="50800" stAng="10800000" swAng="5400000"/>
                <a:close/>
              </a:path>
            </a:pathLst>
          </a:custGeom>
          <a:solidFill>
            <a:srgbClr val="3B3FA8"/>
          </a:solidFill>
          <a:ln/>
        </p:spPr>
        <p:txBody>
          <a:bodyPr wrap="square" lIns="0" tIns="0" rIns="15240" bIns="0" rtlCol="0" anchor="ctr">
            <a:normAutofit/>
          </a:bodyPr>
          <a:lstStyle/>
          <a:p>
            <a:pPr marL="0" indent="0" algn="ctr">
              <a:lnSpc>
                <a:spcPts val="1680"/>
              </a:lnSpc>
              <a:buNone/>
            </a:pPr>
            <a:r>
              <a:rPr lang="en-US" sz="1200" b="1" dirty="0">
                <a:solidFill>
                  <a:srgbClr val="F2F0EA"/>
                </a:solidFill>
                <a:latin typeface="Public Sans" pitchFamily="34" charset="0"/>
                <a:ea typeface="Public Sans" pitchFamily="34" charset="-122"/>
                <a:cs typeface="Public Sans" pitchFamily="34" charset="-120"/>
              </a:rPr>
              <a:t>Q1 · 38%</a:t>
            </a:r>
            <a:endParaRPr lang="en-US" sz="1200" dirty="0"/>
          </a:p>
        </p:txBody>
      </p:sp>
      <p:sp>
        <p:nvSpPr>
          <p:cNvPr id="15" name="Shape 13"/>
          <p:cNvSpPr/>
          <p:nvPr/>
        </p:nvSpPr>
        <p:spPr>
          <a:xfrm>
            <a:off x="2532380" y="2173367"/>
            <a:ext cx="3295650" cy="355600"/>
          </a:xfrm>
          <a:custGeom>
            <a:avLst/>
            <a:gdLst/>
            <a:ahLst/>
            <a:cxnLst/>
            <a:rect l="l" t="t" r="r" b="b"/>
            <a:pathLst>
              <a:path w="3295650" h="355600">
                <a:moveTo>
                  <a:pt x="3276600" y="0"/>
                </a:moveTo>
                <a:lnTo>
                  <a:pt x="3295650" y="0"/>
                </a:lnTo>
                <a:lnTo>
                  <a:pt x="3295650" y="355600"/>
                </a:lnTo>
                <a:lnTo>
                  <a:pt x="3276600" y="355600"/>
                </a:lnTo>
                <a:lnTo>
                  <a:pt x="3276600" y="0"/>
                </a:lnTo>
                <a:close/>
              </a:path>
            </a:pathLst>
          </a:custGeom>
          <a:solidFill>
            <a:srgbClr val="FDFCFA"/>
          </a:solidFill>
          <a:ln/>
        </p:spPr>
      </p:sp>
      <p:sp>
        <p:nvSpPr>
          <p:cNvPr id="16" name="Text 14"/>
          <p:cNvSpPr/>
          <p:nvPr/>
        </p:nvSpPr>
        <p:spPr>
          <a:xfrm>
            <a:off x="5828030" y="2173367"/>
            <a:ext cx="3206750" cy="355600"/>
          </a:xfrm>
          <a:prstGeom prst="rect">
            <a:avLst/>
          </a:prstGeom>
          <a:solidFill>
            <a:srgbClr val="5A5FBF"/>
          </a:solidFill>
          <a:ln/>
        </p:spPr>
        <p:txBody>
          <a:bodyPr wrap="square" lIns="0" tIns="0" rIns="15240" bIns="0" rtlCol="0" anchor="ctr">
            <a:normAutofit/>
          </a:bodyPr>
          <a:lstStyle/>
          <a:p>
            <a:pPr marL="0" indent="0" algn="ctr">
              <a:lnSpc>
                <a:spcPts val="1680"/>
              </a:lnSpc>
              <a:buNone/>
            </a:pPr>
            <a:r>
              <a:rPr lang="en-US" sz="1200" b="1" dirty="0">
                <a:solidFill>
                  <a:srgbClr val="F2F0EA"/>
                </a:solidFill>
                <a:latin typeface="Public Sans" pitchFamily="34" charset="0"/>
                <a:ea typeface="Public Sans" pitchFamily="34" charset="-122"/>
                <a:cs typeface="Public Sans" pitchFamily="34" charset="-120"/>
              </a:rPr>
              <a:t>Q2 · 37%</a:t>
            </a:r>
            <a:endParaRPr lang="en-US" sz="1200" dirty="0"/>
          </a:p>
        </p:txBody>
      </p:sp>
      <p:sp>
        <p:nvSpPr>
          <p:cNvPr id="17" name="Shape 15"/>
          <p:cNvSpPr/>
          <p:nvPr/>
        </p:nvSpPr>
        <p:spPr>
          <a:xfrm>
            <a:off x="9025255" y="2173367"/>
            <a:ext cx="0" cy="355600"/>
          </a:xfrm>
          <a:prstGeom prst="line">
            <a:avLst/>
          </a:prstGeom>
          <a:noFill/>
          <a:ln w="19050">
            <a:solidFill>
              <a:srgbClr val="FDFCFA"/>
            </a:solidFill>
            <a:prstDash val="solid"/>
          </a:ln>
        </p:spPr>
      </p:sp>
      <p:sp>
        <p:nvSpPr>
          <p:cNvPr id="18" name="Text 16"/>
          <p:cNvSpPr/>
          <p:nvPr/>
        </p:nvSpPr>
        <p:spPr>
          <a:xfrm>
            <a:off x="9034780" y="2173367"/>
            <a:ext cx="1631950" cy="355600"/>
          </a:xfrm>
          <a:prstGeom prst="rect">
            <a:avLst/>
          </a:prstGeom>
          <a:solidFill>
            <a:srgbClr val="A9ACE0"/>
          </a:solidFill>
          <a:ln/>
        </p:spPr>
        <p:txBody>
          <a:bodyPr wrap="square" lIns="0" tIns="0" rIns="15240" bIns="0" rtlCol="0" anchor="ctr">
            <a:normAutofit/>
          </a:bodyPr>
          <a:lstStyle/>
          <a:p>
            <a:pPr marL="0" indent="0" algn="ctr">
              <a:lnSpc>
                <a:spcPts val="1680"/>
              </a:lnSpc>
              <a:buNone/>
            </a:pPr>
            <a:r>
              <a:rPr lang="en-US" sz="1200" b="1" dirty="0">
                <a:solidFill>
                  <a:srgbClr val="14213D"/>
                </a:solidFill>
                <a:latin typeface="Public Sans" pitchFamily="34" charset="0"/>
                <a:ea typeface="Public Sans" pitchFamily="34" charset="-122"/>
                <a:cs typeface="Public Sans" pitchFamily="34" charset="-120"/>
              </a:rPr>
              <a:t>Q3 · 19%</a:t>
            </a:r>
            <a:endParaRPr lang="en-US" sz="1200" dirty="0"/>
          </a:p>
        </p:txBody>
      </p:sp>
      <p:sp>
        <p:nvSpPr>
          <p:cNvPr id="19" name="Shape 17"/>
          <p:cNvSpPr/>
          <p:nvPr/>
        </p:nvSpPr>
        <p:spPr>
          <a:xfrm>
            <a:off x="10657205" y="2173367"/>
            <a:ext cx="0" cy="355600"/>
          </a:xfrm>
          <a:prstGeom prst="line">
            <a:avLst/>
          </a:prstGeom>
          <a:noFill/>
          <a:ln w="19050">
            <a:solidFill>
              <a:srgbClr val="FDFCFA"/>
            </a:solidFill>
            <a:prstDash val="solid"/>
          </a:ln>
        </p:spPr>
      </p:sp>
      <p:sp>
        <p:nvSpPr>
          <p:cNvPr id="20" name="Text 18"/>
          <p:cNvSpPr/>
          <p:nvPr/>
        </p:nvSpPr>
        <p:spPr>
          <a:xfrm>
            <a:off x="10666730" y="2173367"/>
            <a:ext cx="463550" cy="355600"/>
          </a:xfrm>
          <a:custGeom>
            <a:avLst/>
            <a:gdLst/>
            <a:ahLst/>
            <a:cxnLst/>
            <a:rect l="l" t="t" r="r" b="b"/>
            <a:pathLst>
              <a:path w="463550" h="355600">
                <a:moveTo>
                  <a:pt x="0" y="0"/>
                </a:moveTo>
                <a:lnTo>
                  <a:pt x="412750" y="0"/>
                </a:lnTo>
                <a:arcTo wR="50800" hR="50800" stAng="16200000" swAng="5400000"/>
                <a:lnTo>
                  <a:pt x="463550" y="304800"/>
                </a:lnTo>
                <a:arcTo wR="50800" hR="50800" stAng="0" swAng="5400000"/>
                <a:lnTo>
                  <a:pt x="0" y="355600"/>
                </a:lnTo>
                <a:lnTo>
                  <a:pt x="0" y="0"/>
                </a:lnTo>
                <a:close/>
              </a:path>
            </a:pathLst>
          </a:custGeom>
          <a:solidFill>
            <a:srgbClr val="DADBF3"/>
          </a:solidFill>
          <a:ln/>
        </p:spPr>
        <p:txBody>
          <a:bodyPr wrap="square" lIns="0" tIns="0" rIns="0" bIns="0" rtlCol="0" anchor="ctr">
            <a:normAutofit/>
          </a:bodyPr>
          <a:lstStyle/>
          <a:p>
            <a:pPr marL="0" indent="0" algn="ctr">
              <a:lnSpc>
                <a:spcPts val="1680"/>
              </a:lnSpc>
              <a:buNone/>
            </a:pPr>
            <a:r>
              <a:rPr lang="en-US" sz="1200" b="1" dirty="0">
                <a:solidFill>
                  <a:srgbClr val="14213D"/>
                </a:solidFill>
                <a:latin typeface="Public Sans" pitchFamily="34" charset="0"/>
                <a:ea typeface="Public Sans" pitchFamily="34" charset="-122"/>
                <a:cs typeface="Public Sans" pitchFamily="34" charset="-120"/>
              </a:rPr>
              <a:t>5%</a:t>
            </a:r>
            <a:endParaRPr lang="en-US" sz="1200" dirty="0"/>
          </a:p>
        </p:txBody>
      </p:sp>
      <p:sp>
        <p:nvSpPr>
          <p:cNvPr id="21" name="Text 19"/>
          <p:cNvSpPr/>
          <p:nvPr/>
        </p:nvSpPr>
        <p:spPr>
          <a:xfrm>
            <a:off x="970280" y="2627154"/>
            <a:ext cx="10558983" cy="444024"/>
          </a:xfrm>
          <a:prstGeom prst="rect">
            <a:avLst/>
          </a:prstGeom>
          <a:noFill/>
          <a:ln/>
        </p:spPr>
        <p:txBody>
          <a:bodyPr wrap="square" lIns="0" tIns="0" rIns="0" bIns="0" rtlCol="0" anchor="t">
            <a:normAutofit/>
          </a:bodyPr>
          <a:lstStyle/>
          <a:p>
            <a:pPr marL="0" indent="0" algn="l">
              <a:lnSpc>
                <a:spcPts val="1659"/>
              </a:lnSpc>
              <a:buNone/>
            </a:pPr>
            <a:r>
              <a:rPr lang="en-US" sz="1185" dirty="0">
                <a:solidFill>
                  <a:srgbClr val="4A5568"/>
                </a:solidFill>
                <a:latin typeface="Public Sans" pitchFamily="34" charset="0"/>
                <a:ea typeface="Public Sans" pitchFamily="34" charset="-122"/>
                <a:cs typeface="Public Sans" pitchFamily="34" charset="-120"/>
              </a:rPr>
              <a:t>Bars: ranked journal papers by SCImago quartile (Q4 = 5% at both). Papers in journals with </a:t>
            </a:r>
            <a:r>
              <a:rPr lang="en-US" sz="1185" b="1" dirty="0">
                <a:solidFill>
                  <a:srgbClr val="4A5568"/>
                </a:solidFill>
                <a:latin typeface="Public Sans" pitchFamily="34" charset="0"/>
                <a:ea typeface="Public Sans" pitchFamily="34" charset="-122"/>
                <a:cs typeface="Public Sans" pitchFamily="34" charset="-120"/>
              </a:rPr>
              <a:t>IF &gt; 5</a:t>
            </a:r>
            <a:r>
              <a:rPr lang="en-US" sz="1185" dirty="0">
                <a:solidFill>
                  <a:srgbClr val="4A5568"/>
                </a:solidFill>
                <a:latin typeface="Public Sans" pitchFamily="34" charset="0"/>
                <a:ea typeface="Public Sans" pitchFamily="34" charset="-122"/>
                <a:cs typeface="Public Sans" pitchFamily="34" charset="-120"/>
              </a:rPr>
              <a:t>: </a:t>
            </a:r>
            <a:r>
              <a:rPr lang="en-US" sz="1185" b="1" dirty="0">
                <a:solidFill>
                  <a:srgbClr val="1F63B8"/>
                </a:solidFill>
                <a:latin typeface="Public Sans" pitchFamily="34" charset="0"/>
                <a:ea typeface="Public Sans" pitchFamily="34" charset="-122"/>
                <a:cs typeface="Public Sans" pitchFamily="34" charset="-120"/>
              </a:rPr>
              <a:t>2,413</a:t>
            </a:r>
            <a:r>
              <a:rPr lang="en-US" sz="1185" dirty="0">
                <a:solidFill>
                  <a:srgbClr val="1F63B8"/>
                </a:solidFill>
                <a:latin typeface="Public Sans" pitchFamily="34" charset="0"/>
                <a:ea typeface="Public Sans" pitchFamily="34" charset="-122"/>
                <a:cs typeface="Public Sans" pitchFamily="34" charset="-120"/>
              </a:rPr>
              <a:t> Trichy (33.0%)</a:t>
            </a:r>
            <a:r>
              <a:rPr lang="en-US" sz="1185" dirty="0">
                <a:solidFill>
                  <a:srgbClr val="4A5568"/>
                </a:solidFill>
                <a:latin typeface="Public Sans" pitchFamily="34" charset="0"/>
                <a:ea typeface="Public Sans" pitchFamily="34" charset="-122"/>
                <a:cs typeface="Public Sans" pitchFamily="34" charset="-120"/>
              </a:rPr>
              <a:t> vs </a:t>
            </a:r>
            <a:r>
              <a:rPr lang="en-US" sz="1185" b="1" dirty="0">
                <a:solidFill>
                  <a:srgbClr val="B34A1C"/>
                </a:solidFill>
                <a:latin typeface="Public Sans" pitchFamily="34" charset="0"/>
                <a:ea typeface="Public Sans" pitchFamily="34" charset="-122"/>
                <a:cs typeface="Public Sans" pitchFamily="34" charset="-120"/>
              </a:rPr>
              <a:t>2,124</a:t>
            </a:r>
            <a:r>
              <a:rPr lang="en-US" sz="1185" dirty="0">
                <a:solidFill>
                  <a:srgbClr val="B34A1C"/>
                </a:solidFill>
                <a:latin typeface="Public Sans" pitchFamily="34" charset="0"/>
                <a:ea typeface="Public Sans" pitchFamily="34" charset="-122"/>
                <a:cs typeface="Public Sans" pitchFamily="34" charset="-120"/>
              </a:rPr>
              <a:t> Surathkal (33.8%)</a:t>
            </a:r>
            <a:r>
              <a:rPr lang="en-US" sz="1185" dirty="0">
                <a:solidFill>
                  <a:srgbClr val="4A5568"/>
                </a:solidFill>
                <a:latin typeface="Public Sans" pitchFamily="34" charset="0"/>
                <a:ea typeface="Public Sans" pitchFamily="34" charset="-122"/>
                <a:cs typeface="Public Sans" pitchFamily="34" charset="-120"/>
              </a:rPr>
              <a:t>. </a:t>
            </a:r>
            <a:r>
              <a:rPr lang="en-US" sz="1185" b="1" dirty="0">
                <a:solidFill>
                  <a:srgbClr val="4A5568"/>
                </a:solidFill>
                <a:latin typeface="Public Sans" pitchFamily="34" charset="0"/>
                <a:ea typeface="Public Sans" pitchFamily="34" charset="-122"/>
                <a:cs typeface="Public Sans" pitchFamily="34" charset="-120"/>
              </a:rPr>
              <a:t>IF &gt; 10</a:t>
            </a:r>
            <a:r>
              <a:rPr lang="en-US" sz="1185" dirty="0">
                <a:solidFill>
                  <a:srgbClr val="4A5568"/>
                </a:solidFill>
                <a:latin typeface="Public Sans" pitchFamily="34" charset="0"/>
                <a:ea typeface="Public Sans" pitchFamily="34" charset="-122"/>
                <a:cs typeface="Public Sans" pitchFamily="34" charset="-120"/>
              </a:rPr>
              <a:t>: </a:t>
            </a:r>
            <a:r>
              <a:rPr lang="en-US" sz="1185" b="1" dirty="0">
                <a:solidFill>
                  <a:srgbClr val="1F63B8"/>
                </a:solidFill>
                <a:latin typeface="Public Sans" pitchFamily="34" charset="0"/>
                <a:ea typeface="Public Sans" pitchFamily="34" charset="-122"/>
                <a:cs typeface="Public Sans" pitchFamily="34" charset="-120"/>
              </a:rPr>
              <a:t>352</a:t>
            </a:r>
            <a:r>
              <a:rPr lang="en-US" sz="1185" dirty="0">
                <a:solidFill>
                  <a:srgbClr val="4A5568"/>
                </a:solidFill>
                <a:latin typeface="Public Sans" pitchFamily="34" charset="0"/>
                <a:ea typeface="Public Sans" pitchFamily="34" charset="-122"/>
                <a:cs typeface="Public Sans" pitchFamily="34" charset="-120"/>
              </a:rPr>
              <a:t> vs </a:t>
            </a:r>
            <a:r>
              <a:rPr lang="en-US" sz="1185" b="1" dirty="0">
                <a:solidFill>
                  <a:srgbClr val="B34A1C"/>
                </a:solidFill>
                <a:latin typeface="Public Sans" pitchFamily="34" charset="0"/>
                <a:ea typeface="Public Sans" pitchFamily="34" charset="-122"/>
                <a:cs typeface="Public Sans" pitchFamily="34" charset="-120"/>
              </a:rPr>
              <a:t>280</a:t>
            </a:r>
            <a:r>
              <a:rPr lang="en-US" sz="1185" dirty="0">
                <a:solidFill>
                  <a:srgbClr val="4A5568"/>
                </a:solidFill>
                <a:latin typeface="Public Sans" pitchFamily="34" charset="0"/>
                <a:ea typeface="Public Sans" pitchFamily="34" charset="-122"/>
                <a:cs typeface="Public Sans" pitchFamily="34" charset="-120"/>
              </a:rPr>
              <a:t>. IF = the journal’s 2-year mean citedness in OpenAlex.</a:t>
            </a:r>
            <a:endParaRPr lang="en-US" sz="1185" dirty="0"/>
          </a:p>
        </p:txBody>
      </p:sp>
      <p:sp>
        <p:nvSpPr>
          <p:cNvPr id="22" name="Text 20"/>
          <p:cNvSpPr/>
          <p:nvPr/>
        </p:nvSpPr>
        <p:spPr>
          <a:xfrm>
            <a:off x="812800" y="3381057"/>
            <a:ext cx="5337048" cy="235188"/>
          </a:xfrm>
          <a:prstGeom prst="rect">
            <a:avLst/>
          </a:prstGeom>
          <a:noFill/>
          <a:ln/>
        </p:spPr>
        <p:txBody>
          <a:bodyPr wrap="square" lIns="0" tIns="0" rIns="0" bIns="0" rtlCol="0" anchor="t">
            <a:normAutofit/>
          </a:bodyPr>
          <a:lstStyle/>
          <a:p>
            <a:pPr marL="0" indent="0" algn="l">
              <a:lnSpc>
                <a:spcPts val="1675"/>
              </a:lnSpc>
              <a:buNone/>
            </a:pPr>
            <a:r>
              <a:rPr lang="en-US" sz="1396" b="1" dirty="0">
                <a:solidFill>
                  <a:srgbClr val="1F63B8"/>
                </a:solidFill>
                <a:latin typeface="Public Sans" pitchFamily="34" charset="0"/>
                <a:ea typeface="Public Sans" pitchFamily="34" charset="-122"/>
                <a:cs typeface="Public Sans" pitchFamily="34" charset="-120"/>
              </a:rPr>
              <a:t>NIT Trichy · top 5 journals</a:t>
            </a:r>
            <a:endParaRPr lang="en-US" sz="1396"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822960" y="3677206"/>
          <a:ext cx="5171440" cy="2367994"/>
        </p:xfrm>
        <a:graphic>
          <a:graphicData uri="http://schemas.openxmlformats.org/drawingml/2006/table">
            <a:tbl>
              <a:tblPr/>
              <a:tblGrid>
                <a:gridCol w="3620008">
                  <a:extLst>
                    <a:ext uri="{9D8B030D-6E8A-4147-A177-3AD203B41FA5}">
                      <a16:colId xmlns:a16="http://schemas.microsoft.com/office/drawing/2014/main" val="20000"/>
                    </a:ext>
                  </a:extLst>
                </a:gridCol>
                <a:gridCol w="775716">
                  <a:extLst>
                    <a:ext uri="{9D8B030D-6E8A-4147-A177-3AD203B41FA5}">
                      <a16:colId xmlns:a16="http://schemas.microsoft.com/office/drawing/2014/main" val="20001"/>
                    </a:ext>
                  </a:extLst>
                </a:gridCol>
                <a:gridCol w="775716">
                  <a:extLst>
                    <a:ext uri="{9D8B030D-6E8A-4147-A177-3AD203B41FA5}">
                      <a16:colId xmlns:a16="http://schemas.microsoft.com/office/drawing/2014/main" val="20002"/>
                    </a:ext>
                  </a:extLst>
                </a:gridCol>
              </a:tblGrid>
              <a:tr h="359172">
                <a:tc>
                  <a:txBody>
                    <a:bodyPr/>
                    <a:lstStyle/>
                    <a:p>
                      <a:pPr marL="0" indent="0">
                        <a:lnSpc>
                          <a:spcPts val="1675"/>
                        </a:lnSpc>
                        <a:buNone/>
                      </a:pPr>
                      <a:r>
                        <a:rPr lang="en-US" sz="1196" b="1" dirty="0">
                          <a:solidFill>
                            <a:srgbClr val="6B7280"/>
                          </a:solidFill>
                          <a:latin typeface="Public Sans" pitchFamily="34" charset="0"/>
                          <a:ea typeface="Public Sans" pitchFamily="34" charset="-122"/>
                          <a:cs typeface="Public Sans" pitchFamily="34" charset="-120"/>
                        </a:rPr>
                        <a:t>Journal</a:t>
                      </a:r>
                      <a:endParaRPr lang="en-US" sz="1196" dirty="0">
                        <a:latin typeface="Public Sans" charset="0"/>
                        <a:ea typeface="Public Sans" charset="0"/>
                        <a:cs typeface="Public Sans" charset="0"/>
                      </a:endParaRPr>
                    </a:p>
                  </a:txBody>
                  <a:tcPr marL="53173" marR="53173" marT="53173" marB="53173">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ctr">
                        <a:lnSpc>
                          <a:spcPts val="1675"/>
                        </a:lnSpc>
                        <a:buNone/>
                      </a:pPr>
                      <a:r>
                        <a:rPr lang="en-US" sz="1196" b="1" dirty="0">
                          <a:solidFill>
                            <a:srgbClr val="6B7280"/>
                          </a:solidFill>
                          <a:latin typeface="Public Sans" pitchFamily="34" charset="0"/>
                          <a:ea typeface="Public Sans" pitchFamily="34" charset="-122"/>
                          <a:cs typeface="Public Sans" pitchFamily="34" charset="-120"/>
                        </a:rPr>
                        <a:t>Quartile</a:t>
                      </a:r>
                      <a:endParaRPr lang="en-US" sz="1196" dirty="0">
                        <a:latin typeface="Public Sans" charset="0"/>
                        <a:ea typeface="Public Sans" charset="0"/>
                        <a:cs typeface="Public Sans" charset="0"/>
                      </a:endParaRPr>
                    </a:p>
                  </a:txBody>
                  <a:tcPr marL="53173" marR="53173" marT="53173" marB="53173">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1675"/>
                        </a:lnSpc>
                        <a:buNone/>
                      </a:pPr>
                      <a:r>
                        <a:rPr lang="en-US" sz="1196" b="1" dirty="0">
                          <a:solidFill>
                            <a:srgbClr val="6B7280"/>
                          </a:solidFill>
                          <a:latin typeface="Public Sans" pitchFamily="34" charset="0"/>
                          <a:ea typeface="Public Sans" pitchFamily="34" charset="-122"/>
                          <a:cs typeface="Public Sans" pitchFamily="34" charset="-120"/>
                        </a:rPr>
                        <a:t>Papers</a:t>
                      </a:r>
                      <a:endParaRPr lang="en-US" sz="1196" dirty="0">
                        <a:latin typeface="Public Sans" charset="0"/>
                        <a:ea typeface="Public Sans" charset="0"/>
                        <a:cs typeface="Public Sans" charset="0"/>
                      </a:endParaRPr>
                    </a:p>
                  </a:txBody>
                  <a:tcPr marL="53173" marR="53173" marT="53173" marB="53173">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extLst>
                  <a:ext uri="{0D108BD9-81ED-4DB2-BD59-A6C34878D82A}">
                    <a16:rowId xmlns:a16="http://schemas.microsoft.com/office/drawing/2014/main" val="10000"/>
                  </a:ext>
                </a:extLst>
              </a:tr>
              <a:tr h="571818">
                <a:tc>
                  <a:txBody>
                    <a:bodyPr/>
                    <a:lstStyle/>
                    <a:p>
                      <a:pPr marL="0" indent="0">
                        <a:lnSpc>
                          <a:spcPts val="1675"/>
                        </a:lnSpc>
                        <a:buNone/>
                      </a:pPr>
                      <a:r>
                        <a:rPr lang="en-US" sz="1196" dirty="0">
                          <a:solidFill>
                            <a:srgbClr val="4A5568"/>
                          </a:solidFill>
                          <a:latin typeface="Public Sans" pitchFamily="34" charset="0"/>
                          <a:ea typeface="Public Sans" pitchFamily="34" charset="-122"/>
                          <a:cs typeface="Public Sans" pitchFamily="34" charset="-120"/>
                        </a:rPr>
                        <a:t>Materials Today: Proceedings</a:t>
                      </a:r>
                      <a:endParaRPr lang="en-US" sz="1196" dirty="0">
                        <a:latin typeface="Public Sans" charset="0"/>
                        <a:ea typeface="Public Sans" charset="0"/>
                        <a:cs typeface="Public Sans" charset="0"/>
                      </a:endParaRPr>
                    </a:p>
                  </a:txBody>
                  <a:tcPr marL="53173" marR="53173" marT="53173" marB="53173">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ctr">
                        <a:lnSpc>
                          <a:spcPts val="1675"/>
                        </a:lnSpc>
                        <a:buNone/>
                      </a:pPr>
                      <a:r>
                        <a:rPr lang="en-US" sz="1196" dirty="0">
                          <a:solidFill>
                            <a:srgbClr val="4A5568"/>
                          </a:solidFill>
                          <a:latin typeface="Public Sans" pitchFamily="34" charset="0"/>
                          <a:ea typeface="Public Sans" pitchFamily="34" charset="-122"/>
                          <a:cs typeface="Public Sans" pitchFamily="34" charset="-120"/>
                        </a:rPr>
                        <a:t>not ranked</a:t>
                      </a:r>
                      <a:endParaRPr lang="en-US" sz="1196" dirty="0">
                        <a:latin typeface="Public Sans" charset="0"/>
                        <a:ea typeface="Public Sans" charset="0"/>
                        <a:cs typeface="Public Sans" charset="0"/>
                      </a:endParaRPr>
                    </a:p>
                  </a:txBody>
                  <a:tcPr marL="53173" marR="53173" marT="53173" marB="53173">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75"/>
                        </a:lnSpc>
                        <a:buNone/>
                      </a:pPr>
                      <a:r>
                        <a:rPr lang="en-US" sz="1196" dirty="0">
                          <a:solidFill>
                            <a:srgbClr val="4A5568"/>
                          </a:solidFill>
                          <a:latin typeface="Public Sans" pitchFamily="34" charset="0"/>
                          <a:ea typeface="Public Sans" pitchFamily="34" charset="-122"/>
                          <a:cs typeface="Public Sans" pitchFamily="34" charset="-120"/>
                        </a:rPr>
                        <a:t>288</a:t>
                      </a:r>
                      <a:endParaRPr lang="en-US" sz="1196" dirty="0">
                        <a:latin typeface="Public Sans" charset="0"/>
                        <a:ea typeface="Public Sans" charset="0"/>
                        <a:cs typeface="Public Sans" charset="0"/>
                      </a:endParaRPr>
                    </a:p>
                  </a:txBody>
                  <a:tcPr marL="53173" marR="53173" marT="53173" marB="53173">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359251">
                <a:tc>
                  <a:txBody>
                    <a:bodyPr/>
                    <a:lstStyle/>
                    <a:p>
                      <a:pPr marL="0" indent="0">
                        <a:lnSpc>
                          <a:spcPts val="1675"/>
                        </a:lnSpc>
                        <a:buNone/>
                      </a:pPr>
                      <a:r>
                        <a:rPr lang="en-US" sz="1196" dirty="0">
                          <a:solidFill>
                            <a:srgbClr val="4A5568"/>
                          </a:solidFill>
                          <a:latin typeface="Public Sans" pitchFamily="34" charset="0"/>
                          <a:ea typeface="Public Sans" pitchFamily="34" charset="-122"/>
                          <a:cs typeface="Public Sans" pitchFamily="34" charset="-120"/>
                        </a:rPr>
                        <a:t>Trans. Indian Institute of Metals</a:t>
                      </a:r>
                      <a:endParaRPr lang="en-US" sz="1196" dirty="0">
                        <a:latin typeface="Public Sans" charset="0"/>
                        <a:ea typeface="Public Sans" charset="0"/>
                        <a:cs typeface="Public Sans" charset="0"/>
                      </a:endParaRPr>
                    </a:p>
                  </a:txBody>
                  <a:tcPr marL="53173" marR="53173" marT="53173" marB="53173">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ctr">
                        <a:lnSpc>
                          <a:spcPts val="1675"/>
                        </a:lnSpc>
                        <a:buNone/>
                      </a:pPr>
                      <a:r>
                        <a:rPr lang="en-US" sz="1196" dirty="0">
                          <a:solidFill>
                            <a:srgbClr val="4A5568"/>
                          </a:solidFill>
                          <a:latin typeface="Public Sans" pitchFamily="34" charset="0"/>
                          <a:ea typeface="Public Sans" pitchFamily="34" charset="-122"/>
                          <a:cs typeface="Public Sans" pitchFamily="34" charset="-120"/>
                        </a:rPr>
                        <a:t>Q3</a:t>
                      </a:r>
                      <a:endParaRPr lang="en-US" sz="1196" dirty="0">
                        <a:latin typeface="Public Sans" charset="0"/>
                        <a:ea typeface="Public Sans" charset="0"/>
                        <a:cs typeface="Public Sans" charset="0"/>
                      </a:endParaRPr>
                    </a:p>
                  </a:txBody>
                  <a:tcPr marL="53173" marR="53173" marT="53173" marB="53173">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75"/>
                        </a:lnSpc>
                        <a:buNone/>
                      </a:pPr>
                      <a:r>
                        <a:rPr lang="en-US" sz="1196" dirty="0">
                          <a:solidFill>
                            <a:srgbClr val="4A5568"/>
                          </a:solidFill>
                          <a:latin typeface="Public Sans" pitchFamily="34" charset="0"/>
                          <a:ea typeface="Public Sans" pitchFamily="34" charset="-122"/>
                          <a:cs typeface="Public Sans" pitchFamily="34" charset="-120"/>
                        </a:rPr>
                        <a:t>92</a:t>
                      </a:r>
                      <a:endParaRPr lang="en-US" sz="1196" dirty="0">
                        <a:latin typeface="Public Sans" charset="0"/>
                        <a:ea typeface="Public Sans" charset="0"/>
                        <a:cs typeface="Public Sans" charset="0"/>
                      </a:endParaRPr>
                    </a:p>
                  </a:txBody>
                  <a:tcPr marL="53173" marR="53173" marT="53173" marB="53173">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2"/>
                  </a:ext>
                </a:extLst>
              </a:tr>
              <a:tr h="359251">
                <a:tc>
                  <a:txBody>
                    <a:bodyPr/>
                    <a:lstStyle/>
                    <a:p>
                      <a:pPr marL="0" indent="0">
                        <a:lnSpc>
                          <a:spcPts val="1675"/>
                        </a:lnSpc>
                        <a:buNone/>
                      </a:pPr>
                      <a:r>
                        <a:rPr lang="en-US" sz="1196" dirty="0">
                          <a:solidFill>
                            <a:srgbClr val="4A5568"/>
                          </a:solidFill>
                          <a:latin typeface="Public Sans" pitchFamily="34" charset="0"/>
                          <a:ea typeface="Public Sans" pitchFamily="34" charset="-122"/>
                          <a:cs typeface="Public Sans" pitchFamily="34" charset="-120"/>
                        </a:rPr>
                        <a:t>J. Materials Eng. &amp; Performance</a:t>
                      </a:r>
                      <a:endParaRPr lang="en-US" sz="1196" dirty="0">
                        <a:latin typeface="Public Sans" charset="0"/>
                        <a:ea typeface="Public Sans" charset="0"/>
                        <a:cs typeface="Public Sans" charset="0"/>
                      </a:endParaRPr>
                    </a:p>
                  </a:txBody>
                  <a:tcPr marL="53173" marR="53173" marT="53173" marB="53173">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ctr">
                        <a:lnSpc>
                          <a:spcPts val="1675"/>
                        </a:lnSpc>
                        <a:buNone/>
                      </a:pPr>
                      <a:r>
                        <a:rPr lang="en-US" sz="1196" dirty="0">
                          <a:solidFill>
                            <a:srgbClr val="4A5568"/>
                          </a:solidFill>
                          <a:latin typeface="Public Sans" pitchFamily="34" charset="0"/>
                          <a:ea typeface="Public Sans" pitchFamily="34" charset="-122"/>
                          <a:cs typeface="Public Sans" pitchFamily="34" charset="-120"/>
                        </a:rPr>
                        <a:t>Q2</a:t>
                      </a:r>
                      <a:endParaRPr lang="en-US" sz="1196" dirty="0">
                        <a:latin typeface="Public Sans" charset="0"/>
                        <a:ea typeface="Public Sans" charset="0"/>
                        <a:cs typeface="Public Sans" charset="0"/>
                      </a:endParaRPr>
                    </a:p>
                  </a:txBody>
                  <a:tcPr marL="53173" marR="53173" marT="53173" marB="53173">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75"/>
                        </a:lnSpc>
                        <a:buNone/>
                      </a:pPr>
                      <a:r>
                        <a:rPr lang="en-US" sz="1196" dirty="0">
                          <a:solidFill>
                            <a:srgbClr val="4A5568"/>
                          </a:solidFill>
                          <a:latin typeface="Public Sans" pitchFamily="34" charset="0"/>
                          <a:ea typeface="Public Sans" pitchFamily="34" charset="-122"/>
                          <a:cs typeface="Public Sans" pitchFamily="34" charset="-120"/>
                        </a:rPr>
                        <a:t>78</a:t>
                      </a:r>
                      <a:endParaRPr lang="en-US" sz="1196" dirty="0">
                        <a:latin typeface="Public Sans" charset="0"/>
                        <a:ea typeface="Public Sans" charset="0"/>
                        <a:cs typeface="Public Sans" charset="0"/>
                      </a:endParaRPr>
                    </a:p>
                  </a:txBody>
                  <a:tcPr marL="53173" marR="53173" marT="53173" marB="53173">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r h="359251">
                <a:tc>
                  <a:txBody>
                    <a:bodyPr/>
                    <a:lstStyle/>
                    <a:p>
                      <a:pPr marL="0" indent="0">
                        <a:lnSpc>
                          <a:spcPts val="1675"/>
                        </a:lnSpc>
                        <a:buNone/>
                      </a:pPr>
                      <a:r>
                        <a:rPr lang="en-US" sz="1196" dirty="0">
                          <a:solidFill>
                            <a:srgbClr val="4A5568"/>
                          </a:solidFill>
                          <a:latin typeface="Public Sans" pitchFamily="34" charset="0"/>
                          <a:ea typeface="Public Sans" pitchFamily="34" charset="-122"/>
                          <a:cs typeface="Public Sans" pitchFamily="34" charset="-120"/>
                        </a:rPr>
                        <a:t>Journal of Alloys and Compounds</a:t>
                      </a:r>
                      <a:endParaRPr lang="en-US" sz="1196" dirty="0">
                        <a:latin typeface="Public Sans" charset="0"/>
                        <a:ea typeface="Public Sans" charset="0"/>
                        <a:cs typeface="Public Sans" charset="0"/>
                      </a:endParaRPr>
                    </a:p>
                  </a:txBody>
                  <a:tcPr marL="53173" marR="53173" marT="53173" marB="53173">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ctr">
                        <a:lnSpc>
                          <a:spcPts val="1675"/>
                        </a:lnSpc>
                        <a:buNone/>
                      </a:pPr>
                      <a:r>
                        <a:rPr lang="en-US" sz="1196" dirty="0">
                          <a:solidFill>
                            <a:srgbClr val="4A5568"/>
                          </a:solidFill>
                          <a:latin typeface="Public Sans" pitchFamily="34" charset="0"/>
                          <a:ea typeface="Public Sans" pitchFamily="34" charset="-122"/>
                          <a:cs typeface="Public Sans" pitchFamily="34" charset="-120"/>
                        </a:rPr>
                        <a:t>Q1</a:t>
                      </a:r>
                      <a:endParaRPr lang="en-US" sz="1196" dirty="0">
                        <a:latin typeface="Public Sans" charset="0"/>
                        <a:ea typeface="Public Sans" charset="0"/>
                        <a:cs typeface="Public Sans" charset="0"/>
                      </a:endParaRPr>
                    </a:p>
                  </a:txBody>
                  <a:tcPr marL="53173" marR="53173" marT="53173" marB="53173">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75"/>
                        </a:lnSpc>
                        <a:buNone/>
                      </a:pPr>
                      <a:r>
                        <a:rPr lang="en-US" sz="1196" dirty="0">
                          <a:solidFill>
                            <a:srgbClr val="4A5568"/>
                          </a:solidFill>
                          <a:latin typeface="Public Sans" pitchFamily="34" charset="0"/>
                          <a:ea typeface="Public Sans" pitchFamily="34" charset="-122"/>
                          <a:cs typeface="Public Sans" pitchFamily="34" charset="-120"/>
                        </a:rPr>
                        <a:t>61</a:t>
                      </a:r>
                      <a:endParaRPr lang="en-US" sz="1196" dirty="0">
                        <a:latin typeface="Public Sans" charset="0"/>
                        <a:ea typeface="Public Sans" charset="0"/>
                        <a:cs typeface="Public Sans" charset="0"/>
                      </a:endParaRPr>
                    </a:p>
                  </a:txBody>
                  <a:tcPr marL="53173" marR="53173" marT="53173" marB="53173">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4"/>
                  </a:ext>
                </a:extLst>
              </a:tr>
              <a:tr h="359251">
                <a:tc>
                  <a:txBody>
                    <a:bodyPr/>
                    <a:lstStyle/>
                    <a:p>
                      <a:pPr marL="0" indent="0">
                        <a:lnSpc>
                          <a:spcPts val="1675"/>
                        </a:lnSpc>
                        <a:buNone/>
                      </a:pPr>
                      <a:r>
                        <a:rPr lang="en-US" sz="1196" dirty="0">
                          <a:solidFill>
                            <a:srgbClr val="4A5568"/>
                          </a:solidFill>
                          <a:latin typeface="Public Sans" pitchFamily="34" charset="0"/>
                          <a:ea typeface="Public Sans" pitchFamily="34" charset="-122"/>
                          <a:cs typeface="Public Sans" pitchFamily="34" charset="-120"/>
                        </a:rPr>
                        <a:t>Materials Research Express</a:t>
                      </a:r>
                      <a:endParaRPr lang="en-US" sz="1196" dirty="0">
                        <a:latin typeface="Public Sans" charset="0"/>
                        <a:ea typeface="Public Sans" charset="0"/>
                        <a:cs typeface="Public Sans" charset="0"/>
                      </a:endParaRPr>
                    </a:p>
                  </a:txBody>
                  <a:tcPr marL="53173" marR="53173" marT="53173" marB="53173">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ctr">
                        <a:lnSpc>
                          <a:spcPts val="1675"/>
                        </a:lnSpc>
                        <a:buNone/>
                      </a:pPr>
                      <a:r>
                        <a:rPr lang="en-US" sz="1196" dirty="0">
                          <a:solidFill>
                            <a:srgbClr val="4A5568"/>
                          </a:solidFill>
                          <a:latin typeface="Public Sans" pitchFamily="34" charset="0"/>
                          <a:ea typeface="Public Sans" pitchFamily="34" charset="-122"/>
                          <a:cs typeface="Public Sans" pitchFamily="34" charset="-120"/>
                        </a:rPr>
                        <a:t>Q3</a:t>
                      </a:r>
                      <a:endParaRPr lang="en-US" sz="1196" dirty="0">
                        <a:latin typeface="Public Sans" charset="0"/>
                        <a:ea typeface="Public Sans" charset="0"/>
                        <a:cs typeface="Public Sans" charset="0"/>
                      </a:endParaRPr>
                    </a:p>
                  </a:txBody>
                  <a:tcPr marL="53173" marR="53173" marT="53173" marB="53173">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75"/>
                        </a:lnSpc>
                        <a:buNone/>
                      </a:pPr>
                      <a:r>
                        <a:rPr lang="en-US" sz="1196" dirty="0">
                          <a:solidFill>
                            <a:srgbClr val="4A5568"/>
                          </a:solidFill>
                          <a:latin typeface="Public Sans" pitchFamily="34" charset="0"/>
                          <a:ea typeface="Public Sans" pitchFamily="34" charset="-122"/>
                          <a:cs typeface="Public Sans" pitchFamily="34" charset="-120"/>
                        </a:rPr>
                        <a:t>61</a:t>
                      </a:r>
                      <a:endParaRPr lang="en-US" sz="1196" dirty="0">
                        <a:latin typeface="Public Sans" charset="0"/>
                        <a:ea typeface="Public Sans" charset="0"/>
                        <a:cs typeface="Public Sans" charset="0"/>
                      </a:endParaRPr>
                    </a:p>
                  </a:txBody>
                  <a:tcPr marL="53173" marR="53173" marT="53173" marB="53173">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4" name="Text 21"/>
          <p:cNvSpPr/>
          <p:nvPr/>
        </p:nvSpPr>
        <p:spPr>
          <a:xfrm>
            <a:off x="6197600" y="3381057"/>
            <a:ext cx="5337048" cy="235188"/>
          </a:xfrm>
          <a:prstGeom prst="rect">
            <a:avLst/>
          </a:prstGeom>
          <a:noFill/>
          <a:ln/>
        </p:spPr>
        <p:txBody>
          <a:bodyPr wrap="square" lIns="0" tIns="0" rIns="0" bIns="0" rtlCol="0" anchor="t">
            <a:normAutofit/>
          </a:bodyPr>
          <a:lstStyle/>
          <a:p>
            <a:pPr marL="0" indent="0" algn="l">
              <a:lnSpc>
                <a:spcPts val="1675"/>
              </a:lnSpc>
              <a:buNone/>
            </a:pPr>
            <a:r>
              <a:rPr lang="en-US" sz="1396" b="1" dirty="0">
                <a:solidFill>
                  <a:srgbClr val="B34A1C"/>
                </a:solidFill>
                <a:latin typeface="Public Sans" pitchFamily="34" charset="0"/>
                <a:ea typeface="Public Sans" pitchFamily="34" charset="-122"/>
                <a:cs typeface="Public Sans" pitchFamily="34" charset="-120"/>
              </a:rPr>
              <a:t>NIT Surathkal · top 5 journals</a:t>
            </a:r>
            <a:endParaRPr lang="en-US" sz="1396" dirty="0"/>
          </a:p>
        </p:txBody>
      </p:sp>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6207760" y="3677206"/>
          <a:ext cx="5171440" cy="2367994"/>
        </p:xfrm>
        <a:graphic>
          <a:graphicData uri="http://schemas.openxmlformats.org/drawingml/2006/table">
            <a:tbl>
              <a:tblPr/>
              <a:tblGrid>
                <a:gridCol w="3620008">
                  <a:extLst>
                    <a:ext uri="{9D8B030D-6E8A-4147-A177-3AD203B41FA5}">
                      <a16:colId xmlns:a16="http://schemas.microsoft.com/office/drawing/2014/main" val="20000"/>
                    </a:ext>
                  </a:extLst>
                </a:gridCol>
                <a:gridCol w="775716">
                  <a:extLst>
                    <a:ext uri="{9D8B030D-6E8A-4147-A177-3AD203B41FA5}">
                      <a16:colId xmlns:a16="http://schemas.microsoft.com/office/drawing/2014/main" val="20001"/>
                    </a:ext>
                  </a:extLst>
                </a:gridCol>
                <a:gridCol w="775716">
                  <a:extLst>
                    <a:ext uri="{9D8B030D-6E8A-4147-A177-3AD203B41FA5}">
                      <a16:colId xmlns:a16="http://schemas.microsoft.com/office/drawing/2014/main" val="20002"/>
                    </a:ext>
                  </a:extLst>
                </a:gridCol>
              </a:tblGrid>
              <a:tr h="359172">
                <a:tc>
                  <a:txBody>
                    <a:bodyPr/>
                    <a:lstStyle/>
                    <a:p>
                      <a:pPr marL="0" indent="0">
                        <a:lnSpc>
                          <a:spcPts val="1675"/>
                        </a:lnSpc>
                        <a:buNone/>
                      </a:pPr>
                      <a:r>
                        <a:rPr lang="en-US" sz="1196" b="1" dirty="0">
                          <a:solidFill>
                            <a:srgbClr val="6B7280"/>
                          </a:solidFill>
                          <a:latin typeface="Public Sans" pitchFamily="34" charset="0"/>
                          <a:ea typeface="Public Sans" pitchFamily="34" charset="-122"/>
                          <a:cs typeface="Public Sans" pitchFamily="34" charset="-120"/>
                        </a:rPr>
                        <a:t>Journal</a:t>
                      </a:r>
                      <a:endParaRPr lang="en-US" sz="1196" dirty="0">
                        <a:latin typeface="Public Sans" charset="0"/>
                        <a:ea typeface="Public Sans" charset="0"/>
                        <a:cs typeface="Public Sans" charset="0"/>
                      </a:endParaRPr>
                    </a:p>
                  </a:txBody>
                  <a:tcPr marL="53173" marR="53173" marT="53173" marB="53173">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ctr">
                        <a:lnSpc>
                          <a:spcPts val="1675"/>
                        </a:lnSpc>
                        <a:buNone/>
                      </a:pPr>
                      <a:r>
                        <a:rPr lang="en-US" sz="1196" b="1" dirty="0">
                          <a:solidFill>
                            <a:srgbClr val="6B7280"/>
                          </a:solidFill>
                          <a:latin typeface="Public Sans" pitchFamily="34" charset="0"/>
                          <a:ea typeface="Public Sans" pitchFamily="34" charset="-122"/>
                          <a:cs typeface="Public Sans" pitchFamily="34" charset="-120"/>
                        </a:rPr>
                        <a:t>Quartile</a:t>
                      </a:r>
                      <a:endParaRPr lang="en-US" sz="1196" dirty="0">
                        <a:latin typeface="Public Sans" charset="0"/>
                        <a:ea typeface="Public Sans" charset="0"/>
                        <a:cs typeface="Public Sans" charset="0"/>
                      </a:endParaRPr>
                    </a:p>
                  </a:txBody>
                  <a:tcPr marL="53173" marR="53173" marT="53173" marB="53173">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1675"/>
                        </a:lnSpc>
                        <a:buNone/>
                      </a:pPr>
                      <a:r>
                        <a:rPr lang="en-US" sz="1196" b="1" dirty="0">
                          <a:solidFill>
                            <a:srgbClr val="6B7280"/>
                          </a:solidFill>
                          <a:latin typeface="Public Sans" pitchFamily="34" charset="0"/>
                          <a:ea typeface="Public Sans" pitchFamily="34" charset="-122"/>
                          <a:cs typeface="Public Sans" pitchFamily="34" charset="-120"/>
                        </a:rPr>
                        <a:t>Papers</a:t>
                      </a:r>
                      <a:endParaRPr lang="en-US" sz="1196" dirty="0">
                        <a:latin typeface="Public Sans" charset="0"/>
                        <a:ea typeface="Public Sans" charset="0"/>
                        <a:cs typeface="Public Sans" charset="0"/>
                      </a:endParaRPr>
                    </a:p>
                  </a:txBody>
                  <a:tcPr marL="53173" marR="53173" marT="53173" marB="53173">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extLst>
                  <a:ext uri="{0D108BD9-81ED-4DB2-BD59-A6C34878D82A}">
                    <a16:rowId xmlns:a16="http://schemas.microsoft.com/office/drawing/2014/main" val="10000"/>
                  </a:ext>
                </a:extLst>
              </a:tr>
              <a:tr h="571818">
                <a:tc>
                  <a:txBody>
                    <a:bodyPr/>
                    <a:lstStyle/>
                    <a:p>
                      <a:pPr marL="0" indent="0">
                        <a:lnSpc>
                          <a:spcPts val="1675"/>
                        </a:lnSpc>
                        <a:buNone/>
                      </a:pPr>
                      <a:r>
                        <a:rPr lang="en-US" sz="1196" dirty="0">
                          <a:solidFill>
                            <a:srgbClr val="4A5568"/>
                          </a:solidFill>
                          <a:latin typeface="Public Sans" pitchFamily="34" charset="0"/>
                          <a:ea typeface="Public Sans" pitchFamily="34" charset="-122"/>
                          <a:cs typeface="Public Sans" pitchFamily="34" charset="-120"/>
                        </a:rPr>
                        <a:t>Materials Today: Proceedings</a:t>
                      </a:r>
                      <a:endParaRPr lang="en-US" sz="1196" dirty="0">
                        <a:latin typeface="Public Sans" charset="0"/>
                        <a:ea typeface="Public Sans" charset="0"/>
                        <a:cs typeface="Public Sans" charset="0"/>
                      </a:endParaRPr>
                    </a:p>
                  </a:txBody>
                  <a:tcPr marL="53173" marR="53173" marT="53173" marB="53173">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ctr">
                        <a:lnSpc>
                          <a:spcPts val="1675"/>
                        </a:lnSpc>
                        <a:buNone/>
                      </a:pPr>
                      <a:r>
                        <a:rPr lang="en-US" sz="1196" dirty="0">
                          <a:solidFill>
                            <a:srgbClr val="4A5568"/>
                          </a:solidFill>
                          <a:latin typeface="Public Sans" pitchFamily="34" charset="0"/>
                          <a:ea typeface="Public Sans" pitchFamily="34" charset="-122"/>
                          <a:cs typeface="Public Sans" pitchFamily="34" charset="-120"/>
                        </a:rPr>
                        <a:t>not ranked</a:t>
                      </a:r>
                      <a:endParaRPr lang="en-US" sz="1196" dirty="0">
                        <a:latin typeface="Public Sans" charset="0"/>
                        <a:ea typeface="Public Sans" charset="0"/>
                        <a:cs typeface="Public Sans" charset="0"/>
                      </a:endParaRPr>
                    </a:p>
                  </a:txBody>
                  <a:tcPr marL="53173" marR="53173" marT="53173" marB="53173">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75"/>
                        </a:lnSpc>
                        <a:buNone/>
                      </a:pPr>
                      <a:r>
                        <a:rPr lang="en-US" sz="1196" dirty="0">
                          <a:solidFill>
                            <a:srgbClr val="4A5568"/>
                          </a:solidFill>
                          <a:latin typeface="Public Sans" pitchFamily="34" charset="0"/>
                          <a:ea typeface="Public Sans" pitchFamily="34" charset="-122"/>
                          <a:cs typeface="Public Sans" pitchFamily="34" charset="-120"/>
                        </a:rPr>
                        <a:t>230</a:t>
                      </a:r>
                      <a:endParaRPr lang="en-US" sz="1196" dirty="0">
                        <a:latin typeface="Public Sans" charset="0"/>
                        <a:ea typeface="Public Sans" charset="0"/>
                        <a:cs typeface="Public Sans" charset="0"/>
                      </a:endParaRPr>
                    </a:p>
                  </a:txBody>
                  <a:tcPr marL="53173" marR="53173" marT="53173" marB="53173">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359251">
                <a:tc>
                  <a:txBody>
                    <a:bodyPr/>
                    <a:lstStyle/>
                    <a:p>
                      <a:pPr marL="0" indent="0">
                        <a:lnSpc>
                          <a:spcPts val="1675"/>
                        </a:lnSpc>
                        <a:buNone/>
                      </a:pPr>
                      <a:r>
                        <a:rPr lang="en-US" sz="1196" dirty="0">
                          <a:solidFill>
                            <a:srgbClr val="4A5568"/>
                          </a:solidFill>
                          <a:latin typeface="Public Sans" pitchFamily="34" charset="0"/>
                          <a:ea typeface="Public Sans" pitchFamily="34" charset="-122"/>
                          <a:cs typeface="Public Sans" pitchFamily="34" charset="-120"/>
                        </a:rPr>
                        <a:t>IEEE Access</a:t>
                      </a:r>
                      <a:endParaRPr lang="en-US" sz="1196" dirty="0">
                        <a:latin typeface="Public Sans" charset="0"/>
                        <a:ea typeface="Public Sans" charset="0"/>
                        <a:cs typeface="Public Sans" charset="0"/>
                      </a:endParaRPr>
                    </a:p>
                  </a:txBody>
                  <a:tcPr marL="53173" marR="53173" marT="53173" marB="53173">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ctr">
                        <a:lnSpc>
                          <a:spcPts val="1675"/>
                        </a:lnSpc>
                        <a:buNone/>
                      </a:pPr>
                      <a:r>
                        <a:rPr lang="en-US" sz="1196" dirty="0">
                          <a:solidFill>
                            <a:srgbClr val="4A5568"/>
                          </a:solidFill>
                          <a:latin typeface="Public Sans" pitchFamily="34" charset="0"/>
                          <a:ea typeface="Public Sans" pitchFamily="34" charset="-122"/>
                          <a:cs typeface="Public Sans" pitchFamily="34" charset="-120"/>
                        </a:rPr>
                        <a:t>Q1</a:t>
                      </a:r>
                      <a:endParaRPr lang="en-US" sz="1196" dirty="0">
                        <a:latin typeface="Public Sans" charset="0"/>
                        <a:ea typeface="Public Sans" charset="0"/>
                        <a:cs typeface="Public Sans" charset="0"/>
                      </a:endParaRPr>
                    </a:p>
                  </a:txBody>
                  <a:tcPr marL="53173" marR="53173" marT="53173" marB="53173">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75"/>
                        </a:lnSpc>
                        <a:buNone/>
                      </a:pPr>
                      <a:r>
                        <a:rPr lang="en-US" sz="1196" dirty="0">
                          <a:solidFill>
                            <a:srgbClr val="4A5568"/>
                          </a:solidFill>
                          <a:latin typeface="Public Sans" pitchFamily="34" charset="0"/>
                          <a:ea typeface="Public Sans" pitchFamily="34" charset="-122"/>
                          <a:cs typeface="Public Sans" pitchFamily="34" charset="-120"/>
                        </a:rPr>
                        <a:t>111</a:t>
                      </a:r>
                      <a:endParaRPr lang="en-US" sz="1196" dirty="0">
                        <a:latin typeface="Public Sans" charset="0"/>
                        <a:ea typeface="Public Sans" charset="0"/>
                        <a:cs typeface="Public Sans" charset="0"/>
                      </a:endParaRPr>
                    </a:p>
                  </a:txBody>
                  <a:tcPr marL="53173" marR="53173" marT="53173" marB="53173">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2"/>
                  </a:ext>
                </a:extLst>
              </a:tr>
              <a:tr h="359251">
                <a:tc>
                  <a:txBody>
                    <a:bodyPr/>
                    <a:lstStyle/>
                    <a:p>
                      <a:pPr marL="0" indent="0">
                        <a:lnSpc>
                          <a:spcPts val="1675"/>
                        </a:lnSpc>
                        <a:buNone/>
                      </a:pPr>
                      <a:r>
                        <a:rPr lang="en-US" sz="1196" dirty="0">
                          <a:solidFill>
                            <a:srgbClr val="4A5568"/>
                          </a:solidFill>
                          <a:latin typeface="Public Sans" pitchFamily="34" charset="0"/>
                          <a:ea typeface="Public Sans" pitchFamily="34" charset="-122"/>
                          <a:cs typeface="Public Sans" pitchFamily="34" charset="-120"/>
                        </a:rPr>
                        <a:t>J. Materials Eng. &amp; Performance</a:t>
                      </a:r>
                      <a:endParaRPr lang="en-US" sz="1196" dirty="0">
                        <a:latin typeface="Public Sans" charset="0"/>
                        <a:ea typeface="Public Sans" charset="0"/>
                        <a:cs typeface="Public Sans" charset="0"/>
                      </a:endParaRPr>
                    </a:p>
                  </a:txBody>
                  <a:tcPr marL="53173" marR="53173" marT="53173" marB="53173">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ctr">
                        <a:lnSpc>
                          <a:spcPts val="1675"/>
                        </a:lnSpc>
                        <a:buNone/>
                      </a:pPr>
                      <a:r>
                        <a:rPr lang="en-US" sz="1196" dirty="0">
                          <a:solidFill>
                            <a:srgbClr val="4A5568"/>
                          </a:solidFill>
                          <a:latin typeface="Public Sans" pitchFamily="34" charset="0"/>
                          <a:ea typeface="Public Sans" pitchFamily="34" charset="-122"/>
                          <a:cs typeface="Public Sans" pitchFamily="34" charset="-120"/>
                        </a:rPr>
                        <a:t>Q2</a:t>
                      </a:r>
                      <a:endParaRPr lang="en-US" sz="1196" dirty="0">
                        <a:latin typeface="Public Sans" charset="0"/>
                        <a:ea typeface="Public Sans" charset="0"/>
                        <a:cs typeface="Public Sans" charset="0"/>
                      </a:endParaRPr>
                    </a:p>
                  </a:txBody>
                  <a:tcPr marL="53173" marR="53173" marT="53173" marB="53173">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75"/>
                        </a:lnSpc>
                        <a:buNone/>
                      </a:pPr>
                      <a:r>
                        <a:rPr lang="en-US" sz="1196" dirty="0">
                          <a:solidFill>
                            <a:srgbClr val="4A5568"/>
                          </a:solidFill>
                          <a:latin typeface="Public Sans" pitchFamily="34" charset="0"/>
                          <a:ea typeface="Public Sans" pitchFamily="34" charset="-122"/>
                          <a:cs typeface="Public Sans" pitchFamily="34" charset="-120"/>
                        </a:rPr>
                        <a:t>77</a:t>
                      </a:r>
                      <a:endParaRPr lang="en-US" sz="1196" dirty="0">
                        <a:latin typeface="Public Sans" charset="0"/>
                        <a:ea typeface="Public Sans" charset="0"/>
                        <a:cs typeface="Public Sans" charset="0"/>
                      </a:endParaRPr>
                    </a:p>
                  </a:txBody>
                  <a:tcPr marL="53173" marR="53173" marT="53173" marB="53173">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r h="359251">
                <a:tc>
                  <a:txBody>
                    <a:bodyPr/>
                    <a:lstStyle/>
                    <a:p>
                      <a:pPr marL="0" indent="0">
                        <a:lnSpc>
                          <a:spcPts val="1675"/>
                        </a:lnSpc>
                        <a:buNone/>
                      </a:pPr>
                      <a:r>
                        <a:rPr lang="en-US" sz="1196" dirty="0">
                          <a:solidFill>
                            <a:srgbClr val="4A5568"/>
                          </a:solidFill>
                          <a:latin typeface="Public Sans" pitchFamily="34" charset="0"/>
                          <a:ea typeface="Public Sans" pitchFamily="34" charset="-122"/>
                          <a:cs typeface="Public Sans" pitchFamily="34" charset="-120"/>
                        </a:rPr>
                        <a:t>Materials Research Express</a:t>
                      </a:r>
                      <a:endParaRPr lang="en-US" sz="1196" dirty="0">
                        <a:latin typeface="Public Sans" charset="0"/>
                        <a:ea typeface="Public Sans" charset="0"/>
                        <a:cs typeface="Public Sans" charset="0"/>
                      </a:endParaRPr>
                    </a:p>
                  </a:txBody>
                  <a:tcPr marL="53173" marR="53173" marT="53173" marB="53173">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ctr">
                        <a:lnSpc>
                          <a:spcPts val="1675"/>
                        </a:lnSpc>
                        <a:buNone/>
                      </a:pPr>
                      <a:r>
                        <a:rPr lang="en-US" sz="1196" dirty="0">
                          <a:solidFill>
                            <a:srgbClr val="4A5568"/>
                          </a:solidFill>
                          <a:latin typeface="Public Sans" pitchFamily="34" charset="0"/>
                          <a:ea typeface="Public Sans" pitchFamily="34" charset="-122"/>
                          <a:cs typeface="Public Sans" pitchFamily="34" charset="-120"/>
                        </a:rPr>
                        <a:t>Q3</a:t>
                      </a:r>
                      <a:endParaRPr lang="en-US" sz="1196" dirty="0">
                        <a:latin typeface="Public Sans" charset="0"/>
                        <a:ea typeface="Public Sans" charset="0"/>
                        <a:cs typeface="Public Sans" charset="0"/>
                      </a:endParaRPr>
                    </a:p>
                  </a:txBody>
                  <a:tcPr marL="53173" marR="53173" marT="53173" marB="53173">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75"/>
                        </a:lnSpc>
                        <a:buNone/>
                      </a:pPr>
                      <a:r>
                        <a:rPr lang="en-US" sz="1196" dirty="0">
                          <a:solidFill>
                            <a:srgbClr val="4A5568"/>
                          </a:solidFill>
                          <a:latin typeface="Public Sans" pitchFamily="34" charset="0"/>
                          <a:ea typeface="Public Sans" pitchFamily="34" charset="-122"/>
                          <a:cs typeface="Public Sans" pitchFamily="34" charset="-120"/>
                        </a:rPr>
                        <a:t>76</a:t>
                      </a:r>
                      <a:endParaRPr lang="en-US" sz="1196" dirty="0">
                        <a:latin typeface="Public Sans" charset="0"/>
                        <a:ea typeface="Public Sans" charset="0"/>
                        <a:cs typeface="Public Sans" charset="0"/>
                      </a:endParaRPr>
                    </a:p>
                  </a:txBody>
                  <a:tcPr marL="53173" marR="53173" marT="53173" marB="53173">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4"/>
                  </a:ext>
                </a:extLst>
              </a:tr>
              <a:tr h="359251">
                <a:tc>
                  <a:txBody>
                    <a:bodyPr/>
                    <a:lstStyle/>
                    <a:p>
                      <a:pPr marL="0" indent="0">
                        <a:lnSpc>
                          <a:spcPts val="1675"/>
                        </a:lnSpc>
                        <a:buNone/>
                      </a:pPr>
                      <a:r>
                        <a:rPr lang="en-US" sz="1196" dirty="0">
                          <a:solidFill>
                            <a:srgbClr val="4A5568"/>
                          </a:solidFill>
                          <a:latin typeface="Public Sans" pitchFamily="34" charset="0"/>
                          <a:ea typeface="Public Sans" pitchFamily="34" charset="-122"/>
                          <a:cs typeface="Public Sans" pitchFamily="34" charset="-120"/>
                        </a:rPr>
                        <a:t>Journal of Alloys and Compounds</a:t>
                      </a:r>
                      <a:endParaRPr lang="en-US" sz="1196" dirty="0">
                        <a:latin typeface="Public Sans" charset="0"/>
                        <a:ea typeface="Public Sans" charset="0"/>
                        <a:cs typeface="Public Sans" charset="0"/>
                      </a:endParaRPr>
                    </a:p>
                  </a:txBody>
                  <a:tcPr marL="53173" marR="53173" marT="53173" marB="53173">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ctr">
                        <a:lnSpc>
                          <a:spcPts val="1675"/>
                        </a:lnSpc>
                        <a:buNone/>
                      </a:pPr>
                      <a:r>
                        <a:rPr lang="en-US" sz="1196" dirty="0">
                          <a:solidFill>
                            <a:srgbClr val="4A5568"/>
                          </a:solidFill>
                          <a:latin typeface="Public Sans" pitchFamily="34" charset="0"/>
                          <a:ea typeface="Public Sans" pitchFamily="34" charset="-122"/>
                          <a:cs typeface="Public Sans" pitchFamily="34" charset="-120"/>
                        </a:rPr>
                        <a:t>Q1</a:t>
                      </a:r>
                      <a:endParaRPr lang="en-US" sz="1196" dirty="0">
                        <a:latin typeface="Public Sans" charset="0"/>
                        <a:ea typeface="Public Sans" charset="0"/>
                        <a:cs typeface="Public Sans" charset="0"/>
                      </a:endParaRPr>
                    </a:p>
                  </a:txBody>
                  <a:tcPr marL="53173" marR="53173" marT="53173" marB="53173">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75"/>
                        </a:lnSpc>
                        <a:buNone/>
                      </a:pPr>
                      <a:r>
                        <a:rPr lang="en-US" sz="1196" dirty="0">
                          <a:solidFill>
                            <a:srgbClr val="4A5568"/>
                          </a:solidFill>
                          <a:latin typeface="Public Sans" pitchFamily="34" charset="0"/>
                          <a:ea typeface="Public Sans" pitchFamily="34" charset="-122"/>
                          <a:cs typeface="Public Sans" pitchFamily="34" charset="-120"/>
                        </a:rPr>
                        <a:t>49</a:t>
                      </a:r>
                      <a:endParaRPr lang="en-US" sz="1196" dirty="0">
                        <a:latin typeface="Public Sans" charset="0"/>
                        <a:ea typeface="Public Sans" charset="0"/>
                        <a:cs typeface="Public Sans" charset="0"/>
                      </a:endParaRPr>
                    </a:p>
                  </a:txBody>
                  <a:tcPr marL="53173" marR="53173" marT="53173" marB="53173">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4BC4"/>
                </a:solidFill>
                <a:latin typeface="Public Sans" pitchFamily="34" charset="0"/>
                <a:ea typeface="Public Sans" pitchFamily="34" charset="-122"/>
                <a:cs typeface="Public Sans" pitchFamily="34" charset="-120"/>
              </a:rPr>
              <a:t>03 · RESEARCH AREAS</a:t>
            </a:r>
            <a:endParaRPr lang="en-US" sz="1200" dirty="0"/>
          </a:p>
        </p:txBody>
      </p:sp>
      <p:sp>
        <p:nvSpPr>
          <p:cNvPr id="3" name="Text 1"/>
          <p:cNvSpPr>
            <a:spLocks noGrp="1"/>
          </p:cNvSpPr>
          <p:nvPr>
            <p:ph type="title"/>
          </p:nvPr>
        </p:nvSpPr>
        <p:spPr>
          <a:xfrm>
            <a:off x="812800" y="975361"/>
            <a:ext cx="10883392" cy="452120"/>
          </a:xfrm>
          <a:prstGeom prst="rect">
            <a:avLst/>
          </a:prstGeom>
          <a:noFill/>
          <a:ln/>
        </p:spPr>
        <p:txBody>
          <a:bodyPr wrap="square" lIns="0" tIns="0" rIns="0" bIns="0" rtlCol="0" anchor="t">
            <a:normAutofit/>
          </a:bodyPr>
          <a:lstStyle/>
          <a:p>
            <a:pPr marL="0" indent="0" algn="l">
              <a:lnSpc>
                <a:spcPts val="3360"/>
              </a:lnSpc>
              <a:buNone/>
            </a:pPr>
            <a:r>
              <a:rPr lang="en-US" sz="3200" b="1" i="0" kern="0" spc="-50" dirty="0">
                <a:solidFill>
                  <a:srgbClr val="14213D"/>
                </a:solidFill>
                <a:latin typeface="Space Grotesk" pitchFamily="34" charset="0"/>
                <a:ea typeface="Space Grotesk" pitchFamily="34" charset="-122"/>
                <a:cs typeface="Space Grotesk" pitchFamily="34" charset="-120"/>
              </a:rPr>
              <a:t>Engineering leads, and AI is spreading</a:t>
            </a:r>
            <a:endParaRPr lang="en-US" sz="3200" dirty="0"/>
          </a:p>
        </p:txBody>
      </p:sp>
      <p:sp>
        <p:nvSpPr>
          <p:cNvPr id="4" name="Shape 2"/>
          <p:cNvSpPr/>
          <p:nvPr/>
        </p:nvSpPr>
        <p:spPr>
          <a:xfrm>
            <a:off x="815975" y="1583055"/>
            <a:ext cx="6927850" cy="3313430"/>
          </a:xfrm>
          <a:prstGeom prst="roundRect">
            <a:avLst>
              <a:gd name="adj" fmla="val 3737"/>
            </a:avLst>
          </a:prstGeom>
          <a:solidFill>
            <a:srgbClr val="FDFCFA"/>
          </a:solidFill>
          <a:ln w="6350">
            <a:solidFill>
              <a:srgbClr val="E4E1D8"/>
            </a:solidFill>
            <a:prstDash val="solid"/>
          </a:ln>
        </p:spPr>
      </p:sp>
      <p:sp>
        <p:nvSpPr>
          <p:cNvPr id="5" name="Text 3"/>
          <p:cNvSpPr/>
          <p:nvPr/>
        </p:nvSpPr>
        <p:spPr>
          <a:xfrm>
            <a:off x="902462" y="1737361"/>
            <a:ext cx="2328418"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63B8"/>
                </a:solidFill>
                <a:latin typeface="Public Sans" pitchFamily="34" charset="0"/>
                <a:ea typeface="Public Sans" pitchFamily="34" charset="-122"/>
                <a:cs typeface="Public Sans" pitchFamily="34" charset="-120"/>
              </a:rPr>
              <a:t>NIT Trichy</a:t>
            </a:r>
            <a:endParaRPr lang="en-US" sz="1200" dirty="0"/>
          </a:p>
        </p:txBody>
      </p:sp>
      <p:sp>
        <p:nvSpPr>
          <p:cNvPr id="6" name="Text 4"/>
          <p:cNvSpPr/>
          <p:nvPr/>
        </p:nvSpPr>
        <p:spPr>
          <a:xfrm>
            <a:off x="3303905" y="1737361"/>
            <a:ext cx="196215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7280"/>
                </a:solidFill>
                <a:latin typeface="Public Sans" pitchFamily="34" charset="0"/>
                <a:ea typeface="Public Sans" pitchFamily="34" charset="-122"/>
                <a:cs typeface="Public Sans" pitchFamily="34" charset="-120"/>
              </a:rPr>
              <a:t>papers by field</a:t>
            </a:r>
            <a:endParaRPr lang="en-US" sz="1200" dirty="0"/>
          </a:p>
        </p:txBody>
      </p:sp>
      <p:sp>
        <p:nvSpPr>
          <p:cNvPr id="7" name="Text 5"/>
          <p:cNvSpPr/>
          <p:nvPr/>
        </p:nvSpPr>
        <p:spPr>
          <a:xfrm>
            <a:off x="5339080" y="1737361"/>
            <a:ext cx="232841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34A1C"/>
                </a:solidFill>
                <a:latin typeface="Public Sans" pitchFamily="34" charset="0"/>
                <a:ea typeface="Public Sans" pitchFamily="34" charset="-122"/>
                <a:cs typeface="Public Sans" pitchFamily="34" charset="-120"/>
              </a:rPr>
              <a:t>NIT Surathkal</a:t>
            </a:r>
            <a:endParaRPr lang="en-US" sz="1200" dirty="0"/>
          </a:p>
        </p:txBody>
      </p:sp>
      <p:sp>
        <p:nvSpPr>
          <p:cNvPr id="8" name="Text 6"/>
          <p:cNvSpPr/>
          <p:nvPr/>
        </p:nvSpPr>
        <p:spPr>
          <a:xfrm>
            <a:off x="1069340" y="2039620"/>
            <a:ext cx="5359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4,524</a:t>
            </a:r>
            <a:endParaRPr lang="en-US" sz="1200" dirty="0"/>
          </a:p>
        </p:txBody>
      </p:sp>
      <p:sp>
        <p:nvSpPr>
          <p:cNvPr id="9" name="Shape 7"/>
          <p:cNvSpPr/>
          <p:nvPr/>
        </p:nvSpPr>
        <p:spPr>
          <a:xfrm>
            <a:off x="1605280" y="2057400"/>
            <a:ext cx="1625600" cy="177800"/>
          </a:xfrm>
          <a:custGeom>
            <a:avLst/>
            <a:gdLst/>
            <a:ahLst/>
            <a:cxnLst/>
            <a:rect l="l" t="t" r="r" b="b"/>
            <a:pathLst>
              <a:path w="1625600" h="177800">
                <a:moveTo>
                  <a:pt x="25400" y="0"/>
                </a:moveTo>
                <a:lnTo>
                  <a:pt x="1625600" y="0"/>
                </a:lnTo>
                <a:lnTo>
                  <a:pt x="1625600" y="177800"/>
                </a:lnTo>
                <a:lnTo>
                  <a:pt x="25400" y="177800"/>
                </a:lnTo>
                <a:arcTo wR="25400" hR="25400" stAng="5400000" swAng="5400000"/>
                <a:lnTo>
                  <a:pt x="0" y="25400"/>
                </a:lnTo>
                <a:arcTo wR="25400" hR="25400" stAng="10800000" swAng="5400000"/>
                <a:close/>
              </a:path>
            </a:pathLst>
          </a:custGeom>
          <a:solidFill>
            <a:srgbClr val="2A78D6"/>
          </a:solidFill>
          <a:ln/>
        </p:spPr>
      </p:sp>
      <p:sp>
        <p:nvSpPr>
          <p:cNvPr id="10" name="Text 8"/>
          <p:cNvSpPr/>
          <p:nvPr/>
        </p:nvSpPr>
        <p:spPr>
          <a:xfrm>
            <a:off x="3303905" y="2039620"/>
            <a:ext cx="1962150"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213D"/>
                </a:solidFill>
                <a:latin typeface="Public Sans" pitchFamily="34" charset="0"/>
                <a:ea typeface="Public Sans" pitchFamily="34" charset="-122"/>
                <a:cs typeface="Public Sans" pitchFamily="34" charset="-120"/>
              </a:rPr>
              <a:t>Engineering</a:t>
            </a:r>
            <a:endParaRPr lang="en-US" sz="1200" dirty="0"/>
          </a:p>
        </p:txBody>
      </p:sp>
      <p:sp>
        <p:nvSpPr>
          <p:cNvPr id="11" name="Shape 9"/>
          <p:cNvSpPr/>
          <p:nvPr/>
        </p:nvSpPr>
        <p:spPr>
          <a:xfrm>
            <a:off x="5339080" y="2057400"/>
            <a:ext cx="1625600" cy="177800"/>
          </a:xfrm>
          <a:custGeom>
            <a:avLst/>
            <a:gdLst/>
            <a:ahLst/>
            <a:cxnLst/>
            <a:rect l="l" t="t" r="r" b="b"/>
            <a:pathLst>
              <a:path w="1625600" h="177800">
                <a:moveTo>
                  <a:pt x="0" y="0"/>
                </a:moveTo>
                <a:lnTo>
                  <a:pt x="1600200" y="0"/>
                </a:lnTo>
                <a:arcTo wR="25400" hR="25400" stAng="16200000" swAng="5400000"/>
                <a:lnTo>
                  <a:pt x="1625600" y="152400"/>
                </a:lnTo>
                <a:arcTo wR="25400" hR="25400" stAng="0" swAng="5400000"/>
                <a:lnTo>
                  <a:pt x="0" y="177800"/>
                </a:lnTo>
                <a:lnTo>
                  <a:pt x="0" y="0"/>
                </a:lnTo>
                <a:close/>
              </a:path>
            </a:pathLst>
          </a:custGeom>
          <a:solidFill>
            <a:srgbClr val="EB6834"/>
          </a:solidFill>
          <a:ln/>
        </p:spPr>
      </p:sp>
      <p:sp>
        <p:nvSpPr>
          <p:cNvPr id="12" name="Text 10"/>
          <p:cNvSpPr/>
          <p:nvPr/>
        </p:nvSpPr>
        <p:spPr>
          <a:xfrm>
            <a:off x="7028180" y="2039620"/>
            <a:ext cx="56692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4,526</a:t>
            </a:r>
            <a:endParaRPr lang="en-US" sz="1200" dirty="0"/>
          </a:p>
        </p:txBody>
      </p:sp>
      <p:sp>
        <p:nvSpPr>
          <p:cNvPr id="13" name="Text 11"/>
          <p:cNvSpPr/>
          <p:nvPr/>
        </p:nvSpPr>
        <p:spPr>
          <a:xfrm>
            <a:off x="2174240" y="2341880"/>
            <a:ext cx="5359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1,444</a:t>
            </a:r>
            <a:endParaRPr lang="en-US" sz="1200" dirty="0"/>
          </a:p>
        </p:txBody>
      </p:sp>
      <p:sp>
        <p:nvSpPr>
          <p:cNvPr id="14" name="Shape 12"/>
          <p:cNvSpPr/>
          <p:nvPr/>
        </p:nvSpPr>
        <p:spPr>
          <a:xfrm>
            <a:off x="2710180" y="2359661"/>
            <a:ext cx="520700" cy="177800"/>
          </a:xfrm>
          <a:custGeom>
            <a:avLst/>
            <a:gdLst/>
            <a:ahLst/>
            <a:cxnLst/>
            <a:rect l="l" t="t" r="r" b="b"/>
            <a:pathLst>
              <a:path w="520700" h="177800">
                <a:moveTo>
                  <a:pt x="25400" y="0"/>
                </a:moveTo>
                <a:lnTo>
                  <a:pt x="520700" y="0"/>
                </a:lnTo>
                <a:lnTo>
                  <a:pt x="520700" y="177800"/>
                </a:lnTo>
                <a:lnTo>
                  <a:pt x="25400" y="177800"/>
                </a:lnTo>
                <a:arcTo wR="25400" hR="25400" stAng="5400000" swAng="5400000"/>
                <a:lnTo>
                  <a:pt x="0" y="25400"/>
                </a:lnTo>
                <a:arcTo wR="25400" hR="25400" stAng="10800000" swAng="5400000"/>
                <a:close/>
              </a:path>
            </a:pathLst>
          </a:custGeom>
          <a:solidFill>
            <a:srgbClr val="2A78D6"/>
          </a:solidFill>
          <a:ln/>
        </p:spPr>
      </p:sp>
      <p:sp>
        <p:nvSpPr>
          <p:cNvPr id="15" name="Text 13"/>
          <p:cNvSpPr/>
          <p:nvPr/>
        </p:nvSpPr>
        <p:spPr>
          <a:xfrm>
            <a:off x="3303905" y="2341880"/>
            <a:ext cx="1962150"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213D"/>
                </a:solidFill>
                <a:latin typeface="Public Sans" pitchFamily="34" charset="0"/>
                <a:ea typeface="Public Sans" pitchFamily="34" charset="-122"/>
                <a:cs typeface="Public Sans" pitchFamily="34" charset="-120"/>
              </a:rPr>
              <a:t>Computer Science</a:t>
            </a:r>
            <a:endParaRPr lang="en-US" sz="1200" dirty="0"/>
          </a:p>
        </p:txBody>
      </p:sp>
      <p:sp>
        <p:nvSpPr>
          <p:cNvPr id="16" name="Shape 14"/>
          <p:cNvSpPr/>
          <p:nvPr/>
        </p:nvSpPr>
        <p:spPr>
          <a:xfrm>
            <a:off x="5339080" y="2359661"/>
            <a:ext cx="590550" cy="177800"/>
          </a:xfrm>
          <a:custGeom>
            <a:avLst/>
            <a:gdLst/>
            <a:ahLst/>
            <a:cxnLst/>
            <a:rect l="l" t="t" r="r" b="b"/>
            <a:pathLst>
              <a:path w="590550" h="177800">
                <a:moveTo>
                  <a:pt x="0" y="0"/>
                </a:moveTo>
                <a:lnTo>
                  <a:pt x="565150" y="0"/>
                </a:lnTo>
                <a:arcTo wR="25400" hR="25400" stAng="16200000" swAng="5400000"/>
                <a:lnTo>
                  <a:pt x="590550" y="152400"/>
                </a:lnTo>
                <a:arcTo wR="25400" hR="25400" stAng="0" swAng="5400000"/>
                <a:lnTo>
                  <a:pt x="0" y="177800"/>
                </a:lnTo>
                <a:lnTo>
                  <a:pt x="0" y="0"/>
                </a:lnTo>
                <a:close/>
              </a:path>
            </a:pathLst>
          </a:custGeom>
          <a:solidFill>
            <a:srgbClr val="EB6834"/>
          </a:solidFill>
          <a:ln/>
        </p:spPr>
      </p:sp>
      <p:sp>
        <p:nvSpPr>
          <p:cNvPr id="17" name="Text 15"/>
          <p:cNvSpPr/>
          <p:nvPr/>
        </p:nvSpPr>
        <p:spPr>
          <a:xfrm>
            <a:off x="5993130" y="2341880"/>
            <a:ext cx="56692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1,639</a:t>
            </a:r>
            <a:endParaRPr lang="en-US" sz="1200" dirty="0"/>
          </a:p>
        </p:txBody>
      </p:sp>
      <p:sp>
        <p:nvSpPr>
          <p:cNvPr id="18" name="Text 16"/>
          <p:cNvSpPr/>
          <p:nvPr/>
        </p:nvSpPr>
        <p:spPr>
          <a:xfrm>
            <a:off x="2326640" y="2644141"/>
            <a:ext cx="5359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1,023</a:t>
            </a:r>
            <a:endParaRPr lang="en-US" sz="1200" dirty="0"/>
          </a:p>
        </p:txBody>
      </p:sp>
      <p:sp>
        <p:nvSpPr>
          <p:cNvPr id="19" name="Shape 17"/>
          <p:cNvSpPr/>
          <p:nvPr/>
        </p:nvSpPr>
        <p:spPr>
          <a:xfrm>
            <a:off x="2862580" y="2661920"/>
            <a:ext cx="368300" cy="177800"/>
          </a:xfrm>
          <a:custGeom>
            <a:avLst/>
            <a:gdLst/>
            <a:ahLst/>
            <a:cxnLst/>
            <a:rect l="l" t="t" r="r" b="b"/>
            <a:pathLst>
              <a:path w="368300" h="177800">
                <a:moveTo>
                  <a:pt x="25400" y="0"/>
                </a:moveTo>
                <a:lnTo>
                  <a:pt x="368300" y="0"/>
                </a:lnTo>
                <a:lnTo>
                  <a:pt x="368300" y="177800"/>
                </a:lnTo>
                <a:lnTo>
                  <a:pt x="25400" y="177800"/>
                </a:lnTo>
                <a:arcTo wR="25400" hR="25400" stAng="5400000" swAng="5400000"/>
                <a:lnTo>
                  <a:pt x="0" y="25400"/>
                </a:lnTo>
                <a:arcTo wR="25400" hR="25400" stAng="10800000" swAng="5400000"/>
                <a:close/>
              </a:path>
            </a:pathLst>
          </a:custGeom>
          <a:solidFill>
            <a:srgbClr val="2A78D6"/>
          </a:solidFill>
          <a:ln/>
        </p:spPr>
      </p:sp>
      <p:sp>
        <p:nvSpPr>
          <p:cNvPr id="20" name="Text 18"/>
          <p:cNvSpPr/>
          <p:nvPr/>
        </p:nvSpPr>
        <p:spPr>
          <a:xfrm>
            <a:off x="3303905" y="2644141"/>
            <a:ext cx="1962150"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213D"/>
                </a:solidFill>
                <a:latin typeface="Public Sans" pitchFamily="34" charset="0"/>
                <a:ea typeface="Public Sans" pitchFamily="34" charset="-122"/>
                <a:cs typeface="Public Sans" pitchFamily="34" charset="-120"/>
              </a:rPr>
              <a:t>Materials Science</a:t>
            </a:r>
            <a:endParaRPr lang="en-US" sz="1200" dirty="0"/>
          </a:p>
        </p:txBody>
      </p:sp>
      <p:sp>
        <p:nvSpPr>
          <p:cNvPr id="21" name="Shape 19"/>
          <p:cNvSpPr/>
          <p:nvPr/>
        </p:nvSpPr>
        <p:spPr>
          <a:xfrm>
            <a:off x="5339080" y="2661920"/>
            <a:ext cx="304800" cy="177800"/>
          </a:xfrm>
          <a:custGeom>
            <a:avLst/>
            <a:gdLst/>
            <a:ahLst/>
            <a:cxnLst/>
            <a:rect l="l" t="t" r="r" b="b"/>
            <a:pathLst>
              <a:path w="304800" h="177800">
                <a:moveTo>
                  <a:pt x="0" y="0"/>
                </a:moveTo>
                <a:lnTo>
                  <a:pt x="279400" y="0"/>
                </a:lnTo>
                <a:arcTo wR="25400" hR="25400" stAng="16200000" swAng="5400000"/>
                <a:lnTo>
                  <a:pt x="304800" y="152400"/>
                </a:lnTo>
                <a:arcTo wR="25400" hR="25400" stAng="0" swAng="5400000"/>
                <a:lnTo>
                  <a:pt x="0" y="177800"/>
                </a:lnTo>
                <a:lnTo>
                  <a:pt x="0" y="0"/>
                </a:lnTo>
                <a:close/>
              </a:path>
            </a:pathLst>
          </a:custGeom>
          <a:solidFill>
            <a:srgbClr val="EB6834"/>
          </a:solidFill>
          <a:ln/>
        </p:spPr>
      </p:sp>
      <p:sp>
        <p:nvSpPr>
          <p:cNvPr id="22" name="Text 20"/>
          <p:cNvSpPr/>
          <p:nvPr/>
        </p:nvSpPr>
        <p:spPr>
          <a:xfrm>
            <a:off x="5707380" y="2644141"/>
            <a:ext cx="38404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854</a:t>
            </a:r>
            <a:endParaRPr lang="en-US" sz="1200" dirty="0"/>
          </a:p>
        </p:txBody>
      </p:sp>
      <p:sp>
        <p:nvSpPr>
          <p:cNvPr id="23" name="Text 21"/>
          <p:cNvSpPr/>
          <p:nvPr/>
        </p:nvSpPr>
        <p:spPr>
          <a:xfrm>
            <a:off x="2663190" y="2946400"/>
            <a:ext cx="3835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514</a:t>
            </a:r>
            <a:endParaRPr lang="en-US" sz="1200" dirty="0"/>
          </a:p>
        </p:txBody>
      </p:sp>
      <p:sp>
        <p:nvSpPr>
          <p:cNvPr id="24" name="Shape 22"/>
          <p:cNvSpPr/>
          <p:nvPr/>
        </p:nvSpPr>
        <p:spPr>
          <a:xfrm>
            <a:off x="3046730" y="2964180"/>
            <a:ext cx="184150" cy="177800"/>
          </a:xfrm>
          <a:custGeom>
            <a:avLst/>
            <a:gdLst/>
            <a:ahLst/>
            <a:cxnLst/>
            <a:rect l="l" t="t" r="r" b="b"/>
            <a:pathLst>
              <a:path w="184150" h="177800">
                <a:moveTo>
                  <a:pt x="25400" y="0"/>
                </a:moveTo>
                <a:lnTo>
                  <a:pt x="184150" y="0"/>
                </a:lnTo>
                <a:lnTo>
                  <a:pt x="184150" y="177800"/>
                </a:lnTo>
                <a:lnTo>
                  <a:pt x="25400" y="177800"/>
                </a:lnTo>
                <a:arcTo wR="25400" hR="25400" stAng="5400000" swAng="5400000"/>
                <a:lnTo>
                  <a:pt x="0" y="25400"/>
                </a:lnTo>
                <a:arcTo wR="25400" hR="25400" stAng="10800000" swAng="5400000"/>
                <a:close/>
              </a:path>
            </a:pathLst>
          </a:custGeom>
          <a:solidFill>
            <a:srgbClr val="2A78D6"/>
          </a:solidFill>
          <a:ln/>
        </p:spPr>
      </p:sp>
      <p:sp>
        <p:nvSpPr>
          <p:cNvPr id="25" name="Text 23"/>
          <p:cNvSpPr/>
          <p:nvPr/>
        </p:nvSpPr>
        <p:spPr>
          <a:xfrm>
            <a:off x="3303905" y="2946400"/>
            <a:ext cx="1962150"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213D"/>
                </a:solidFill>
                <a:latin typeface="Public Sans" pitchFamily="34" charset="0"/>
                <a:ea typeface="Public Sans" pitchFamily="34" charset="-122"/>
                <a:cs typeface="Public Sans" pitchFamily="34" charset="-120"/>
              </a:rPr>
              <a:t>Environmental Science</a:t>
            </a:r>
            <a:endParaRPr lang="en-US" sz="1200" dirty="0"/>
          </a:p>
        </p:txBody>
      </p:sp>
      <p:sp>
        <p:nvSpPr>
          <p:cNvPr id="26" name="Shape 24"/>
          <p:cNvSpPr/>
          <p:nvPr/>
        </p:nvSpPr>
        <p:spPr>
          <a:xfrm>
            <a:off x="5339080" y="2964180"/>
            <a:ext cx="209550" cy="177800"/>
          </a:xfrm>
          <a:custGeom>
            <a:avLst/>
            <a:gdLst/>
            <a:ahLst/>
            <a:cxnLst/>
            <a:rect l="l" t="t" r="r" b="b"/>
            <a:pathLst>
              <a:path w="209550" h="177800">
                <a:moveTo>
                  <a:pt x="0" y="0"/>
                </a:moveTo>
                <a:lnTo>
                  <a:pt x="184150" y="0"/>
                </a:lnTo>
                <a:arcTo wR="25400" hR="25400" stAng="16200000" swAng="5400000"/>
                <a:lnTo>
                  <a:pt x="209550" y="152400"/>
                </a:lnTo>
                <a:arcTo wR="25400" hR="25400" stAng="0" swAng="5400000"/>
                <a:lnTo>
                  <a:pt x="0" y="177800"/>
                </a:lnTo>
                <a:lnTo>
                  <a:pt x="0" y="0"/>
                </a:lnTo>
                <a:close/>
              </a:path>
            </a:pathLst>
          </a:custGeom>
          <a:solidFill>
            <a:srgbClr val="EB6834"/>
          </a:solidFill>
          <a:ln/>
        </p:spPr>
      </p:sp>
      <p:sp>
        <p:nvSpPr>
          <p:cNvPr id="27" name="Text 25"/>
          <p:cNvSpPr/>
          <p:nvPr/>
        </p:nvSpPr>
        <p:spPr>
          <a:xfrm>
            <a:off x="5612130" y="2946400"/>
            <a:ext cx="38404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585</a:t>
            </a:r>
            <a:endParaRPr lang="en-US" sz="1200" dirty="0"/>
          </a:p>
        </p:txBody>
      </p:sp>
      <p:sp>
        <p:nvSpPr>
          <p:cNvPr id="28" name="Text 26"/>
          <p:cNvSpPr/>
          <p:nvPr/>
        </p:nvSpPr>
        <p:spPr>
          <a:xfrm>
            <a:off x="2682240" y="3248661"/>
            <a:ext cx="3835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454</a:t>
            </a:r>
            <a:endParaRPr lang="en-US" sz="1200" dirty="0"/>
          </a:p>
        </p:txBody>
      </p:sp>
      <p:sp>
        <p:nvSpPr>
          <p:cNvPr id="29" name="Shape 27"/>
          <p:cNvSpPr/>
          <p:nvPr/>
        </p:nvSpPr>
        <p:spPr>
          <a:xfrm>
            <a:off x="3065780" y="3266441"/>
            <a:ext cx="165100" cy="177800"/>
          </a:xfrm>
          <a:custGeom>
            <a:avLst/>
            <a:gdLst/>
            <a:ahLst/>
            <a:cxnLst/>
            <a:rect l="l" t="t" r="r" b="b"/>
            <a:pathLst>
              <a:path w="165100" h="177800">
                <a:moveTo>
                  <a:pt x="25400" y="0"/>
                </a:moveTo>
                <a:lnTo>
                  <a:pt x="165100" y="0"/>
                </a:lnTo>
                <a:lnTo>
                  <a:pt x="165100" y="177800"/>
                </a:lnTo>
                <a:lnTo>
                  <a:pt x="25400" y="177800"/>
                </a:lnTo>
                <a:arcTo wR="25400" hR="25400" stAng="5400000" swAng="5400000"/>
                <a:lnTo>
                  <a:pt x="0" y="25400"/>
                </a:lnTo>
                <a:arcTo wR="25400" hR="25400" stAng="10800000" swAng="5400000"/>
                <a:close/>
              </a:path>
            </a:pathLst>
          </a:custGeom>
          <a:solidFill>
            <a:srgbClr val="2A78D6"/>
          </a:solidFill>
          <a:ln/>
        </p:spPr>
      </p:sp>
      <p:sp>
        <p:nvSpPr>
          <p:cNvPr id="30" name="Text 28"/>
          <p:cNvSpPr/>
          <p:nvPr/>
        </p:nvSpPr>
        <p:spPr>
          <a:xfrm>
            <a:off x="3303905" y="3248661"/>
            <a:ext cx="1962150"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213D"/>
                </a:solidFill>
                <a:latin typeface="Public Sans" pitchFamily="34" charset="0"/>
                <a:ea typeface="Public Sans" pitchFamily="34" charset="-122"/>
                <a:cs typeface="Public Sans" pitchFamily="34" charset="-120"/>
              </a:rPr>
              <a:t>Energy</a:t>
            </a:r>
            <a:endParaRPr lang="en-US" sz="1200" dirty="0"/>
          </a:p>
        </p:txBody>
      </p:sp>
      <p:sp>
        <p:nvSpPr>
          <p:cNvPr id="31" name="Shape 29"/>
          <p:cNvSpPr/>
          <p:nvPr/>
        </p:nvSpPr>
        <p:spPr>
          <a:xfrm>
            <a:off x="5339080" y="3266441"/>
            <a:ext cx="95250" cy="177800"/>
          </a:xfrm>
          <a:custGeom>
            <a:avLst/>
            <a:gdLst/>
            <a:ahLst/>
            <a:cxnLst/>
            <a:rect l="l" t="t" r="r" b="b"/>
            <a:pathLst>
              <a:path w="95250" h="177800">
                <a:moveTo>
                  <a:pt x="0" y="0"/>
                </a:moveTo>
                <a:lnTo>
                  <a:pt x="69850" y="0"/>
                </a:lnTo>
                <a:arcTo wR="25400" hR="25400" stAng="16200000" swAng="5400000"/>
                <a:lnTo>
                  <a:pt x="95250" y="152400"/>
                </a:lnTo>
                <a:arcTo wR="25400" hR="25400" stAng="0" swAng="5400000"/>
                <a:lnTo>
                  <a:pt x="0" y="177800"/>
                </a:lnTo>
                <a:lnTo>
                  <a:pt x="0" y="0"/>
                </a:lnTo>
                <a:close/>
              </a:path>
            </a:pathLst>
          </a:custGeom>
          <a:solidFill>
            <a:srgbClr val="EB6834"/>
          </a:solidFill>
          <a:ln/>
        </p:spPr>
      </p:sp>
      <p:sp>
        <p:nvSpPr>
          <p:cNvPr id="32" name="Text 30"/>
          <p:cNvSpPr/>
          <p:nvPr/>
        </p:nvSpPr>
        <p:spPr>
          <a:xfrm>
            <a:off x="5497830" y="3248661"/>
            <a:ext cx="38404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274</a:t>
            </a:r>
            <a:endParaRPr lang="en-US" sz="1200" dirty="0"/>
          </a:p>
        </p:txBody>
      </p:sp>
      <p:sp>
        <p:nvSpPr>
          <p:cNvPr id="33" name="Text 31"/>
          <p:cNvSpPr/>
          <p:nvPr/>
        </p:nvSpPr>
        <p:spPr>
          <a:xfrm>
            <a:off x="2790190" y="3550920"/>
            <a:ext cx="3835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156</a:t>
            </a:r>
            <a:endParaRPr lang="en-US" sz="1200" dirty="0"/>
          </a:p>
        </p:txBody>
      </p:sp>
      <p:sp>
        <p:nvSpPr>
          <p:cNvPr id="34" name="Shape 32"/>
          <p:cNvSpPr/>
          <p:nvPr/>
        </p:nvSpPr>
        <p:spPr>
          <a:xfrm>
            <a:off x="3173730" y="3568700"/>
            <a:ext cx="57150" cy="177800"/>
          </a:xfrm>
          <a:custGeom>
            <a:avLst/>
            <a:gdLst/>
            <a:ahLst/>
            <a:cxnLst/>
            <a:rect l="l" t="t" r="r" b="b"/>
            <a:pathLst>
              <a:path w="57150" h="177800">
                <a:moveTo>
                  <a:pt x="25400" y="0"/>
                </a:moveTo>
                <a:lnTo>
                  <a:pt x="57150" y="0"/>
                </a:lnTo>
                <a:lnTo>
                  <a:pt x="57150" y="177800"/>
                </a:lnTo>
                <a:lnTo>
                  <a:pt x="25400" y="177800"/>
                </a:lnTo>
                <a:arcTo wR="25400" hR="25400" stAng="5400000" swAng="5400000"/>
                <a:lnTo>
                  <a:pt x="0" y="25400"/>
                </a:lnTo>
                <a:arcTo wR="25400" hR="25400" stAng="10800000" swAng="5400000"/>
                <a:close/>
              </a:path>
            </a:pathLst>
          </a:custGeom>
          <a:solidFill>
            <a:srgbClr val="2A78D6"/>
          </a:solidFill>
          <a:ln/>
        </p:spPr>
      </p:sp>
      <p:sp>
        <p:nvSpPr>
          <p:cNvPr id="35" name="Text 33"/>
          <p:cNvSpPr/>
          <p:nvPr/>
        </p:nvSpPr>
        <p:spPr>
          <a:xfrm>
            <a:off x="3303905" y="3550920"/>
            <a:ext cx="1962150"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213D"/>
                </a:solidFill>
                <a:latin typeface="Public Sans" pitchFamily="34" charset="0"/>
                <a:ea typeface="Public Sans" pitchFamily="34" charset="-122"/>
                <a:cs typeface="Public Sans" pitchFamily="34" charset="-120"/>
              </a:rPr>
              <a:t>Mathematics</a:t>
            </a:r>
            <a:endParaRPr lang="en-US" sz="1200" dirty="0"/>
          </a:p>
        </p:txBody>
      </p:sp>
      <p:sp>
        <p:nvSpPr>
          <p:cNvPr id="36" name="Shape 34"/>
          <p:cNvSpPr/>
          <p:nvPr/>
        </p:nvSpPr>
        <p:spPr>
          <a:xfrm>
            <a:off x="5339080" y="3568700"/>
            <a:ext cx="114300" cy="177800"/>
          </a:xfrm>
          <a:custGeom>
            <a:avLst/>
            <a:gdLst/>
            <a:ahLst/>
            <a:cxnLst/>
            <a:rect l="l" t="t" r="r" b="b"/>
            <a:pathLst>
              <a:path w="114300" h="177800">
                <a:moveTo>
                  <a:pt x="0" y="0"/>
                </a:moveTo>
                <a:lnTo>
                  <a:pt x="88900" y="0"/>
                </a:lnTo>
                <a:arcTo wR="25400" hR="25400" stAng="16200000" swAng="5400000"/>
                <a:lnTo>
                  <a:pt x="114300" y="152400"/>
                </a:lnTo>
                <a:arcTo wR="25400" hR="25400" stAng="0" swAng="5400000"/>
                <a:lnTo>
                  <a:pt x="0" y="177800"/>
                </a:lnTo>
                <a:lnTo>
                  <a:pt x="0" y="0"/>
                </a:lnTo>
                <a:close/>
              </a:path>
            </a:pathLst>
          </a:custGeom>
          <a:solidFill>
            <a:srgbClr val="EB6834"/>
          </a:solidFill>
          <a:ln/>
        </p:spPr>
      </p:sp>
      <p:sp>
        <p:nvSpPr>
          <p:cNvPr id="37" name="Text 35"/>
          <p:cNvSpPr/>
          <p:nvPr/>
        </p:nvSpPr>
        <p:spPr>
          <a:xfrm>
            <a:off x="5516880" y="3550920"/>
            <a:ext cx="38404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316</a:t>
            </a:r>
            <a:endParaRPr lang="en-US" sz="1200" dirty="0"/>
          </a:p>
        </p:txBody>
      </p:sp>
      <p:sp>
        <p:nvSpPr>
          <p:cNvPr id="38" name="Text 36"/>
          <p:cNvSpPr/>
          <p:nvPr/>
        </p:nvSpPr>
        <p:spPr>
          <a:xfrm>
            <a:off x="2752090" y="3853180"/>
            <a:ext cx="3835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264</a:t>
            </a:r>
            <a:endParaRPr lang="en-US" sz="1200" dirty="0"/>
          </a:p>
        </p:txBody>
      </p:sp>
      <p:sp>
        <p:nvSpPr>
          <p:cNvPr id="39" name="Shape 37"/>
          <p:cNvSpPr/>
          <p:nvPr/>
        </p:nvSpPr>
        <p:spPr>
          <a:xfrm>
            <a:off x="3135630" y="3870961"/>
            <a:ext cx="95250" cy="177800"/>
          </a:xfrm>
          <a:custGeom>
            <a:avLst/>
            <a:gdLst/>
            <a:ahLst/>
            <a:cxnLst/>
            <a:rect l="l" t="t" r="r" b="b"/>
            <a:pathLst>
              <a:path w="95250" h="177800">
                <a:moveTo>
                  <a:pt x="25400" y="0"/>
                </a:moveTo>
                <a:lnTo>
                  <a:pt x="95250" y="0"/>
                </a:lnTo>
                <a:lnTo>
                  <a:pt x="95250" y="177800"/>
                </a:lnTo>
                <a:lnTo>
                  <a:pt x="25400" y="177800"/>
                </a:lnTo>
                <a:arcTo wR="25400" hR="25400" stAng="5400000" swAng="5400000"/>
                <a:lnTo>
                  <a:pt x="0" y="25400"/>
                </a:lnTo>
                <a:arcTo wR="25400" hR="25400" stAng="10800000" swAng="5400000"/>
                <a:close/>
              </a:path>
            </a:pathLst>
          </a:custGeom>
          <a:solidFill>
            <a:srgbClr val="2A78D6"/>
          </a:solidFill>
          <a:ln/>
        </p:spPr>
      </p:sp>
      <p:sp>
        <p:nvSpPr>
          <p:cNvPr id="40" name="Text 38"/>
          <p:cNvSpPr/>
          <p:nvPr/>
        </p:nvSpPr>
        <p:spPr>
          <a:xfrm>
            <a:off x="3303905" y="3853180"/>
            <a:ext cx="1962150"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213D"/>
                </a:solidFill>
                <a:latin typeface="Public Sans" pitchFamily="34" charset="0"/>
                <a:ea typeface="Public Sans" pitchFamily="34" charset="-122"/>
                <a:cs typeface="Public Sans" pitchFamily="34" charset="-120"/>
              </a:rPr>
              <a:t>Chemistry</a:t>
            </a:r>
            <a:endParaRPr lang="en-US" sz="1200" dirty="0"/>
          </a:p>
        </p:txBody>
      </p:sp>
      <p:sp>
        <p:nvSpPr>
          <p:cNvPr id="41" name="Shape 39"/>
          <p:cNvSpPr/>
          <p:nvPr/>
        </p:nvSpPr>
        <p:spPr>
          <a:xfrm>
            <a:off x="5339080" y="3870961"/>
            <a:ext cx="63500" cy="177800"/>
          </a:xfrm>
          <a:custGeom>
            <a:avLst/>
            <a:gdLst/>
            <a:ahLst/>
            <a:cxnLst/>
            <a:rect l="l" t="t" r="r" b="b"/>
            <a:pathLst>
              <a:path w="63500" h="177800">
                <a:moveTo>
                  <a:pt x="0" y="0"/>
                </a:moveTo>
                <a:lnTo>
                  <a:pt x="38100" y="0"/>
                </a:lnTo>
                <a:arcTo wR="25400" hR="25400" stAng="16200000" swAng="5400000"/>
                <a:lnTo>
                  <a:pt x="63500" y="152400"/>
                </a:lnTo>
                <a:arcTo wR="25400" hR="25400" stAng="0" swAng="5400000"/>
                <a:lnTo>
                  <a:pt x="0" y="177800"/>
                </a:lnTo>
                <a:lnTo>
                  <a:pt x="0" y="0"/>
                </a:lnTo>
                <a:close/>
              </a:path>
            </a:pathLst>
          </a:custGeom>
          <a:solidFill>
            <a:srgbClr val="EB6834"/>
          </a:solidFill>
          <a:ln/>
        </p:spPr>
      </p:sp>
      <p:sp>
        <p:nvSpPr>
          <p:cNvPr id="42" name="Text 40"/>
          <p:cNvSpPr/>
          <p:nvPr/>
        </p:nvSpPr>
        <p:spPr>
          <a:xfrm>
            <a:off x="5466080" y="3853180"/>
            <a:ext cx="38404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170</a:t>
            </a:r>
            <a:endParaRPr lang="en-US" sz="1200" dirty="0"/>
          </a:p>
        </p:txBody>
      </p:sp>
      <p:sp>
        <p:nvSpPr>
          <p:cNvPr id="43" name="Text 41"/>
          <p:cNvSpPr/>
          <p:nvPr/>
        </p:nvSpPr>
        <p:spPr>
          <a:xfrm>
            <a:off x="2758440" y="4155441"/>
            <a:ext cx="3835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249</a:t>
            </a:r>
            <a:endParaRPr lang="en-US" sz="1200" dirty="0"/>
          </a:p>
        </p:txBody>
      </p:sp>
      <p:sp>
        <p:nvSpPr>
          <p:cNvPr id="44" name="Shape 42"/>
          <p:cNvSpPr/>
          <p:nvPr/>
        </p:nvSpPr>
        <p:spPr>
          <a:xfrm>
            <a:off x="3141980" y="4173220"/>
            <a:ext cx="88900" cy="177800"/>
          </a:xfrm>
          <a:custGeom>
            <a:avLst/>
            <a:gdLst/>
            <a:ahLst/>
            <a:cxnLst/>
            <a:rect l="l" t="t" r="r" b="b"/>
            <a:pathLst>
              <a:path w="88900" h="177800">
                <a:moveTo>
                  <a:pt x="25400" y="0"/>
                </a:moveTo>
                <a:lnTo>
                  <a:pt x="88900" y="0"/>
                </a:lnTo>
                <a:lnTo>
                  <a:pt x="88900" y="177800"/>
                </a:lnTo>
                <a:lnTo>
                  <a:pt x="25400" y="177800"/>
                </a:lnTo>
                <a:arcTo wR="25400" hR="25400" stAng="5400000" swAng="5400000"/>
                <a:lnTo>
                  <a:pt x="0" y="25400"/>
                </a:lnTo>
                <a:arcTo wR="25400" hR="25400" stAng="10800000" swAng="5400000"/>
                <a:close/>
              </a:path>
            </a:pathLst>
          </a:custGeom>
          <a:solidFill>
            <a:srgbClr val="2A78D6"/>
          </a:solidFill>
          <a:ln/>
        </p:spPr>
      </p:sp>
      <p:sp>
        <p:nvSpPr>
          <p:cNvPr id="45" name="Text 43"/>
          <p:cNvSpPr/>
          <p:nvPr/>
        </p:nvSpPr>
        <p:spPr>
          <a:xfrm>
            <a:off x="3303905" y="4155441"/>
            <a:ext cx="1962150"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213D"/>
                </a:solidFill>
                <a:latin typeface="Public Sans" pitchFamily="34" charset="0"/>
                <a:ea typeface="Public Sans" pitchFamily="34" charset="-122"/>
                <a:cs typeface="Public Sans" pitchFamily="34" charset="-120"/>
              </a:rPr>
              <a:t>Medicine</a:t>
            </a:r>
            <a:endParaRPr lang="en-US" sz="1200" dirty="0"/>
          </a:p>
        </p:txBody>
      </p:sp>
      <p:sp>
        <p:nvSpPr>
          <p:cNvPr id="46" name="Shape 44"/>
          <p:cNvSpPr/>
          <p:nvPr/>
        </p:nvSpPr>
        <p:spPr>
          <a:xfrm>
            <a:off x="5339080" y="4173220"/>
            <a:ext cx="50800" cy="177800"/>
          </a:xfrm>
          <a:custGeom>
            <a:avLst/>
            <a:gdLst/>
            <a:ahLst/>
            <a:cxnLst/>
            <a:rect l="l" t="t" r="r" b="b"/>
            <a:pathLst>
              <a:path w="50800" h="177800">
                <a:moveTo>
                  <a:pt x="0" y="0"/>
                </a:moveTo>
                <a:lnTo>
                  <a:pt x="25400" y="0"/>
                </a:lnTo>
                <a:arcTo wR="25400" hR="25400" stAng="16200000" swAng="5400000"/>
                <a:lnTo>
                  <a:pt x="50800" y="152400"/>
                </a:lnTo>
                <a:arcTo wR="25400" hR="25400" stAng="0" swAng="5400000"/>
                <a:lnTo>
                  <a:pt x="0" y="177800"/>
                </a:lnTo>
                <a:lnTo>
                  <a:pt x="0" y="0"/>
                </a:lnTo>
                <a:close/>
              </a:path>
            </a:pathLst>
          </a:custGeom>
          <a:solidFill>
            <a:srgbClr val="EB6834"/>
          </a:solidFill>
          <a:ln/>
        </p:spPr>
      </p:sp>
      <p:sp>
        <p:nvSpPr>
          <p:cNvPr id="47" name="Text 45"/>
          <p:cNvSpPr/>
          <p:nvPr/>
        </p:nvSpPr>
        <p:spPr>
          <a:xfrm>
            <a:off x="5453380" y="4155441"/>
            <a:ext cx="38404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145</a:t>
            </a:r>
            <a:endParaRPr lang="en-US" sz="1200" dirty="0"/>
          </a:p>
        </p:txBody>
      </p:sp>
      <p:sp>
        <p:nvSpPr>
          <p:cNvPr id="48" name="Text 46"/>
          <p:cNvSpPr/>
          <p:nvPr/>
        </p:nvSpPr>
        <p:spPr>
          <a:xfrm>
            <a:off x="2650490" y="4457700"/>
            <a:ext cx="3835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555</a:t>
            </a:r>
            <a:endParaRPr lang="en-US" sz="1200" dirty="0"/>
          </a:p>
        </p:txBody>
      </p:sp>
      <p:sp>
        <p:nvSpPr>
          <p:cNvPr id="49" name="Shape 47"/>
          <p:cNvSpPr/>
          <p:nvPr/>
        </p:nvSpPr>
        <p:spPr>
          <a:xfrm>
            <a:off x="3034030" y="4475480"/>
            <a:ext cx="196850" cy="177800"/>
          </a:xfrm>
          <a:custGeom>
            <a:avLst/>
            <a:gdLst/>
            <a:ahLst/>
            <a:cxnLst/>
            <a:rect l="l" t="t" r="r" b="b"/>
            <a:pathLst>
              <a:path w="196850" h="177800">
                <a:moveTo>
                  <a:pt x="25400" y="0"/>
                </a:moveTo>
                <a:lnTo>
                  <a:pt x="196850" y="0"/>
                </a:lnTo>
                <a:lnTo>
                  <a:pt x="196850" y="177800"/>
                </a:lnTo>
                <a:lnTo>
                  <a:pt x="25400" y="177800"/>
                </a:lnTo>
                <a:arcTo wR="25400" hR="25400" stAng="5400000" swAng="5400000"/>
                <a:lnTo>
                  <a:pt x="0" y="25400"/>
                </a:lnTo>
                <a:arcTo wR="25400" hR="25400" stAng="10800000" swAng="5400000"/>
                <a:close/>
              </a:path>
            </a:pathLst>
          </a:custGeom>
          <a:solidFill>
            <a:srgbClr val="A7B4C8"/>
          </a:solidFill>
          <a:ln/>
        </p:spPr>
      </p:sp>
      <p:sp>
        <p:nvSpPr>
          <p:cNvPr id="50" name="Text 48"/>
          <p:cNvSpPr/>
          <p:nvPr/>
        </p:nvSpPr>
        <p:spPr>
          <a:xfrm>
            <a:off x="3303905" y="4457700"/>
            <a:ext cx="1962150"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B7280"/>
                </a:solidFill>
                <a:latin typeface="Public Sans" pitchFamily="34" charset="0"/>
                <a:ea typeface="Public Sans" pitchFamily="34" charset="-122"/>
                <a:cs typeface="Public Sans" pitchFamily="34" charset="-120"/>
              </a:rPr>
              <a:t>All other fields</a:t>
            </a:r>
            <a:endParaRPr lang="en-US" sz="1200" dirty="0"/>
          </a:p>
        </p:txBody>
      </p:sp>
      <p:sp>
        <p:nvSpPr>
          <p:cNvPr id="51" name="Shape 49"/>
          <p:cNvSpPr/>
          <p:nvPr/>
        </p:nvSpPr>
        <p:spPr>
          <a:xfrm>
            <a:off x="5339080" y="4475480"/>
            <a:ext cx="247650" cy="177800"/>
          </a:xfrm>
          <a:custGeom>
            <a:avLst/>
            <a:gdLst/>
            <a:ahLst/>
            <a:cxnLst/>
            <a:rect l="l" t="t" r="r" b="b"/>
            <a:pathLst>
              <a:path w="247650" h="177800">
                <a:moveTo>
                  <a:pt x="0" y="0"/>
                </a:moveTo>
                <a:lnTo>
                  <a:pt x="222250" y="0"/>
                </a:lnTo>
                <a:arcTo wR="25400" hR="25400" stAng="16200000" swAng="5400000"/>
                <a:lnTo>
                  <a:pt x="247650" y="152400"/>
                </a:lnTo>
                <a:arcTo wR="25400" hR="25400" stAng="0" swAng="5400000"/>
                <a:lnTo>
                  <a:pt x="0" y="177800"/>
                </a:lnTo>
                <a:lnTo>
                  <a:pt x="0" y="0"/>
                </a:lnTo>
                <a:close/>
              </a:path>
            </a:pathLst>
          </a:custGeom>
          <a:solidFill>
            <a:srgbClr val="A7B4C8"/>
          </a:solidFill>
          <a:ln/>
        </p:spPr>
      </p:sp>
      <p:sp>
        <p:nvSpPr>
          <p:cNvPr id="52" name="Text 50"/>
          <p:cNvSpPr/>
          <p:nvPr/>
        </p:nvSpPr>
        <p:spPr>
          <a:xfrm>
            <a:off x="5650230" y="4457700"/>
            <a:ext cx="38404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697</a:t>
            </a:r>
            <a:endParaRPr lang="en-US" sz="1200" dirty="0"/>
          </a:p>
        </p:txBody>
      </p:sp>
      <p:sp>
        <p:nvSpPr>
          <p:cNvPr id="53" name="Shape 51"/>
          <p:cNvSpPr/>
          <p:nvPr/>
        </p:nvSpPr>
        <p:spPr>
          <a:xfrm>
            <a:off x="7953375" y="1583055"/>
            <a:ext cx="3422650" cy="3313430"/>
          </a:xfrm>
          <a:prstGeom prst="roundRect">
            <a:avLst>
              <a:gd name="adj" fmla="val 3737"/>
            </a:avLst>
          </a:prstGeom>
          <a:solidFill>
            <a:srgbClr val="EFEDFA"/>
          </a:solidFill>
          <a:ln w="6350">
            <a:solidFill>
              <a:srgbClr val="DCD8F3"/>
            </a:solidFill>
            <a:prstDash val="solid"/>
          </a:ln>
        </p:spPr>
      </p:sp>
      <p:sp>
        <p:nvSpPr>
          <p:cNvPr id="54" name="Text 52"/>
          <p:cNvSpPr/>
          <p:nvPr/>
        </p:nvSpPr>
        <p:spPr>
          <a:xfrm>
            <a:off x="8158480" y="1788161"/>
            <a:ext cx="3102813"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3D"/>
                </a:solidFill>
                <a:latin typeface="Public Sans" pitchFamily="34" charset="0"/>
                <a:ea typeface="Public Sans" pitchFamily="34" charset="-122"/>
                <a:cs typeface="Public Sans" pitchFamily="34" charset="-120"/>
              </a:rPr>
              <a:t>AI across departments</a:t>
            </a:r>
            <a:endParaRPr lang="en-US" sz="1400" dirty="0"/>
          </a:p>
        </p:txBody>
      </p:sp>
      <p:sp>
        <p:nvSpPr>
          <p:cNvPr id="55" name="Text 53"/>
          <p:cNvSpPr/>
          <p:nvPr/>
        </p:nvSpPr>
        <p:spPr>
          <a:xfrm>
            <a:off x="8158480" y="2141220"/>
            <a:ext cx="3102813"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4A3BB0"/>
                </a:solidFill>
                <a:latin typeface="Space Grotesk" pitchFamily="34" charset="0"/>
                <a:ea typeface="Space Grotesk" pitchFamily="34" charset="-122"/>
                <a:cs typeface="Space Grotesk" pitchFamily="34" charset="-120"/>
              </a:rPr>
              <a:t>9% → 20%</a:t>
            </a:r>
            <a:endParaRPr lang="en-US" sz="3200" dirty="0"/>
          </a:p>
        </p:txBody>
      </p:sp>
      <p:sp>
        <p:nvSpPr>
          <p:cNvPr id="56" name="Text 54"/>
          <p:cNvSpPr/>
          <p:nvPr/>
        </p:nvSpPr>
        <p:spPr>
          <a:xfrm>
            <a:off x="8158480" y="2613661"/>
            <a:ext cx="3102813"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A5568"/>
                </a:solidFill>
                <a:latin typeface="Public Sans" pitchFamily="34" charset="0"/>
                <a:ea typeface="Public Sans" pitchFamily="34" charset="-122"/>
                <a:cs typeface="Public Sans" pitchFamily="34" charset="-120"/>
              </a:rPr>
              <a:t>of all papers are AI papers, 2016 → 2025</a:t>
            </a:r>
            <a:endParaRPr lang="en-US" sz="1200" dirty="0"/>
          </a:p>
        </p:txBody>
      </p:sp>
      <p:sp>
        <p:nvSpPr>
          <p:cNvPr id="57" name="Text 55"/>
          <p:cNvSpPr/>
          <p:nvPr/>
        </p:nvSpPr>
        <p:spPr>
          <a:xfrm>
            <a:off x="8158480" y="2951480"/>
            <a:ext cx="3102813"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4A3BB0"/>
                </a:solidFill>
                <a:latin typeface="Space Grotesk" pitchFamily="34" charset="0"/>
                <a:ea typeface="Space Grotesk" pitchFamily="34" charset="-122"/>
                <a:cs typeface="Space Grotesk" pitchFamily="34" charset="-120"/>
              </a:rPr>
              <a:t>1.9% → 8.7%</a:t>
            </a:r>
            <a:endParaRPr lang="en-US" sz="2000" dirty="0"/>
          </a:p>
        </p:txBody>
      </p:sp>
      <p:sp>
        <p:nvSpPr>
          <p:cNvPr id="58" name="Text 56"/>
          <p:cNvSpPr/>
          <p:nvPr/>
        </p:nvSpPr>
        <p:spPr>
          <a:xfrm>
            <a:off x="8158480" y="3256280"/>
            <a:ext cx="3102813" cy="61976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A5568"/>
                </a:solidFill>
                <a:latin typeface="Public Sans" pitchFamily="34" charset="0"/>
                <a:ea typeface="Public Sans" pitchFamily="34" charset="-122"/>
                <a:cs typeface="Public Sans" pitchFamily="34" charset="-120"/>
              </a:rPr>
              <a:t>outside computing, papers that use an AI method; AI as a topic stayed flat (3.3% → 3.5%)</a:t>
            </a:r>
            <a:endParaRPr lang="en-US" sz="1200" dirty="0"/>
          </a:p>
        </p:txBody>
      </p:sp>
      <p:sp>
        <p:nvSpPr>
          <p:cNvPr id="59" name="Text 57"/>
          <p:cNvSpPr/>
          <p:nvPr/>
        </p:nvSpPr>
        <p:spPr>
          <a:xfrm>
            <a:off x="8158480" y="3990341"/>
            <a:ext cx="3102813"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4A3BB0"/>
                </a:solidFill>
                <a:latin typeface="Space Grotesk" pitchFamily="34" charset="0"/>
                <a:ea typeface="Space Grotesk" pitchFamily="34" charset="-122"/>
                <a:cs typeface="Space Grotesk" pitchFamily="34" charset="-120"/>
              </a:rPr>
              <a:t>15 of 18</a:t>
            </a:r>
            <a:endParaRPr lang="en-US" sz="2000" dirty="0"/>
          </a:p>
        </p:txBody>
      </p:sp>
      <p:sp>
        <p:nvSpPr>
          <p:cNvPr id="60" name="Text 58"/>
          <p:cNvSpPr/>
          <p:nvPr/>
        </p:nvSpPr>
        <p:spPr>
          <a:xfrm>
            <a:off x="8158480" y="4295141"/>
            <a:ext cx="3102813"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A5568"/>
                </a:solidFill>
                <a:latin typeface="Public Sans" pitchFamily="34" charset="0"/>
                <a:ea typeface="Public Sans" pitchFamily="34" charset="-122"/>
                <a:cs typeface="Public Sans" pitchFamily="34" charset="-120"/>
              </a:rPr>
              <a:t>departments now have 5%+ AI papers (10 in 2016–18)</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4BC4"/>
                </a:solidFill>
                <a:latin typeface="Public Sans" pitchFamily="34" charset="0"/>
                <a:ea typeface="Public Sans" pitchFamily="34" charset="-122"/>
                <a:cs typeface="Public Sans" pitchFamily="34" charset="-120"/>
              </a:rPr>
              <a:t>04 · MOST-CITED PAPERS</a:t>
            </a:r>
            <a:endParaRPr lang="en-US" sz="1200" dirty="0"/>
          </a:p>
        </p:txBody>
      </p:sp>
      <p:sp>
        <p:nvSpPr>
          <p:cNvPr id="3" name="Text 1"/>
          <p:cNvSpPr>
            <a:spLocks noGrp="1"/>
          </p:cNvSpPr>
          <p:nvPr>
            <p:ph type="title"/>
          </p:nvPr>
        </p:nvSpPr>
        <p:spPr>
          <a:xfrm>
            <a:off x="812800" y="975361"/>
            <a:ext cx="10883392" cy="452120"/>
          </a:xfrm>
          <a:prstGeom prst="rect">
            <a:avLst/>
          </a:prstGeom>
          <a:noFill/>
          <a:ln/>
        </p:spPr>
        <p:txBody>
          <a:bodyPr wrap="square" lIns="0" tIns="0" rIns="0" bIns="0" rtlCol="0" anchor="t">
            <a:normAutofit/>
          </a:bodyPr>
          <a:lstStyle/>
          <a:p>
            <a:pPr marL="0" indent="0" algn="l">
              <a:lnSpc>
                <a:spcPts val="3360"/>
              </a:lnSpc>
              <a:buNone/>
            </a:pPr>
            <a:r>
              <a:rPr lang="en-US" sz="3200" b="1" i="0" kern="0" spc="-50" dirty="0">
                <a:solidFill>
                  <a:srgbClr val="14213D"/>
                </a:solidFill>
                <a:latin typeface="Space Grotesk" pitchFamily="34" charset="0"/>
                <a:ea typeface="Space Grotesk" pitchFamily="34" charset="-122"/>
                <a:cs typeface="Space Grotesk" pitchFamily="34" charset="-120"/>
              </a:rPr>
              <a:t>The ten most-cited papers</a:t>
            </a:r>
            <a:endParaRPr lang="en-US" sz="3200" dirty="0"/>
          </a:p>
        </p:txBody>
      </p:sp>
      <p:sp>
        <p:nvSpPr>
          <p:cNvPr id="4" name="Text 2"/>
          <p:cNvSpPr/>
          <p:nvPr/>
        </p:nvSpPr>
        <p:spPr>
          <a:xfrm>
            <a:off x="812800" y="155448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7 of the top 10 are NIT Trichy’s, and 4 have “review” in the title. FWCI 1.0 = world average for the same field and year.</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930399"/>
          <a:ext cx="10556240" cy="3845560"/>
        </p:xfrm>
        <a:graphic>
          <a:graphicData uri="http://schemas.openxmlformats.org/drawingml/2006/table">
            <a:tbl>
              <a:tblPr/>
              <a:tblGrid>
                <a:gridCol w="316687">
                  <a:extLst>
                    <a:ext uri="{9D8B030D-6E8A-4147-A177-3AD203B41FA5}">
                      <a16:colId xmlns:a16="http://schemas.microsoft.com/office/drawing/2014/main" val="20000"/>
                    </a:ext>
                  </a:extLst>
                </a:gridCol>
                <a:gridCol w="4961433">
                  <a:extLst>
                    <a:ext uri="{9D8B030D-6E8A-4147-A177-3AD203B41FA5}">
                      <a16:colId xmlns:a16="http://schemas.microsoft.com/office/drawing/2014/main" val="20001"/>
                    </a:ext>
                  </a:extLst>
                </a:gridCol>
                <a:gridCol w="2005686">
                  <a:extLst>
                    <a:ext uri="{9D8B030D-6E8A-4147-A177-3AD203B41FA5}">
                      <a16:colId xmlns:a16="http://schemas.microsoft.com/office/drawing/2014/main" val="20002"/>
                    </a:ext>
                  </a:extLst>
                </a:gridCol>
                <a:gridCol w="633374">
                  <a:extLst>
                    <a:ext uri="{9D8B030D-6E8A-4147-A177-3AD203B41FA5}">
                      <a16:colId xmlns:a16="http://schemas.microsoft.com/office/drawing/2014/main" val="20003"/>
                    </a:ext>
                  </a:extLst>
                </a:gridCol>
                <a:gridCol w="950062">
                  <a:extLst>
                    <a:ext uri="{9D8B030D-6E8A-4147-A177-3AD203B41FA5}">
                      <a16:colId xmlns:a16="http://schemas.microsoft.com/office/drawing/2014/main" val="20004"/>
                    </a:ext>
                  </a:extLst>
                </a:gridCol>
                <a:gridCol w="633374">
                  <a:extLst>
                    <a:ext uri="{9D8B030D-6E8A-4147-A177-3AD203B41FA5}">
                      <a16:colId xmlns:a16="http://schemas.microsoft.com/office/drawing/2014/main" val="20005"/>
                    </a:ext>
                  </a:extLst>
                </a:gridCol>
                <a:gridCol w="1055624">
                  <a:extLst>
                    <a:ext uri="{9D8B030D-6E8A-4147-A177-3AD203B41FA5}">
                      <a16:colId xmlns:a16="http://schemas.microsoft.com/office/drawing/2014/main" val="20006"/>
                    </a:ext>
                  </a:extLst>
                </a:gridCol>
              </a:tblGrid>
              <a:tr h="330200">
                <a:tc>
                  <a:txBody>
                    <a:bodyPr/>
                    <a:lstStyle/>
                    <a:p>
                      <a:pPr marL="0" indent="0" algn="r">
                        <a:lnSpc>
                          <a:spcPts val="1680"/>
                        </a:lnSpc>
                        <a:buNone/>
                      </a:pPr>
                      <a:r>
                        <a:rPr lang="en-US" sz="1200" b="1" dirty="0">
                          <a:solidFill>
                            <a:srgbClr val="6B7280"/>
                          </a:solidFill>
                          <a:latin typeface="Public Sans" pitchFamily="34" charset="0"/>
                          <a:ea typeface="Public Sans" pitchFamily="34" charset="-122"/>
                          <a:cs typeface="Public Sans" pitchFamily="34" charset="-120"/>
                        </a:rPr>
                        <a:t>#</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1680"/>
                        </a:lnSpc>
                        <a:buNone/>
                      </a:pPr>
                      <a:r>
                        <a:rPr lang="en-US" sz="1200" b="1" dirty="0">
                          <a:solidFill>
                            <a:srgbClr val="6B7280"/>
                          </a:solidFill>
                          <a:latin typeface="Public Sans" pitchFamily="34" charset="0"/>
                          <a:ea typeface="Public Sans" pitchFamily="34" charset="-122"/>
                          <a:cs typeface="Public Sans" pitchFamily="34" charset="-120"/>
                        </a:rPr>
                        <a:t>Title</a:t>
                      </a:r>
                      <a:endParaRPr lang="en-US" sz="1200" dirty="0">
                        <a:latin typeface="Public Sans" charset="0"/>
                        <a:ea typeface="Public Sans" charset="0"/>
                        <a:cs typeface="Public Sans" charset="0"/>
                      </a:endParaRPr>
                    </a:p>
                  </a:txBody>
                  <a:tcPr marL="53340" marR="53340" marT="53340" marB="5334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1680"/>
                        </a:lnSpc>
                        <a:buNone/>
                      </a:pPr>
                      <a:r>
                        <a:rPr lang="en-US" sz="1200" b="1" dirty="0">
                          <a:solidFill>
                            <a:srgbClr val="6B7280"/>
                          </a:solidFill>
                          <a:latin typeface="Public Sans" pitchFamily="34" charset="0"/>
                          <a:ea typeface="Public Sans" pitchFamily="34" charset="-122"/>
                          <a:cs typeface="Public Sans" pitchFamily="34" charset="-120"/>
                        </a:rPr>
                        <a:t>Journal</a:t>
                      </a:r>
                      <a:endParaRPr lang="en-US" sz="1200" dirty="0">
                        <a:latin typeface="Public Sans" charset="0"/>
                        <a:ea typeface="Public Sans" charset="0"/>
                        <a:cs typeface="Public Sans" charset="0"/>
                      </a:endParaRPr>
                    </a:p>
                  </a:txBody>
                  <a:tcPr marL="53340" marR="53340" marT="53340" marB="5334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1680"/>
                        </a:lnSpc>
                        <a:buNone/>
                      </a:pPr>
                      <a:r>
                        <a:rPr lang="en-US" sz="1200" b="1" dirty="0">
                          <a:solidFill>
                            <a:srgbClr val="6B7280"/>
                          </a:solidFill>
                          <a:latin typeface="Public Sans" pitchFamily="34" charset="0"/>
                          <a:ea typeface="Public Sans" pitchFamily="34" charset="-122"/>
                          <a:cs typeface="Public Sans" pitchFamily="34" charset="-120"/>
                        </a:rPr>
                        <a:t>Year</a:t>
                      </a:r>
                      <a:endParaRPr lang="en-US" sz="1200" dirty="0">
                        <a:latin typeface="Public Sans" charset="0"/>
                        <a:ea typeface="Public Sans" charset="0"/>
                        <a:cs typeface="Public Sans" charset="0"/>
                      </a:endParaRPr>
                    </a:p>
                  </a:txBody>
                  <a:tcPr marL="53340" marR="53340" marT="53340" marB="5334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1680"/>
                        </a:lnSpc>
                        <a:buNone/>
                      </a:pPr>
                      <a:r>
                        <a:rPr lang="en-US" sz="1200" b="1" dirty="0">
                          <a:solidFill>
                            <a:srgbClr val="6B7280"/>
                          </a:solidFill>
                          <a:latin typeface="Public Sans" pitchFamily="34" charset="0"/>
                          <a:ea typeface="Public Sans" pitchFamily="34" charset="-122"/>
                          <a:cs typeface="Public Sans" pitchFamily="34" charset="-120"/>
                        </a:rPr>
                        <a:t>Citations</a:t>
                      </a:r>
                      <a:endParaRPr lang="en-US" sz="1200" dirty="0">
                        <a:latin typeface="Public Sans" charset="0"/>
                        <a:ea typeface="Public Sans" charset="0"/>
                        <a:cs typeface="Public Sans" charset="0"/>
                      </a:endParaRPr>
                    </a:p>
                  </a:txBody>
                  <a:tcPr marL="53340" marR="53340" marT="53340" marB="5334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1680"/>
                        </a:lnSpc>
                        <a:buNone/>
                      </a:pPr>
                      <a:r>
                        <a:rPr lang="en-US" sz="1200" b="1" dirty="0">
                          <a:solidFill>
                            <a:srgbClr val="6B7280"/>
                          </a:solidFill>
                          <a:latin typeface="Public Sans" pitchFamily="34" charset="0"/>
                          <a:ea typeface="Public Sans" pitchFamily="34" charset="-122"/>
                          <a:cs typeface="Public Sans" pitchFamily="34" charset="-120"/>
                        </a:rPr>
                        <a:t>FWCI</a:t>
                      </a:r>
                      <a:endParaRPr lang="en-US" sz="1200" dirty="0">
                        <a:latin typeface="Public Sans" charset="0"/>
                        <a:ea typeface="Public Sans" charset="0"/>
                        <a:cs typeface="Public Sans" charset="0"/>
                      </a:endParaRPr>
                    </a:p>
                  </a:txBody>
                  <a:tcPr marL="53340" marR="53340" marT="53340" marB="5334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1680"/>
                        </a:lnSpc>
                        <a:buNone/>
                      </a:pPr>
                      <a:r>
                        <a:rPr lang="en-US" sz="1200" b="1" dirty="0">
                          <a:solidFill>
                            <a:srgbClr val="6B7280"/>
                          </a:solidFill>
                          <a:latin typeface="Public Sans" pitchFamily="34" charset="0"/>
                          <a:ea typeface="Public Sans" pitchFamily="34" charset="-122"/>
                          <a:cs typeface="Public Sans" pitchFamily="34" charset="-120"/>
                        </a:rPr>
                        <a:t>NIT</a:t>
                      </a:r>
                      <a:endParaRPr lang="en-US" sz="1200" dirty="0">
                        <a:latin typeface="Public Sans" charset="0"/>
                        <a:ea typeface="Public Sans" charset="0"/>
                        <a:cs typeface="Public Sans" charset="0"/>
                      </a:endParaRPr>
                    </a:p>
                  </a:txBody>
                  <a:tcPr marL="53340" marR="53340" marT="53340" marB="5334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extLst>
                  <a:ext uri="{0D108BD9-81ED-4DB2-BD59-A6C34878D82A}">
                    <a16:rowId xmlns:a16="http://schemas.microsoft.com/office/drawing/2014/main" val="10000"/>
                  </a:ext>
                </a:extLst>
              </a:tr>
              <a:tr h="330200">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1</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Public Sans" pitchFamily="34" charset="0"/>
                          <a:ea typeface="Public Sans" pitchFamily="34" charset="-122"/>
                          <a:cs typeface="Public Sans" pitchFamily="34" charset="-120"/>
                        </a:rPr>
                        <a:t>A Review of Classical and Nonclassical Nucleation Theories</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4A5568"/>
                          </a:solidFill>
                          <a:latin typeface="Public Sans" pitchFamily="34" charset="0"/>
                          <a:ea typeface="Public Sans" pitchFamily="34" charset="-122"/>
                          <a:cs typeface="Public Sans" pitchFamily="34" charset="-120"/>
                        </a:rPr>
                        <a:t>Cryst. Growth Des.</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2016</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14213D"/>
                          </a:solidFill>
                          <a:latin typeface="Public Sans" pitchFamily="34" charset="0"/>
                          <a:ea typeface="Public Sans" pitchFamily="34" charset="-122"/>
                          <a:cs typeface="Public Sans" pitchFamily="34" charset="-120"/>
                        </a:rPr>
                        <a:t>877</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19.5</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F63B8"/>
                          </a:solidFill>
                          <a:latin typeface="Public Sans" pitchFamily="34" charset="0"/>
                          <a:ea typeface="Public Sans" pitchFamily="34" charset="-122"/>
                          <a:cs typeface="Public Sans" pitchFamily="34" charset="-120"/>
                        </a:rPr>
                        <a:t>Trichy</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2</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Public Sans" pitchFamily="34" charset="0"/>
                          <a:ea typeface="Public Sans" pitchFamily="34" charset="-122"/>
                          <a:cs typeface="Public Sans" pitchFamily="34" charset="-120"/>
                        </a:rPr>
                        <a:t>Lignocellulosic biomass-based pyrolysis: A comprehensive review</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4A5568"/>
                          </a:solidFill>
                          <a:latin typeface="Public Sans" pitchFamily="34" charset="0"/>
                          <a:ea typeface="Public Sans" pitchFamily="34" charset="-122"/>
                          <a:cs typeface="Public Sans" pitchFamily="34" charset="-120"/>
                        </a:rPr>
                        <a:t>Chemosphere</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2021</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14213D"/>
                          </a:solidFill>
                          <a:latin typeface="Public Sans" pitchFamily="34" charset="0"/>
                          <a:ea typeface="Public Sans" pitchFamily="34" charset="-122"/>
                          <a:cs typeface="Public Sans" pitchFamily="34" charset="-120"/>
                        </a:rPr>
                        <a:t>536</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25.7</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F63B8"/>
                          </a:solidFill>
                          <a:latin typeface="Public Sans" pitchFamily="34" charset="0"/>
                          <a:ea typeface="Public Sans" pitchFamily="34" charset="-122"/>
                          <a:cs typeface="Public Sans" pitchFamily="34" charset="-120"/>
                        </a:rPr>
                        <a:t>Trichy</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2"/>
                  </a:ext>
                </a:extLst>
              </a:tr>
              <a:tr h="330200">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3</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Public Sans" pitchFamily="34" charset="0"/>
                          <a:ea typeface="Public Sans" pitchFamily="34" charset="-122"/>
                          <a:cs typeface="Public Sans" pitchFamily="34" charset="-120"/>
                        </a:rPr>
                        <a:t>Crop pest classification based on deep convolutional neural…</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4A5568"/>
                          </a:solidFill>
                          <a:latin typeface="Public Sans" pitchFamily="34" charset="0"/>
                          <a:ea typeface="Public Sans" pitchFamily="34" charset="-122"/>
                          <a:cs typeface="Public Sans" pitchFamily="34" charset="-120"/>
                        </a:rPr>
                        <a:t>Comput. Electron. Agric.</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2019</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14213D"/>
                          </a:solidFill>
                          <a:latin typeface="Public Sans" pitchFamily="34" charset="0"/>
                          <a:ea typeface="Public Sans" pitchFamily="34" charset="-122"/>
                          <a:cs typeface="Public Sans" pitchFamily="34" charset="-120"/>
                        </a:rPr>
                        <a:t>514</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28.7</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F63B8"/>
                          </a:solidFill>
                          <a:latin typeface="Public Sans" pitchFamily="34" charset="0"/>
                          <a:ea typeface="Public Sans" pitchFamily="34" charset="-122"/>
                          <a:cs typeface="Public Sans" pitchFamily="34" charset="-120"/>
                        </a:rPr>
                        <a:t>Trichy</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r h="330200">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4</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Public Sans" pitchFamily="34" charset="0"/>
                          <a:ea typeface="Public Sans" pitchFamily="34" charset="-122"/>
                          <a:cs typeface="Public Sans" pitchFamily="34" charset="-120"/>
                        </a:rPr>
                        <a:t>Characterization of raw and alkali treated new natural…</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4A5568"/>
                          </a:solidFill>
                          <a:latin typeface="Public Sans" pitchFamily="34" charset="0"/>
                          <a:ea typeface="Public Sans" pitchFamily="34" charset="-122"/>
                          <a:cs typeface="Public Sans" pitchFamily="34" charset="-120"/>
                        </a:rPr>
                        <a:t>Int. J. Biol. Macromol.</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2018</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14213D"/>
                          </a:solidFill>
                          <a:latin typeface="Public Sans" pitchFamily="34" charset="0"/>
                          <a:ea typeface="Public Sans" pitchFamily="34" charset="-122"/>
                          <a:cs typeface="Public Sans" pitchFamily="34" charset="-120"/>
                        </a:rPr>
                        <a:t>474</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18.4</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F63B8"/>
                          </a:solidFill>
                          <a:latin typeface="Public Sans" pitchFamily="34" charset="0"/>
                          <a:ea typeface="Public Sans" pitchFamily="34" charset="-122"/>
                          <a:cs typeface="Public Sans" pitchFamily="34" charset="-120"/>
                        </a:rPr>
                        <a:t>Trichy</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4"/>
                  </a:ext>
                </a:extLst>
              </a:tr>
              <a:tr h="330200">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5</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Public Sans" pitchFamily="34" charset="0"/>
                          <a:ea typeface="Public Sans" pitchFamily="34" charset="-122"/>
                          <a:cs typeface="Public Sans" pitchFamily="34" charset="-120"/>
                        </a:rPr>
                        <a:t>A review on composite materials and process parameters…</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4A5568"/>
                          </a:solidFill>
                          <a:latin typeface="Public Sans" pitchFamily="34" charset="0"/>
                          <a:ea typeface="Public Sans" pitchFamily="34" charset="-122"/>
                          <a:cs typeface="Public Sans" pitchFamily="34" charset="-120"/>
                        </a:rPr>
                        <a:t>Virtual Phys. Prototyp.</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2017</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14213D"/>
                          </a:solidFill>
                          <a:latin typeface="Public Sans" pitchFamily="34" charset="0"/>
                          <a:ea typeface="Public Sans" pitchFamily="34" charset="-122"/>
                          <a:cs typeface="Public Sans" pitchFamily="34" charset="-120"/>
                        </a:rPr>
                        <a:t>457</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22.4</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F63B8"/>
                          </a:solidFill>
                          <a:latin typeface="Public Sans" pitchFamily="34" charset="0"/>
                          <a:ea typeface="Public Sans" pitchFamily="34" charset="-122"/>
                          <a:cs typeface="Public Sans" pitchFamily="34" charset="-120"/>
                        </a:rPr>
                        <a:t>Trichy</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5"/>
                  </a:ext>
                </a:extLst>
              </a:tr>
              <a:tr h="330200">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6</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Public Sans" pitchFamily="34" charset="0"/>
                          <a:ea typeface="Public Sans" pitchFamily="34" charset="-122"/>
                          <a:cs typeface="Public Sans" pitchFamily="34" charset="-120"/>
                        </a:rPr>
                        <a:t>Influence of wood dust fillers on the mechanical, thermal…</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4A5568"/>
                          </a:solidFill>
                          <a:latin typeface="Public Sans" pitchFamily="34" charset="0"/>
                          <a:ea typeface="Public Sans" pitchFamily="34" charset="-122"/>
                          <a:cs typeface="Public Sans" pitchFamily="34" charset="-120"/>
                        </a:rPr>
                        <a:t>J. Polym. Res.</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2019</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14213D"/>
                          </a:solidFill>
                          <a:latin typeface="Public Sans" pitchFamily="34" charset="0"/>
                          <a:ea typeface="Public Sans" pitchFamily="34" charset="-122"/>
                          <a:cs typeface="Public Sans" pitchFamily="34" charset="-120"/>
                        </a:rPr>
                        <a:t>456</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13.3</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F63B8"/>
                          </a:solidFill>
                          <a:latin typeface="Public Sans" pitchFamily="34" charset="0"/>
                          <a:ea typeface="Public Sans" pitchFamily="34" charset="-122"/>
                          <a:cs typeface="Public Sans" pitchFamily="34" charset="-120"/>
                        </a:rPr>
                        <a:t>Trichy</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6"/>
                  </a:ext>
                </a:extLst>
              </a:tr>
              <a:tr h="330200">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7</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Public Sans" pitchFamily="34" charset="0"/>
                          <a:ea typeface="Public Sans" pitchFamily="34" charset="-122"/>
                          <a:cs typeface="Public Sans" pitchFamily="34" charset="-120"/>
                        </a:rPr>
                        <a:t>Are lead-free relaxor ferroelectric materials the most…</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4A5568"/>
                          </a:solidFill>
                          <a:latin typeface="Public Sans" pitchFamily="34" charset="0"/>
                          <a:ea typeface="Public Sans" pitchFamily="34" charset="-122"/>
                          <a:cs typeface="Public Sans" pitchFamily="34" charset="-120"/>
                        </a:rPr>
                        <a:t>Prog. Mater. Sci.</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2022</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14213D"/>
                          </a:solidFill>
                          <a:latin typeface="Public Sans" pitchFamily="34" charset="0"/>
                          <a:ea typeface="Public Sans" pitchFamily="34" charset="-122"/>
                          <a:cs typeface="Public Sans" pitchFamily="34" charset="-120"/>
                        </a:rPr>
                        <a:t>426</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20.7</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F63B8"/>
                          </a:solidFill>
                          <a:latin typeface="Public Sans" pitchFamily="34" charset="0"/>
                          <a:ea typeface="Public Sans" pitchFamily="34" charset="-122"/>
                          <a:cs typeface="Public Sans" pitchFamily="34" charset="-120"/>
                        </a:rPr>
                        <a:t>Trichy</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7"/>
                  </a:ext>
                </a:extLst>
              </a:tr>
              <a:tr h="330200">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8</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Public Sans" pitchFamily="34" charset="0"/>
                          <a:ea typeface="Public Sans" pitchFamily="34" charset="-122"/>
                          <a:cs typeface="Public Sans" pitchFamily="34" charset="-120"/>
                        </a:rPr>
                        <a:t>Green synthesis of iron nanoparticles using different leaf…</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4A5568"/>
                          </a:solidFill>
                          <a:latin typeface="Public Sans" pitchFamily="34" charset="0"/>
                          <a:ea typeface="Public Sans" pitchFamily="34" charset="-122"/>
                          <a:cs typeface="Public Sans" pitchFamily="34" charset="-120"/>
                        </a:rPr>
                        <a:t>J. Clean. Prod.</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2016</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14213D"/>
                          </a:solidFill>
                          <a:latin typeface="Public Sans" pitchFamily="34" charset="0"/>
                          <a:ea typeface="Public Sans" pitchFamily="34" charset="-122"/>
                          <a:cs typeface="Public Sans" pitchFamily="34" charset="-120"/>
                        </a:rPr>
                        <a:t>408</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11.9</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B34A1C"/>
                          </a:solidFill>
                          <a:latin typeface="Public Sans" pitchFamily="34" charset="0"/>
                          <a:ea typeface="Public Sans" pitchFamily="34" charset="-122"/>
                          <a:cs typeface="Public Sans" pitchFamily="34" charset="-120"/>
                        </a:rPr>
                        <a:t>Surathkal</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8"/>
                  </a:ext>
                </a:extLst>
              </a:tr>
              <a:tr h="330200">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9</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Public Sans" pitchFamily="34" charset="0"/>
                          <a:ea typeface="Public Sans" pitchFamily="34" charset="-122"/>
                          <a:cs typeface="Public Sans" pitchFamily="34" charset="-120"/>
                        </a:rPr>
                        <a:t>Application of life cycle assessment in municipal solid…</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4A5568"/>
                          </a:solidFill>
                          <a:latin typeface="Public Sans" pitchFamily="34" charset="0"/>
                          <a:ea typeface="Public Sans" pitchFamily="34" charset="-122"/>
                          <a:cs typeface="Public Sans" pitchFamily="34" charset="-120"/>
                        </a:rPr>
                        <a:t>J. Clean. Prod.</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2018</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14213D"/>
                          </a:solidFill>
                          <a:latin typeface="Public Sans" pitchFamily="34" charset="0"/>
                          <a:ea typeface="Public Sans" pitchFamily="34" charset="-122"/>
                          <a:cs typeface="Public Sans" pitchFamily="34" charset="-120"/>
                        </a:rPr>
                        <a:t>392</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32.4</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B34A1C"/>
                          </a:solidFill>
                          <a:latin typeface="Public Sans" pitchFamily="34" charset="0"/>
                          <a:ea typeface="Public Sans" pitchFamily="34" charset="-122"/>
                          <a:cs typeface="Public Sans" pitchFamily="34" charset="-120"/>
                        </a:rPr>
                        <a:t>Surathkal</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9"/>
                  </a:ext>
                </a:extLst>
              </a:tr>
              <a:tr h="543560">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10</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Public Sans" pitchFamily="34" charset="0"/>
                          <a:ea typeface="Public Sans" pitchFamily="34" charset="-122"/>
                          <a:cs typeface="Public Sans" pitchFamily="34" charset="-120"/>
                        </a:rPr>
                        <a:t>Enhancement of the properties of fly ash based geopolymer…</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4A5568"/>
                          </a:solidFill>
                          <a:latin typeface="Public Sans" pitchFamily="34" charset="0"/>
                          <a:ea typeface="Public Sans" pitchFamily="34" charset="-122"/>
                          <a:cs typeface="Public Sans" pitchFamily="34" charset="-120"/>
                        </a:rPr>
                        <a:t>Constr. Build. Mater.</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2017</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14213D"/>
                          </a:solidFill>
                          <a:latin typeface="Public Sans" pitchFamily="34" charset="0"/>
                          <a:ea typeface="Public Sans" pitchFamily="34" charset="-122"/>
                          <a:cs typeface="Public Sans" pitchFamily="34" charset="-120"/>
                        </a:rPr>
                        <a:t>385</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4A5568"/>
                          </a:solidFill>
                          <a:latin typeface="Public Sans" pitchFamily="34" charset="0"/>
                          <a:ea typeface="Public Sans" pitchFamily="34" charset="-122"/>
                          <a:cs typeface="Public Sans" pitchFamily="34" charset="-120"/>
                        </a:rPr>
                        <a:t>23.2</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B34A1C"/>
                          </a:solidFill>
                          <a:latin typeface="Public Sans" pitchFamily="34" charset="0"/>
                          <a:ea typeface="Public Sans" pitchFamily="34" charset="-122"/>
                          <a:cs typeface="Public Sans" pitchFamily="34" charset="-120"/>
                        </a:rPr>
                        <a:t>Surathkal</a:t>
                      </a:r>
                      <a:endParaRPr lang="en-US" sz="1200" dirty="0">
                        <a:latin typeface="Public Sans" charset="0"/>
                        <a:ea typeface="Public Sans" charset="0"/>
                        <a:cs typeface="Public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4BC4"/>
                </a:solidFill>
                <a:latin typeface="Public Sans" pitchFamily="34" charset="0"/>
                <a:ea typeface="Public Sans" pitchFamily="34" charset="-122"/>
                <a:cs typeface="Public Sans" pitchFamily="34" charset="-120"/>
              </a:rPr>
              <a:t>05 · FACULTY</a:t>
            </a:r>
            <a:endParaRPr lang="en-US" sz="1200" dirty="0"/>
          </a:p>
        </p:txBody>
      </p:sp>
      <p:sp>
        <p:nvSpPr>
          <p:cNvPr id="3" name="Text 1"/>
          <p:cNvSpPr>
            <a:spLocks noGrp="1"/>
          </p:cNvSpPr>
          <p:nvPr>
            <p:ph type="title"/>
          </p:nvPr>
        </p:nvSpPr>
        <p:spPr>
          <a:xfrm>
            <a:off x="812800" y="975361"/>
            <a:ext cx="10883392" cy="452120"/>
          </a:xfrm>
          <a:prstGeom prst="rect">
            <a:avLst/>
          </a:prstGeom>
          <a:noFill/>
          <a:ln/>
        </p:spPr>
        <p:txBody>
          <a:bodyPr wrap="square" lIns="0" tIns="0" rIns="0" bIns="0" rtlCol="0" anchor="t">
            <a:normAutofit/>
          </a:bodyPr>
          <a:lstStyle/>
          <a:p>
            <a:pPr marL="0" indent="0" algn="l">
              <a:lnSpc>
                <a:spcPts val="3360"/>
              </a:lnSpc>
              <a:buNone/>
            </a:pPr>
            <a:r>
              <a:rPr lang="en-US" sz="3200" b="1" i="0" kern="0" spc="-50" dirty="0">
                <a:solidFill>
                  <a:srgbClr val="14213D"/>
                </a:solidFill>
                <a:latin typeface="Space Grotesk" pitchFamily="34" charset="0"/>
                <a:ea typeface="Space Grotesk" pitchFamily="34" charset="-122"/>
                <a:cs typeface="Space Grotesk" pitchFamily="34" charset="-120"/>
              </a:rPr>
              <a:t>Surathkal faculty publish more per person</a:t>
            </a:r>
            <a:endParaRPr lang="en-US" sz="3200" dirty="0"/>
          </a:p>
        </p:txBody>
      </p:sp>
      <p:sp>
        <p:nvSpPr>
          <p:cNvPr id="4" name="Shape 2"/>
          <p:cNvSpPr/>
          <p:nvPr/>
        </p:nvSpPr>
        <p:spPr>
          <a:xfrm>
            <a:off x="815975" y="1583057"/>
            <a:ext cx="6597650" cy="4027170"/>
          </a:xfrm>
          <a:prstGeom prst="roundRect">
            <a:avLst>
              <a:gd name="adj" fmla="val 3075"/>
            </a:avLst>
          </a:prstGeom>
          <a:solidFill>
            <a:srgbClr val="FDFCFA"/>
          </a:solidFill>
          <a:ln w="6350">
            <a:solidFill>
              <a:srgbClr val="E4E1D8"/>
            </a:solidFill>
            <a:prstDash val="solid"/>
          </a:ln>
        </p:spPr>
      </p:sp>
      <p:sp>
        <p:nvSpPr>
          <p:cNvPr id="5" name="Text 3"/>
          <p:cNvSpPr/>
          <p:nvPr/>
        </p:nvSpPr>
        <p:spPr>
          <a:xfrm>
            <a:off x="970280" y="1737361"/>
            <a:ext cx="1866424"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3D"/>
                </a:solidFill>
                <a:latin typeface="Public Sans" pitchFamily="34" charset="0"/>
                <a:ea typeface="Public Sans" pitchFamily="34" charset="-122"/>
                <a:cs typeface="Public Sans" pitchFamily="34" charset="-120"/>
              </a:rPr>
              <a:t>h-index distribution</a:t>
            </a:r>
            <a:endParaRPr lang="en-US" sz="1400" dirty="0"/>
          </a:p>
        </p:txBody>
      </p:sp>
      <p:sp>
        <p:nvSpPr>
          <p:cNvPr id="6" name="Shape 4"/>
          <p:cNvSpPr/>
          <p:nvPr/>
        </p:nvSpPr>
        <p:spPr>
          <a:xfrm>
            <a:off x="2836704" y="1780539"/>
            <a:ext cx="127000" cy="127000"/>
          </a:xfrm>
          <a:prstGeom prst="roundRect">
            <a:avLst>
              <a:gd name="adj" fmla="val 20000"/>
            </a:avLst>
          </a:prstGeom>
          <a:solidFill>
            <a:srgbClr val="2A78D6"/>
          </a:solidFill>
          <a:ln/>
        </p:spPr>
      </p:sp>
      <p:sp>
        <p:nvSpPr>
          <p:cNvPr id="7" name="Text 5"/>
          <p:cNvSpPr/>
          <p:nvPr/>
        </p:nvSpPr>
        <p:spPr>
          <a:xfrm>
            <a:off x="3027204" y="1737361"/>
            <a:ext cx="134104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NIT Trichy (357)</a:t>
            </a:r>
            <a:endParaRPr lang="en-US" sz="1200" dirty="0"/>
          </a:p>
        </p:txBody>
      </p:sp>
      <p:sp>
        <p:nvSpPr>
          <p:cNvPr id="8" name="Shape 6"/>
          <p:cNvSpPr/>
          <p:nvPr/>
        </p:nvSpPr>
        <p:spPr>
          <a:xfrm>
            <a:off x="4368245" y="1780539"/>
            <a:ext cx="127000" cy="127000"/>
          </a:xfrm>
          <a:prstGeom prst="roundRect">
            <a:avLst>
              <a:gd name="adj" fmla="val 20000"/>
            </a:avLst>
          </a:prstGeom>
          <a:solidFill>
            <a:srgbClr val="EB6834"/>
          </a:solidFill>
          <a:ln/>
        </p:spPr>
      </p:sp>
      <p:sp>
        <p:nvSpPr>
          <p:cNvPr id="9" name="Text 7"/>
          <p:cNvSpPr/>
          <p:nvPr/>
        </p:nvSpPr>
        <p:spPr>
          <a:xfrm>
            <a:off x="4558745" y="1737361"/>
            <a:ext cx="166373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NIT Surathkal (299)</a:t>
            </a:r>
            <a:endParaRPr lang="en-US" sz="1200" dirty="0"/>
          </a:p>
        </p:txBody>
      </p:sp>
      <p:sp>
        <p:nvSpPr>
          <p:cNvPr id="10" name="Shape 8"/>
          <p:cNvSpPr/>
          <p:nvPr/>
        </p:nvSpPr>
        <p:spPr>
          <a:xfrm>
            <a:off x="970280" y="4870452"/>
            <a:ext cx="6289040" cy="0"/>
          </a:xfrm>
          <a:prstGeom prst="line">
            <a:avLst/>
          </a:prstGeom>
          <a:noFill/>
          <a:ln w="12700">
            <a:solidFill>
              <a:srgbClr val="B9B5A9"/>
            </a:solidFill>
            <a:prstDash val="solid"/>
          </a:ln>
        </p:spPr>
      </p:sp>
      <p:sp>
        <p:nvSpPr>
          <p:cNvPr id="11" name="Text 9"/>
          <p:cNvSpPr/>
          <p:nvPr/>
        </p:nvSpPr>
        <p:spPr>
          <a:xfrm>
            <a:off x="985917" y="2341882"/>
            <a:ext cx="298847"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Public Sans" pitchFamily="34" charset="0"/>
                <a:ea typeface="Public Sans" pitchFamily="34" charset="-122"/>
                <a:cs typeface="Public Sans" pitchFamily="34" charset="-120"/>
              </a:rPr>
              <a:t>129</a:t>
            </a:r>
            <a:endParaRPr lang="en-US" sz="1200" dirty="0"/>
          </a:p>
        </p:txBody>
      </p:sp>
      <p:sp>
        <p:nvSpPr>
          <p:cNvPr id="12" name="Shape 10"/>
          <p:cNvSpPr/>
          <p:nvPr/>
        </p:nvSpPr>
        <p:spPr>
          <a:xfrm>
            <a:off x="970280" y="2580639"/>
            <a:ext cx="330200" cy="2286000"/>
          </a:xfrm>
          <a:custGeom>
            <a:avLst/>
            <a:gdLst/>
            <a:ahLst/>
            <a:cxnLst/>
            <a:rect l="l" t="t" r="r" b="b"/>
            <a:pathLst>
              <a:path w="330200" h="2286000">
                <a:moveTo>
                  <a:pt x="38100" y="0"/>
                </a:moveTo>
                <a:lnTo>
                  <a:pt x="292100" y="0"/>
                </a:lnTo>
                <a:arcTo wR="38100" hR="38100" stAng="16200000" swAng="5400000"/>
                <a:lnTo>
                  <a:pt x="330200" y="2286000"/>
                </a:lnTo>
                <a:lnTo>
                  <a:pt x="0" y="2286000"/>
                </a:lnTo>
                <a:lnTo>
                  <a:pt x="0" y="38100"/>
                </a:lnTo>
                <a:arcTo wR="38100" hR="38100" stAng="10800000" swAng="5400000"/>
                <a:close/>
              </a:path>
            </a:pathLst>
          </a:custGeom>
          <a:solidFill>
            <a:srgbClr val="2A78D6"/>
          </a:solidFill>
          <a:ln/>
        </p:spPr>
      </p:sp>
      <p:sp>
        <p:nvSpPr>
          <p:cNvPr id="13" name="Text 11"/>
          <p:cNvSpPr/>
          <p:nvPr/>
        </p:nvSpPr>
        <p:spPr>
          <a:xfrm>
            <a:off x="1384618" y="3243582"/>
            <a:ext cx="238046"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Public Sans" pitchFamily="34" charset="0"/>
                <a:ea typeface="Public Sans" pitchFamily="34" charset="-122"/>
                <a:cs typeface="Public Sans" pitchFamily="34" charset="-120"/>
              </a:rPr>
              <a:t>78</a:t>
            </a:r>
            <a:endParaRPr lang="en-US" sz="1200" dirty="0"/>
          </a:p>
        </p:txBody>
      </p:sp>
      <p:sp>
        <p:nvSpPr>
          <p:cNvPr id="14" name="Shape 12"/>
          <p:cNvSpPr/>
          <p:nvPr/>
        </p:nvSpPr>
        <p:spPr>
          <a:xfrm>
            <a:off x="1338580" y="3482339"/>
            <a:ext cx="330200" cy="1384300"/>
          </a:xfrm>
          <a:custGeom>
            <a:avLst/>
            <a:gdLst/>
            <a:ahLst/>
            <a:cxnLst/>
            <a:rect l="l" t="t" r="r" b="b"/>
            <a:pathLst>
              <a:path w="330200" h="1384300">
                <a:moveTo>
                  <a:pt x="38100" y="0"/>
                </a:moveTo>
                <a:lnTo>
                  <a:pt x="292100" y="0"/>
                </a:lnTo>
                <a:arcTo wR="38100" hR="38100" stAng="16200000" swAng="5400000"/>
                <a:lnTo>
                  <a:pt x="330200" y="1384300"/>
                </a:lnTo>
                <a:lnTo>
                  <a:pt x="0" y="1384300"/>
                </a:lnTo>
                <a:lnTo>
                  <a:pt x="0" y="38100"/>
                </a:lnTo>
                <a:arcTo wR="38100" hR="38100" stAng="10800000" swAng="5400000"/>
                <a:close/>
              </a:path>
            </a:pathLst>
          </a:custGeom>
          <a:solidFill>
            <a:srgbClr val="EB6834"/>
          </a:solidFill>
          <a:ln/>
        </p:spPr>
      </p:sp>
      <p:sp>
        <p:nvSpPr>
          <p:cNvPr id="15" name="Text 13"/>
          <p:cNvSpPr/>
          <p:nvPr/>
        </p:nvSpPr>
        <p:spPr>
          <a:xfrm>
            <a:off x="1945323" y="3053082"/>
            <a:ext cx="243681"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Public Sans" pitchFamily="34" charset="0"/>
                <a:ea typeface="Public Sans" pitchFamily="34" charset="-122"/>
                <a:cs typeface="Public Sans" pitchFamily="34" charset="-120"/>
              </a:rPr>
              <a:t>89</a:t>
            </a:r>
            <a:endParaRPr lang="en-US" sz="1200" dirty="0"/>
          </a:p>
        </p:txBody>
      </p:sp>
      <p:sp>
        <p:nvSpPr>
          <p:cNvPr id="16" name="Shape 14"/>
          <p:cNvSpPr/>
          <p:nvPr/>
        </p:nvSpPr>
        <p:spPr>
          <a:xfrm>
            <a:off x="1902063" y="3291839"/>
            <a:ext cx="330200" cy="1574800"/>
          </a:xfrm>
          <a:custGeom>
            <a:avLst/>
            <a:gdLst/>
            <a:ahLst/>
            <a:cxnLst/>
            <a:rect l="l" t="t" r="r" b="b"/>
            <a:pathLst>
              <a:path w="330200" h="1574800">
                <a:moveTo>
                  <a:pt x="38100" y="0"/>
                </a:moveTo>
                <a:lnTo>
                  <a:pt x="292100" y="0"/>
                </a:lnTo>
                <a:arcTo wR="38100" hR="38100" stAng="16200000" swAng="5400000"/>
                <a:lnTo>
                  <a:pt x="330200" y="1574800"/>
                </a:lnTo>
                <a:lnTo>
                  <a:pt x="0" y="1574800"/>
                </a:lnTo>
                <a:lnTo>
                  <a:pt x="0" y="38100"/>
                </a:lnTo>
                <a:arcTo wR="38100" hR="38100" stAng="10800000" swAng="5400000"/>
                <a:close/>
              </a:path>
            </a:pathLst>
          </a:custGeom>
          <a:solidFill>
            <a:srgbClr val="2A78D6"/>
          </a:solidFill>
          <a:ln/>
        </p:spPr>
      </p:sp>
      <p:sp>
        <p:nvSpPr>
          <p:cNvPr id="17" name="Text 15"/>
          <p:cNvSpPr/>
          <p:nvPr/>
        </p:nvSpPr>
        <p:spPr>
          <a:xfrm>
            <a:off x="2312908" y="3141982"/>
            <a:ext cx="245031"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Public Sans" pitchFamily="34" charset="0"/>
                <a:ea typeface="Public Sans" pitchFamily="34" charset="-122"/>
                <a:cs typeface="Public Sans" pitchFamily="34" charset="-120"/>
              </a:rPr>
              <a:t>84</a:t>
            </a:r>
            <a:endParaRPr lang="en-US" sz="1200" dirty="0"/>
          </a:p>
        </p:txBody>
      </p:sp>
      <p:sp>
        <p:nvSpPr>
          <p:cNvPr id="18" name="Shape 16"/>
          <p:cNvSpPr/>
          <p:nvPr/>
        </p:nvSpPr>
        <p:spPr>
          <a:xfrm>
            <a:off x="2270363" y="3380739"/>
            <a:ext cx="330200" cy="1485900"/>
          </a:xfrm>
          <a:custGeom>
            <a:avLst/>
            <a:gdLst/>
            <a:ahLst/>
            <a:cxnLst/>
            <a:rect l="l" t="t" r="r" b="b"/>
            <a:pathLst>
              <a:path w="330200" h="1485900">
                <a:moveTo>
                  <a:pt x="38100" y="0"/>
                </a:moveTo>
                <a:lnTo>
                  <a:pt x="292100" y="0"/>
                </a:lnTo>
                <a:arcTo wR="38100" hR="38100" stAng="16200000" swAng="5400000"/>
                <a:lnTo>
                  <a:pt x="330200" y="1485900"/>
                </a:lnTo>
                <a:lnTo>
                  <a:pt x="0" y="1485900"/>
                </a:lnTo>
                <a:lnTo>
                  <a:pt x="0" y="38100"/>
                </a:lnTo>
                <a:arcTo wR="38100" hR="38100" stAng="10800000" swAng="5400000"/>
                <a:close/>
              </a:path>
            </a:pathLst>
          </a:custGeom>
          <a:solidFill>
            <a:srgbClr val="EB6834"/>
          </a:solidFill>
          <a:ln/>
        </p:spPr>
      </p:sp>
      <p:sp>
        <p:nvSpPr>
          <p:cNvPr id="19" name="Text 17"/>
          <p:cNvSpPr/>
          <p:nvPr/>
        </p:nvSpPr>
        <p:spPr>
          <a:xfrm>
            <a:off x="2878931" y="3402332"/>
            <a:ext cx="239871"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Public Sans" pitchFamily="34" charset="0"/>
                <a:ea typeface="Public Sans" pitchFamily="34" charset="-122"/>
                <a:cs typeface="Public Sans" pitchFamily="34" charset="-120"/>
              </a:rPr>
              <a:t>69</a:t>
            </a:r>
            <a:endParaRPr lang="en-US" sz="1200" dirty="0"/>
          </a:p>
        </p:txBody>
      </p:sp>
      <p:sp>
        <p:nvSpPr>
          <p:cNvPr id="20" name="Shape 18"/>
          <p:cNvSpPr/>
          <p:nvPr/>
        </p:nvSpPr>
        <p:spPr>
          <a:xfrm>
            <a:off x="2833767" y="3641089"/>
            <a:ext cx="330200" cy="1225550"/>
          </a:xfrm>
          <a:custGeom>
            <a:avLst/>
            <a:gdLst/>
            <a:ahLst/>
            <a:cxnLst/>
            <a:rect l="l" t="t" r="r" b="b"/>
            <a:pathLst>
              <a:path w="330200" h="1225550">
                <a:moveTo>
                  <a:pt x="38100" y="0"/>
                </a:moveTo>
                <a:lnTo>
                  <a:pt x="292100" y="0"/>
                </a:lnTo>
                <a:arcTo wR="38100" hR="38100" stAng="16200000" swAng="5400000"/>
                <a:lnTo>
                  <a:pt x="330200" y="1225550"/>
                </a:lnTo>
                <a:lnTo>
                  <a:pt x="0" y="1225550"/>
                </a:lnTo>
                <a:lnTo>
                  <a:pt x="0" y="38100"/>
                </a:lnTo>
                <a:arcTo wR="38100" hR="38100" stAng="10800000" swAng="5400000"/>
                <a:close/>
              </a:path>
            </a:pathLst>
          </a:custGeom>
          <a:solidFill>
            <a:srgbClr val="2A78D6"/>
          </a:solidFill>
          <a:ln/>
        </p:spPr>
      </p:sp>
      <p:sp>
        <p:nvSpPr>
          <p:cNvPr id="21" name="Text 19"/>
          <p:cNvSpPr/>
          <p:nvPr/>
        </p:nvSpPr>
        <p:spPr>
          <a:xfrm>
            <a:off x="3250803" y="3389632"/>
            <a:ext cx="232648"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Public Sans" pitchFamily="34" charset="0"/>
                <a:ea typeface="Public Sans" pitchFamily="34" charset="-122"/>
                <a:cs typeface="Public Sans" pitchFamily="34" charset="-120"/>
              </a:rPr>
              <a:t>70</a:t>
            </a:r>
            <a:endParaRPr lang="en-US" sz="1200" dirty="0"/>
          </a:p>
        </p:txBody>
      </p:sp>
      <p:sp>
        <p:nvSpPr>
          <p:cNvPr id="22" name="Shape 20"/>
          <p:cNvSpPr/>
          <p:nvPr/>
        </p:nvSpPr>
        <p:spPr>
          <a:xfrm>
            <a:off x="3202067" y="3628389"/>
            <a:ext cx="330200" cy="1238250"/>
          </a:xfrm>
          <a:custGeom>
            <a:avLst/>
            <a:gdLst/>
            <a:ahLst/>
            <a:cxnLst/>
            <a:rect l="l" t="t" r="r" b="b"/>
            <a:pathLst>
              <a:path w="330200" h="1238250">
                <a:moveTo>
                  <a:pt x="38100" y="0"/>
                </a:moveTo>
                <a:lnTo>
                  <a:pt x="292100" y="0"/>
                </a:lnTo>
                <a:arcTo wR="38100" hR="38100" stAng="16200000" swAng="5400000"/>
                <a:lnTo>
                  <a:pt x="330200" y="1238250"/>
                </a:lnTo>
                <a:lnTo>
                  <a:pt x="0" y="1238250"/>
                </a:lnTo>
                <a:lnTo>
                  <a:pt x="0" y="38100"/>
                </a:lnTo>
                <a:arcTo wR="38100" hR="38100" stAng="10800000" swAng="5400000"/>
                <a:close/>
              </a:path>
            </a:pathLst>
          </a:custGeom>
          <a:solidFill>
            <a:srgbClr val="EB6834"/>
          </a:solidFill>
          <a:ln/>
        </p:spPr>
      </p:sp>
      <p:sp>
        <p:nvSpPr>
          <p:cNvPr id="23" name="Text 21"/>
          <p:cNvSpPr/>
          <p:nvPr/>
        </p:nvSpPr>
        <p:spPr>
          <a:xfrm>
            <a:off x="3808413" y="4005582"/>
            <a:ext cx="244475"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Public Sans" pitchFamily="34" charset="0"/>
                <a:ea typeface="Public Sans" pitchFamily="34" charset="-122"/>
                <a:cs typeface="Public Sans" pitchFamily="34" charset="-120"/>
              </a:rPr>
              <a:t>35</a:t>
            </a:r>
            <a:endParaRPr lang="en-US" sz="1200" dirty="0"/>
          </a:p>
        </p:txBody>
      </p:sp>
      <p:sp>
        <p:nvSpPr>
          <p:cNvPr id="24" name="Shape 22"/>
          <p:cNvSpPr/>
          <p:nvPr/>
        </p:nvSpPr>
        <p:spPr>
          <a:xfrm>
            <a:off x="3765550" y="4244339"/>
            <a:ext cx="330200" cy="622300"/>
          </a:xfrm>
          <a:custGeom>
            <a:avLst/>
            <a:gdLst/>
            <a:ahLst/>
            <a:cxnLst/>
            <a:rect l="l" t="t" r="r" b="b"/>
            <a:pathLst>
              <a:path w="330200" h="622300">
                <a:moveTo>
                  <a:pt x="38100" y="0"/>
                </a:moveTo>
                <a:lnTo>
                  <a:pt x="292100" y="0"/>
                </a:lnTo>
                <a:arcTo wR="38100" hR="38100" stAng="16200000" swAng="5400000"/>
                <a:lnTo>
                  <a:pt x="330200" y="622300"/>
                </a:lnTo>
                <a:lnTo>
                  <a:pt x="0" y="622300"/>
                </a:lnTo>
                <a:lnTo>
                  <a:pt x="0" y="38100"/>
                </a:lnTo>
                <a:arcTo wR="38100" hR="38100" stAng="10800000" swAng="5400000"/>
                <a:close/>
              </a:path>
            </a:pathLst>
          </a:custGeom>
          <a:solidFill>
            <a:srgbClr val="2A78D6"/>
          </a:solidFill>
          <a:ln/>
        </p:spPr>
      </p:sp>
      <p:sp>
        <p:nvSpPr>
          <p:cNvPr id="25" name="Text 23"/>
          <p:cNvSpPr/>
          <p:nvPr/>
        </p:nvSpPr>
        <p:spPr>
          <a:xfrm>
            <a:off x="4181158" y="3973832"/>
            <a:ext cx="235585"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Public Sans" pitchFamily="34" charset="0"/>
                <a:ea typeface="Public Sans" pitchFamily="34" charset="-122"/>
                <a:cs typeface="Public Sans" pitchFamily="34" charset="-120"/>
              </a:rPr>
              <a:t>37</a:t>
            </a:r>
            <a:endParaRPr lang="en-US" sz="1200" dirty="0"/>
          </a:p>
        </p:txBody>
      </p:sp>
      <p:sp>
        <p:nvSpPr>
          <p:cNvPr id="26" name="Shape 24"/>
          <p:cNvSpPr/>
          <p:nvPr/>
        </p:nvSpPr>
        <p:spPr>
          <a:xfrm>
            <a:off x="4133850" y="4212589"/>
            <a:ext cx="330200" cy="654050"/>
          </a:xfrm>
          <a:custGeom>
            <a:avLst/>
            <a:gdLst/>
            <a:ahLst/>
            <a:cxnLst/>
            <a:rect l="l" t="t" r="r" b="b"/>
            <a:pathLst>
              <a:path w="330200" h="654050">
                <a:moveTo>
                  <a:pt x="38100" y="0"/>
                </a:moveTo>
                <a:lnTo>
                  <a:pt x="292100" y="0"/>
                </a:lnTo>
                <a:arcTo wR="38100" hR="38100" stAng="16200000" swAng="5400000"/>
                <a:lnTo>
                  <a:pt x="330200" y="654050"/>
                </a:lnTo>
                <a:lnTo>
                  <a:pt x="0" y="654050"/>
                </a:lnTo>
                <a:lnTo>
                  <a:pt x="0" y="38100"/>
                </a:lnTo>
                <a:arcTo wR="38100" hR="38100" stAng="10800000" swAng="5400000"/>
                <a:close/>
              </a:path>
            </a:pathLst>
          </a:custGeom>
          <a:solidFill>
            <a:srgbClr val="EB6834"/>
          </a:solidFill>
          <a:ln/>
        </p:spPr>
      </p:sp>
      <p:sp>
        <p:nvSpPr>
          <p:cNvPr id="27" name="Text 25"/>
          <p:cNvSpPr/>
          <p:nvPr/>
        </p:nvSpPr>
        <p:spPr>
          <a:xfrm>
            <a:off x="4744958" y="4272282"/>
            <a:ext cx="23495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Public Sans" pitchFamily="34" charset="0"/>
                <a:ea typeface="Public Sans" pitchFamily="34" charset="-122"/>
                <a:cs typeface="Public Sans" pitchFamily="34" charset="-120"/>
              </a:rPr>
              <a:t>20</a:t>
            </a:r>
            <a:endParaRPr lang="en-US" sz="1200" dirty="0"/>
          </a:p>
        </p:txBody>
      </p:sp>
      <p:sp>
        <p:nvSpPr>
          <p:cNvPr id="28" name="Shape 26"/>
          <p:cNvSpPr/>
          <p:nvPr/>
        </p:nvSpPr>
        <p:spPr>
          <a:xfrm>
            <a:off x="4697333" y="4511039"/>
            <a:ext cx="330200" cy="355600"/>
          </a:xfrm>
          <a:custGeom>
            <a:avLst/>
            <a:gdLst/>
            <a:ahLst/>
            <a:cxnLst/>
            <a:rect l="l" t="t" r="r" b="b"/>
            <a:pathLst>
              <a:path w="330200" h="355600">
                <a:moveTo>
                  <a:pt x="38100" y="0"/>
                </a:moveTo>
                <a:lnTo>
                  <a:pt x="292100" y="0"/>
                </a:lnTo>
                <a:arcTo wR="38100" hR="38100" stAng="16200000" swAng="5400000"/>
                <a:lnTo>
                  <a:pt x="330200" y="355600"/>
                </a:lnTo>
                <a:lnTo>
                  <a:pt x="0" y="355600"/>
                </a:lnTo>
                <a:lnTo>
                  <a:pt x="0" y="38100"/>
                </a:lnTo>
                <a:arcTo wR="38100" hR="38100" stAng="10800000" swAng="5400000"/>
                <a:close/>
              </a:path>
            </a:pathLst>
          </a:custGeom>
          <a:solidFill>
            <a:srgbClr val="2A78D6"/>
          </a:solidFill>
          <a:ln/>
        </p:spPr>
      </p:sp>
      <p:sp>
        <p:nvSpPr>
          <p:cNvPr id="29" name="Text 27"/>
          <p:cNvSpPr/>
          <p:nvPr/>
        </p:nvSpPr>
        <p:spPr>
          <a:xfrm>
            <a:off x="5126831" y="4342132"/>
            <a:ext cx="207724"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Public Sans" pitchFamily="34" charset="0"/>
                <a:ea typeface="Public Sans" pitchFamily="34" charset="-122"/>
                <a:cs typeface="Public Sans" pitchFamily="34" charset="-120"/>
              </a:rPr>
              <a:t>16</a:t>
            </a:r>
            <a:endParaRPr lang="en-US" sz="1200" dirty="0"/>
          </a:p>
        </p:txBody>
      </p:sp>
      <p:sp>
        <p:nvSpPr>
          <p:cNvPr id="30" name="Shape 28"/>
          <p:cNvSpPr/>
          <p:nvPr/>
        </p:nvSpPr>
        <p:spPr>
          <a:xfrm>
            <a:off x="5065633" y="4580889"/>
            <a:ext cx="330200" cy="285750"/>
          </a:xfrm>
          <a:custGeom>
            <a:avLst/>
            <a:gdLst/>
            <a:ahLst/>
            <a:cxnLst/>
            <a:rect l="l" t="t" r="r" b="b"/>
            <a:pathLst>
              <a:path w="330200" h="285750">
                <a:moveTo>
                  <a:pt x="38100" y="0"/>
                </a:moveTo>
                <a:lnTo>
                  <a:pt x="292100" y="0"/>
                </a:lnTo>
                <a:arcTo wR="38100" hR="38100" stAng="16200000" swAng="5400000"/>
                <a:lnTo>
                  <a:pt x="330200" y="285750"/>
                </a:lnTo>
                <a:lnTo>
                  <a:pt x="0" y="285750"/>
                </a:lnTo>
                <a:lnTo>
                  <a:pt x="0" y="38100"/>
                </a:lnTo>
                <a:arcTo wR="38100" hR="38100" stAng="10800000" swAng="5400000"/>
                <a:close/>
              </a:path>
            </a:pathLst>
          </a:custGeom>
          <a:solidFill>
            <a:srgbClr val="EB6834"/>
          </a:solidFill>
          <a:ln/>
        </p:spPr>
      </p:sp>
      <p:sp>
        <p:nvSpPr>
          <p:cNvPr id="31" name="Text 29"/>
          <p:cNvSpPr/>
          <p:nvPr/>
        </p:nvSpPr>
        <p:spPr>
          <a:xfrm>
            <a:off x="5722938" y="4500882"/>
            <a:ext cx="142319"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Public Sans" pitchFamily="34" charset="0"/>
                <a:ea typeface="Public Sans" pitchFamily="34" charset="-122"/>
                <a:cs typeface="Public Sans" pitchFamily="34" charset="-120"/>
              </a:rPr>
              <a:t>7</a:t>
            </a:r>
            <a:endParaRPr lang="en-US" sz="1200" dirty="0"/>
          </a:p>
        </p:txBody>
      </p:sp>
      <p:sp>
        <p:nvSpPr>
          <p:cNvPr id="32" name="Shape 30"/>
          <p:cNvSpPr/>
          <p:nvPr/>
        </p:nvSpPr>
        <p:spPr>
          <a:xfrm>
            <a:off x="5629037" y="4739639"/>
            <a:ext cx="330200" cy="127000"/>
          </a:xfrm>
          <a:custGeom>
            <a:avLst/>
            <a:gdLst/>
            <a:ahLst/>
            <a:cxnLst/>
            <a:rect l="l" t="t" r="r" b="b"/>
            <a:pathLst>
              <a:path w="330200" h="127000">
                <a:moveTo>
                  <a:pt x="38100" y="0"/>
                </a:moveTo>
                <a:lnTo>
                  <a:pt x="292100" y="0"/>
                </a:lnTo>
                <a:arcTo wR="38100" hR="38100" stAng="16200000" swAng="5400000"/>
                <a:lnTo>
                  <a:pt x="330200" y="127000"/>
                </a:lnTo>
                <a:lnTo>
                  <a:pt x="0" y="127000"/>
                </a:lnTo>
                <a:lnTo>
                  <a:pt x="0" y="38100"/>
                </a:lnTo>
                <a:arcTo wR="38100" hR="38100" stAng="10800000" swAng="5400000"/>
                <a:close/>
              </a:path>
            </a:pathLst>
          </a:custGeom>
          <a:solidFill>
            <a:srgbClr val="2A78D6"/>
          </a:solidFill>
          <a:ln/>
        </p:spPr>
      </p:sp>
      <p:sp>
        <p:nvSpPr>
          <p:cNvPr id="33" name="Text 31"/>
          <p:cNvSpPr/>
          <p:nvPr/>
        </p:nvSpPr>
        <p:spPr>
          <a:xfrm>
            <a:off x="6059329" y="4450082"/>
            <a:ext cx="206137"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Public Sans" pitchFamily="34" charset="0"/>
                <a:ea typeface="Public Sans" pitchFamily="34" charset="-122"/>
                <a:cs typeface="Public Sans" pitchFamily="34" charset="-120"/>
              </a:rPr>
              <a:t>10</a:t>
            </a:r>
            <a:endParaRPr lang="en-US" sz="1200" dirty="0"/>
          </a:p>
        </p:txBody>
      </p:sp>
      <p:sp>
        <p:nvSpPr>
          <p:cNvPr id="34" name="Shape 32"/>
          <p:cNvSpPr/>
          <p:nvPr/>
        </p:nvSpPr>
        <p:spPr>
          <a:xfrm>
            <a:off x="5997337" y="4688839"/>
            <a:ext cx="330200" cy="177800"/>
          </a:xfrm>
          <a:custGeom>
            <a:avLst/>
            <a:gdLst/>
            <a:ahLst/>
            <a:cxnLst/>
            <a:rect l="l" t="t" r="r" b="b"/>
            <a:pathLst>
              <a:path w="330200" h="177800">
                <a:moveTo>
                  <a:pt x="38100" y="0"/>
                </a:moveTo>
                <a:lnTo>
                  <a:pt x="292100" y="0"/>
                </a:lnTo>
                <a:arcTo wR="38100" hR="38100" stAng="16200000" swAng="5400000"/>
                <a:lnTo>
                  <a:pt x="330200" y="177800"/>
                </a:lnTo>
                <a:lnTo>
                  <a:pt x="0" y="177800"/>
                </a:lnTo>
                <a:lnTo>
                  <a:pt x="0" y="38100"/>
                </a:lnTo>
                <a:arcTo wR="38100" hR="38100" stAng="10800000" swAng="5400000"/>
                <a:close/>
              </a:path>
            </a:pathLst>
          </a:custGeom>
          <a:solidFill>
            <a:srgbClr val="EB6834"/>
          </a:solidFill>
          <a:ln/>
        </p:spPr>
      </p:sp>
      <p:sp>
        <p:nvSpPr>
          <p:cNvPr id="35" name="Text 33"/>
          <p:cNvSpPr/>
          <p:nvPr/>
        </p:nvSpPr>
        <p:spPr>
          <a:xfrm>
            <a:off x="6651149" y="4488182"/>
            <a:ext cx="149543"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Public Sans" pitchFamily="34" charset="0"/>
                <a:ea typeface="Public Sans" pitchFamily="34" charset="-122"/>
                <a:cs typeface="Public Sans" pitchFamily="34" charset="-120"/>
              </a:rPr>
              <a:t>8</a:t>
            </a:r>
            <a:endParaRPr lang="en-US" sz="1200" dirty="0"/>
          </a:p>
        </p:txBody>
      </p:sp>
      <p:sp>
        <p:nvSpPr>
          <p:cNvPr id="36" name="Shape 34"/>
          <p:cNvSpPr/>
          <p:nvPr/>
        </p:nvSpPr>
        <p:spPr>
          <a:xfrm>
            <a:off x="6560820" y="4726939"/>
            <a:ext cx="330200" cy="139700"/>
          </a:xfrm>
          <a:custGeom>
            <a:avLst/>
            <a:gdLst/>
            <a:ahLst/>
            <a:cxnLst/>
            <a:rect l="l" t="t" r="r" b="b"/>
            <a:pathLst>
              <a:path w="330200" h="139700">
                <a:moveTo>
                  <a:pt x="38100" y="0"/>
                </a:moveTo>
                <a:lnTo>
                  <a:pt x="292100" y="0"/>
                </a:lnTo>
                <a:arcTo wR="38100" hR="38100" stAng="16200000" swAng="5400000"/>
                <a:lnTo>
                  <a:pt x="330200" y="139700"/>
                </a:lnTo>
                <a:lnTo>
                  <a:pt x="0" y="139700"/>
                </a:lnTo>
                <a:lnTo>
                  <a:pt x="0" y="38100"/>
                </a:lnTo>
                <a:arcTo wR="38100" hR="38100" stAng="10800000" swAng="5400000"/>
                <a:close/>
              </a:path>
            </a:pathLst>
          </a:custGeom>
          <a:solidFill>
            <a:srgbClr val="2A78D6"/>
          </a:solidFill>
          <a:ln/>
        </p:spPr>
      </p:sp>
      <p:sp>
        <p:nvSpPr>
          <p:cNvPr id="37" name="Text 35"/>
          <p:cNvSpPr/>
          <p:nvPr/>
        </p:nvSpPr>
        <p:spPr>
          <a:xfrm>
            <a:off x="7020878" y="4558032"/>
            <a:ext cx="146606"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Public Sans" pitchFamily="34" charset="0"/>
                <a:ea typeface="Public Sans" pitchFamily="34" charset="-122"/>
                <a:cs typeface="Public Sans" pitchFamily="34" charset="-120"/>
              </a:rPr>
              <a:t>4</a:t>
            </a:r>
            <a:endParaRPr lang="en-US" sz="1200" dirty="0"/>
          </a:p>
        </p:txBody>
      </p:sp>
      <p:sp>
        <p:nvSpPr>
          <p:cNvPr id="38" name="Shape 36"/>
          <p:cNvSpPr/>
          <p:nvPr/>
        </p:nvSpPr>
        <p:spPr>
          <a:xfrm>
            <a:off x="6929120" y="4796789"/>
            <a:ext cx="330200" cy="69850"/>
          </a:xfrm>
          <a:custGeom>
            <a:avLst/>
            <a:gdLst/>
            <a:ahLst/>
            <a:cxnLst/>
            <a:rect l="l" t="t" r="r" b="b"/>
            <a:pathLst>
              <a:path w="330200" h="69850">
                <a:moveTo>
                  <a:pt x="38100" y="0"/>
                </a:moveTo>
                <a:lnTo>
                  <a:pt x="292100" y="0"/>
                </a:lnTo>
                <a:arcTo wR="38100" hR="38100" stAng="16200000" swAng="5400000"/>
                <a:lnTo>
                  <a:pt x="330200" y="69850"/>
                </a:lnTo>
                <a:lnTo>
                  <a:pt x="0" y="69850"/>
                </a:lnTo>
                <a:lnTo>
                  <a:pt x="0" y="38100"/>
                </a:lnTo>
                <a:arcTo wR="38100" hR="38100" stAng="10800000" swAng="5400000"/>
                <a:close/>
              </a:path>
            </a:pathLst>
          </a:custGeom>
          <a:solidFill>
            <a:srgbClr val="EB6834"/>
          </a:solidFill>
          <a:ln/>
        </p:spPr>
      </p:sp>
      <p:sp>
        <p:nvSpPr>
          <p:cNvPr id="39" name="Text 37"/>
          <p:cNvSpPr/>
          <p:nvPr/>
        </p:nvSpPr>
        <p:spPr>
          <a:xfrm>
            <a:off x="944880" y="4953000"/>
            <a:ext cx="7493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7280"/>
                </a:solidFill>
                <a:latin typeface="Public Sans" pitchFamily="34" charset="0"/>
                <a:ea typeface="Public Sans" pitchFamily="34" charset="-122"/>
                <a:cs typeface="Public Sans" pitchFamily="34" charset="-120"/>
              </a:rPr>
              <a:t>0–4</a:t>
            </a:r>
            <a:endParaRPr lang="en-US" sz="1200" dirty="0"/>
          </a:p>
        </p:txBody>
      </p:sp>
      <p:sp>
        <p:nvSpPr>
          <p:cNvPr id="40" name="Text 38"/>
          <p:cNvSpPr/>
          <p:nvPr/>
        </p:nvSpPr>
        <p:spPr>
          <a:xfrm>
            <a:off x="1876663" y="4953000"/>
            <a:ext cx="7493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7280"/>
                </a:solidFill>
                <a:latin typeface="Public Sans" pitchFamily="34" charset="0"/>
                <a:ea typeface="Public Sans" pitchFamily="34" charset="-122"/>
                <a:cs typeface="Public Sans" pitchFamily="34" charset="-120"/>
              </a:rPr>
              <a:t>5–9</a:t>
            </a:r>
            <a:endParaRPr lang="en-US" sz="1200" dirty="0"/>
          </a:p>
        </p:txBody>
      </p:sp>
      <p:sp>
        <p:nvSpPr>
          <p:cNvPr id="41" name="Text 39"/>
          <p:cNvSpPr/>
          <p:nvPr/>
        </p:nvSpPr>
        <p:spPr>
          <a:xfrm>
            <a:off x="2808367" y="4953000"/>
            <a:ext cx="7493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7280"/>
                </a:solidFill>
                <a:latin typeface="Public Sans" pitchFamily="34" charset="0"/>
                <a:ea typeface="Public Sans" pitchFamily="34" charset="-122"/>
                <a:cs typeface="Public Sans" pitchFamily="34" charset="-120"/>
              </a:rPr>
              <a:t>10–14</a:t>
            </a:r>
            <a:endParaRPr lang="en-US" sz="1200" dirty="0"/>
          </a:p>
        </p:txBody>
      </p:sp>
      <p:sp>
        <p:nvSpPr>
          <p:cNvPr id="42" name="Text 40"/>
          <p:cNvSpPr/>
          <p:nvPr/>
        </p:nvSpPr>
        <p:spPr>
          <a:xfrm>
            <a:off x="3740150" y="4953000"/>
            <a:ext cx="7493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7280"/>
                </a:solidFill>
                <a:latin typeface="Public Sans" pitchFamily="34" charset="0"/>
                <a:ea typeface="Public Sans" pitchFamily="34" charset="-122"/>
                <a:cs typeface="Public Sans" pitchFamily="34" charset="-120"/>
              </a:rPr>
              <a:t>15–19</a:t>
            </a:r>
            <a:endParaRPr lang="en-US" sz="1200" dirty="0"/>
          </a:p>
        </p:txBody>
      </p:sp>
      <p:sp>
        <p:nvSpPr>
          <p:cNvPr id="43" name="Text 41"/>
          <p:cNvSpPr/>
          <p:nvPr/>
        </p:nvSpPr>
        <p:spPr>
          <a:xfrm>
            <a:off x="4671933" y="4953000"/>
            <a:ext cx="7493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7280"/>
                </a:solidFill>
                <a:latin typeface="Public Sans" pitchFamily="34" charset="0"/>
                <a:ea typeface="Public Sans" pitchFamily="34" charset="-122"/>
                <a:cs typeface="Public Sans" pitchFamily="34" charset="-120"/>
              </a:rPr>
              <a:t>20–24</a:t>
            </a:r>
            <a:endParaRPr lang="en-US" sz="1200" dirty="0"/>
          </a:p>
        </p:txBody>
      </p:sp>
      <p:sp>
        <p:nvSpPr>
          <p:cNvPr id="44" name="Text 42"/>
          <p:cNvSpPr/>
          <p:nvPr/>
        </p:nvSpPr>
        <p:spPr>
          <a:xfrm>
            <a:off x="5603637" y="4953000"/>
            <a:ext cx="7493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7280"/>
                </a:solidFill>
                <a:latin typeface="Public Sans" pitchFamily="34" charset="0"/>
                <a:ea typeface="Public Sans" pitchFamily="34" charset="-122"/>
                <a:cs typeface="Public Sans" pitchFamily="34" charset="-120"/>
              </a:rPr>
              <a:t>25–29</a:t>
            </a:r>
            <a:endParaRPr lang="en-US" sz="1200" dirty="0"/>
          </a:p>
        </p:txBody>
      </p:sp>
      <p:sp>
        <p:nvSpPr>
          <p:cNvPr id="45" name="Text 43"/>
          <p:cNvSpPr/>
          <p:nvPr/>
        </p:nvSpPr>
        <p:spPr>
          <a:xfrm>
            <a:off x="6535420" y="4953000"/>
            <a:ext cx="7493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7280"/>
                </a:solidFill>
                <a:latin typeface="Public Sans" pitchFamily="34" charset="0"/>
                <a:ea typeface="Public Sans" pitchFamily="34" charset="-122"/>
                <a:cs typeface="Public Sans" pitchFamily="34" charset="-120"/>
              </a:rPr>
              <a:t>30+</a:t>
            </a:r>
            <a:endParaRPr lang="en-US" sz="1200" dirty="0"/>
          </a:p>
        </p:txBody>
      </p:sp>
      <p:sp>
        <p:nvSpPr>
          <p:cNvPr id="46" name="Text 44"/>
          <p:cNvSpPr/>
          <p:nvPr/>
        </p:nvSpPr>
        <p:spPr>
          <a:xfrm>
            <a:off x="970280" y="5242561"/>
            <a:ext cx="647771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Public Sans" pitchFamily="34" charset="0"/>
                <a:ea typeface="Public Sans" pitchFamily="34" charset="-122"/>
                <a:cs typeface="Public Sans" pitchFamily="34" charset="-120"/>
              </a:rPr>
              <a:t>h-index from each faculty member’s 2016–2026 papers · faculty with at least one paper</a:t>
            </a:r>
            <a:endParaRPr lang="en-US" sz="1200" dirty="0"/>
          </a:p>
        </p:txBody>
      </p:sp>
      <p:sp>
        <p:nvSpPr>
          <p:cNvPr id="47" name="Shape 45"/>
          <p:cNvSpPr/>
          <p:nvPr/>
        </p:nvSpPr>
        <p:spPr>
          <a:xfrm>
            <a:off x="7623175" y="1583057"/>
            <a:ext cx="3752850" cy="1182370"/>
          </a:xfrm>
          <a:prstGeom prst="roundRect">
            <a:avLst>
              <a:gd name="adj" fmla="val 10473"/>
            </a:avLst>
          </a:prstGeom>
          <a:solidFill>
            <a:srgbClr val="FDFCFA"/>
          </a:solidFill>
          <a:ln w="6350">
            <a:solidFill>
              <a:srgbClr val="E4E1D8"/>
            </a:solidFill>
            <a:prstDash val="solid"/>
          </a:ln>
        </p:spPr>
      </p:sp>
      <p:sp>
        <p:nvSpPr>
          <p:cNvPr id="48" name="Text 46"/>
          <p:cNvSpPr/>
          <p:nvPr/>
        </p:nvSpPr>
        <p:spPr>
          <a:xfrm>
            <a:off x="7802880" y="1711961"/>
            <a:ext cx="349524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Median h-index, 2016–2026</a:t>
            </a:r>
            <a:endParaRPr lang="en-US" sz="1200" dirty="0"/>
          </a:p>
        </p:txBody>
      </p:sp>
      <p:sp>
        <p:nvSpPr>
          <p:cNvPr id="49" name="Text 47"/>
          <p:cNvSpPr/>
          <p:nvPr/>
        </p:nvSpPr>
        <p:spPr>
          <a:xfrm>
            <a:off x="7802880" y="1950721"/>
            <a:ext cx="3495243"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2A78D6"/>
                </a:solidFill>
                <a:latin typeface="Space Grotesk" pitchFamily="34" charset="0"/>
                <a:ea typeface="Space Grotesk" pitchFamily="34" charset="-122"/>
                <a:cs typeface="Space Grotesk" pitchFamily="34" charset="-120"/>
              </a:rPr>
              <a:t>7</a:t>
            </a:r>
            <a:r>
              <a:rPr lang="en-US" sz="3200" b="1" dirty="0">
                <a:solidFill>
                  <a:srgbClr val="14213D"/>
                </a:solidFill>
                <a:latin typeface="Space Grotesk" pitchFamily="34" charset="0"/>
                <a:ea typeface="Space Grotesk" pitchFamily="34" charset="-122"/>
                <a:cs typeface="Space Grotesk" pitchFamily="34" charset="-120"/>
              </a:rPr>
              <a:t> vs </a:t>
            </a:r>
            <a:r>
              <a:rPr lang="en-US" sz="3200" b="1" dirty="0">
                <a:solidFill>
                  <a:srgbClr val="EB6834"/>
                </a:solidFill>
                <a:latin typeface="Space Grotesk" pitchFamily="34" charset="0"/>
                <a:ea typeface="Space Grotesk" pitchFamily="34" charset="-122"/>
                <a:cs typeface="Space Grotesk" pitchFamily="34" charset="-120"/>
              </a:rPr>
              <a:t>9</a:t>
            </a:r>
            <a:endParaRPr lang="en-US" sz="3200" dirty="0"/>
          </a:p>
        </p:txBody>
      </p:sp>
      <p:sp>
        <p:nvSpPr>
          <p:cNvPr id="50" name="Text 48"/>
          <p:cNvSpPr/>
          <p:nvPr/>
        </p:nvSpPr>
        <p:spPr>
          <a:xfrm>
            <a:off x="7802880" y="2423161"/>
            <a:ext cx="349524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Public Sans" pitchFamily="34" charset="0"/>
                <a:ea typeface="Public Sans" pitchFamily="34" charset="-122"/>
                <a:cs typeface="Public Sans" pitchFamily="34" charset="-120"/>
              </a:rPr>
              <a:t>Mann–Whitney p = 0.009</a:t>
            </a:r>
            <a:endParaRPr lang="en-US" sz="1200" dirty="0"/>
          </a:p>
        </p:txBody>
      </p:sp>
      <p:sp>
        <p:nvSpPr>
          <p:cNvPr id="51" name="Shape 49"/>
          <p:cNvSpPr/>
          <p:nvPr/>
        </p:nvSpPr>
        <p:spPr>
          <a:xfrm>
            <a:off x="7623175" y="2873375"/>
            <a:ext cx="3752850" cy="1365250"/>
          </a:xfrm>
          <a:prstGeom prst="roundRect">
            <a:avLst>
              <a:gd name="adj" fmla="val 9070"/>
            </a:avLst>
          </a:prstGeom>
          <a:solidFill>
            <a:srgbClr val="FDFCFA"/>
          </a:solidFill>
          <a:ln w="6350">
            <a:solidFill>
              <a:srgbClr val="E4E1D8"/>
            </a:solidFill>
            <a:prstDash val="solid"/>
          </a:ln>
        </p:spPr>
      </p:sp>
      <p:sp>
        <p:nvSpPr>
          <p:cNvPr id="52" name="Text 50"/>
          <p:cNvSpPr/>
          <p:nvPr/>
        </p:nvSpPr>
        <p:spPr>
          <a:xfrm>
            <a:off x="7802880" y="3002282"/>
            <a:ext cx="349524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Median papers per faculty member</a:t>
            </a:r>
            <a:endParaRPr lang="en-US" sz="1200" dirty="0"/>
          </a:p>
        </p:txBody>
      </p:sp>
      <p:sp>
        <p:nvSpPr>
          <p:cNvPr id="53" name="Text 51"/>
          <p:cNvSpPr/>
          <p:nvPr/>
        </p:nvSpPr>
        <p:spPr>
          <a:xfrm>
            <a:off x="7802880" y="3241039"/>
            <a:ext cx="3495243"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2A78D6"/>
                </a:solidFill>
                <a:latin typeface="Space Grotesk" pitchFamily="34" charset="0"/>
                <a:ea typeface="Space Grotesk" pitchFamily="34" charset="-122"/>
                <a:cs typeface="Space Grotesk" pitchFamily="34" charset="-120"/>
              </a:rPr>
              <a:t>19</a:t>
            </a:r>
            <a:r>
              <a:rPr lang="en-US" sz="3200" b="1" dirty="0">
                <a:solidFill>
                  <a:srgbClr val="14213D"/>
                </a:solidFill>
                <a:latin typeface="Space Grotesk" pitchFamily="34" charset="0"/>
                <a:ea typeface="Space Grotesk" pitchFamily="34" charset="-122"/>
                <a:cs typeface="Space Grotesk" pitchFamily="34" charset="-120"/>
              </a:rPr>
              <a:t> vs </a:t>
            </a:r>
            <a:r>
              <a:rPr lang="en-US" sz="3200" b="1" dirty="0">
                <a:solidFill>
                  <a:srgbClr val="EB6834"/>
                </a:solidFill>
                <a:latin typeface="Space Grotesk" pitchFamily="34" charset="0"/>
                <a:ea typeface="Space Grotesk" pitchFamily="34" charset="-122"/>
                <a:cs typeface="Space Grotesk" pitchFamily="34" charset="-120"/>
              </a:rPr>
              <a:t>31</a:t>
            </a:r>
            <a:endParaRPr lang="en-US" sz="3200" dirty="0"/>
          </a:p>
        </p:txBody>
      </p:sp>
      <p:sp>
        <p:nvSpPr>
          <p:cNvPr id="54" name="Text 52"/>
          <p:cNvSpPr/>
          <p:nvPr/>
        </p:nvSpPr>
        <p:spPr>
          <a:xfrm>
            <a:off x="7802880" y="3713482"/>
            <a:ext cx="3495243"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6B7280"/>
                </a:solidFill>
                <a:latin typeface="Public Sans" pitchFamily="34" charset="0"/>
                <a:ea typeface="Public Sans" pitchFamily="34" charset="-122"/>
                <a:cs typeface="Public Sans" pitchFamily="34" charset="-120"/>
              </a:rPr>
              <a:t>p &lt; 0.001; mean FWCI per person is not different (p = 0.15)</a:t>
            </a:r>
            <a:endParaRPr lang="en-US" sz="1200" dirty="0"/>
          </a:p>
        </p:txBody>
      </p:sp>
      <p:sp>
        <p:nvSpPr>
          <p:cNvPr id="55" name="Shape 53"/>
          <p:cNvSpPr/>
          <p:nvPr/>
        </p:nvSpPr>
        <p:spPr>
          <a:xfrm>
            <a:off x="7623175" y="4346575"/>
            <a:ext cx="3752850" cy="1263650"/>
          </a:xfrm>
          <a:prstGeom prst="roundRect">
            <a:avLst>
              <a:gd name="adj" fmla="val 9799"/>
            </a:avLst>
          </a:prstGeom>
          <a:solidFill>
            <a:srgbClr val="FDFCFA"/>
          </a:solidFill>
          <a:ln w="6350">
            <a:solidFill>
              <a:srgbClr val="E4E1D8"/>
            </a:solidFill>
            <a:prstDash val="solid"/>
          </a:ln>
        </p:spPr>
      </p:sp>
      <p:sp>
        <p:nvSpPr>
          <p:cNvPr id="56" name="Text 54"/>
          <p:cNvSpPr/>
          <p:nvPr/>
        </p:nvSpPr>
        <p:spPr>
          <a:xfrm>
            <a:off x="7802880" y="4475482"/>
            <a:ext cx="349524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Public Sans" pitchFamily="34" charset="0"/>
                <a:ea typeface="Public Sans" pitchFamily="34" charset="-122"/>
                <a:cs typeface="Public Sans" pitchFamily="34" charset="-120"/>
              </a:rPr>
              <a:t>Top-ranked faculty (7-measure score)</a:t>
            </a:r>
            <a:endParaRPr lang="en-US" sz="1200" dirty="0"/>
          </a:p>
        </p:txBody>
      </p:sp>
      <p:sp>
        <p:nvSpPr>
          <p:cNvPr id="57" name="Text 55"/>
          <p:cNvSpPr/>
          <p:nvPr/>
        </p:nvSpPr>
        <p:spPr>
          <a:xfrm>
            <a:off x="7802880" y="4739639"/>
            <a:ext cx="349524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1 · Ramesh M R · </a:t>
            </a:r>
            <a:r>
              <a:rPr lang="en-US" sz="1200" dirty="0">
                <a:solidFill>
                  <a:srgbClr val="B34A1C"/>
                </a:solidFill>
                <a:latin typeface="Public Sans" pitchFamily="34" charset="0"/>
                <a:ea typeface="Public Sans" pitchFamily="34" charset="-122"/>
                <a:cs typeface="Public Sans" pitchFamily="34" charset="-120"/>
              </a:rPr>
              <a:t>Surathkal</a:t>
            </a:r>
            <a:r>
              <a:rPr lang="en-US" sz="1200" dirty="0">
                <a:solidFill>
                  <a:srgbClr val="4A5568"/>
                </a:solidFill>
                <a:latin typeface="Public Sans" pitchFamily="34" charset="0"/>
                <a:ea typeface="Public Sans" pitchFamily="34" charset="-122"/>
                <a:cs typeface="Public Sans" pitchFamily="34" charset="-120"/>
              </a:rPr>
              <a:t> · Mech.</a:t>
            </a:r>
            <a:endParaRPr lang="en-US" sz="1200" dirty="0"/>
          </a:p>
        </p:txBody>
      </p:sp>
      <p:sp>
        <p:nvSpPr>
          <p:cNvPr id="58" name="Text 56"/>
          <p:cNvSpPr/>
          <p:nvPr/>
        </p:nvSpPr>
        <p:spPr>
          <a:xfrm>
            <a:off x="7802880" y="5003800"/>
            <a:ext cx="349524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2 · S Suresh · </a:t>
            </a:r>
            <a:r>
              <a:rPr lang="en-US" sz="1200" dirty="0">
                <a:solidFill>
                  <a:srgbClr val="1F63B8"/>
                </a:solidFill>
                <a:latin typeface="Public Sans" pitchFamily="34" charset="0"/>
                <a:ea typeface="Public Sans" pitchFamily="34" charset="-122"/>
                <a:cs typeface="Public Sans" pitchFamily="34" charset="-120"/>
              </a:rPr>
              <a:t>Trichy</a:t>
            </a:r>
            <a:r>
              <a:rPr lang="en-US" sz="1200" dirty="0">
                <a:solidFill>
                  <a:srgbClr val="4A5568"/>
                </a:solidFill>
                <a:latin typeface="Public Sans" pitchFamily="34" charset="0"/>
                <a:ea typeface="Public Sans" pitchFamily="34" charset="-122"/>
                <a:cs typeface="Public Sans" pitchFamily="34" charset="-120"/>
              </a:rPr>
              <a:t> · Mech.</a:t>
            </a:r>
            <a:endParaRPr lang="en-US" sz="1200" dirty="0"/>
          </a:p>
        </p:txBody>
      </p:sp>
      <p:sp>
        <p:nvSpPr>
          <p:cNvPr id="59" name="Text 57"/>
          <p:cNvSpPr/>
          <p:nvPr/>
        </p:nvSpPr>
        <p:spPr>
          <a:xfrm>
            <a:off x="7802880" y="5267961"/>
            <a:ext cx="349524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3 · D Krishna Bhat · </a:t>
            </a:r>
            <a:r>
              <a:rPr lang="en-US" sz="1200" dirty="0">
                <a:solidFill>
                  <a:srgbClr val="B34A1C"/>
                </a:solidFill>
                <a:latin typeface="Public Sans" pitchFamily="34" charset="0"/>
                <a:ea typeface="Public Sans" pitchFamily="34" charset="-122"/>
                <a:cs typeface="Public Sans" pitchFamily="34" charset="-120"/>
              </a:rPr>
              <a:t>Surathkal</a:t>
            </a:r>
            <a:r>
              <a:rPr lang="en-US" sz="1200" dirty="0">
                <a:solidFill>
                  <a:srgbClr val="4A5568"/>
                </a:solidFill>
                <a:latin typeface="Public Sans" pitchFamily="34" charset="0"/>
                <a:ea typeface="Public Sans" pitchFamily="34" charset="-122"/>
                <a:cs typeface="Public Sans" pitchFamily="34" charset="-120"/>
              </a:rPr>
              <a:t> · Chem.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176371"/>
          </a:xfrm>
          <a:prstGeom prst="rect">
            <a:avLst/>
          </a:prstGeom>
          <a:noFill/>
          <a:ln/>
        </p:spPr>
        <p:txBody>
          <a:bodyPr wrap="square" lIns="0" tIns="0" rIns="0" bIns="0" rtlCol="0" anchor="t">
            <a:normAutofit/>
          </a:bodyPr>
          <a:lstStyle/>
          <a:p>
            <a:pPr marL="0" indent="0" algn="l">
              <a:lnSpc>
                <a:spcPts val="1223"/>
              </a:lnSpc>
              <a:buNone/>
            </a:pPr>
            <a:r>
              <a:rPr lang="en-US" sz="874" b="1" kern="0" spc="150" dirty="0">
                <a:solidFill>
                  <a:srgbClr val="5B4BC4"/>
                </a:solidFill>
                <a:latin typeface="Public Sans" pitchFamily="34" charset="0"/>
                <a:ea typeface="Public Sans" pitchFamily="34" charset="-122"/>
                <a:cs typeface="Public Sans" pitchFamily="34" charset="-120"/>
              </a:rPr>
              <a:t>06 · CITATION NETWORK</a:t>
            </a:r>
            <a:endParaRPr lang="en-US" sz="874" dirty="0"/>
          </a:p>
        </p:txBody>
      </p:sp>
      <p:sp>
        <p:nvSpPr>
          <p:cNvPr id="3" name="Text 1"/>
          <p:cNvSpPr>
            <a:spLocks noGrp="1"/>
          </p:cNvSpPr>
          <p:nvPr>
            <p:ph type="title"/>
          </p:nvPr>
        </p:nvSpPr>
        <p:spPr>
          <a:xfrm>
            <a:off x="812800" y="912971"/>
            <a:ext cx="10883392" cy="327422"/>
          </a:xfrm>
          <a:prstGeom prst="rect">
            <a:avLst/>
          </a:prstGeom>
          <a:noFill/>
          <a:ln/>
        </p:spPr>
        <p:txBody>
          <a:bodyPr wrap="square" lIns="0" tIns="0" rIns="0" bIns="0" rtlCol="0" anchor="t">
            <a:normAutofit/>
          </a:bodyPr>
          <a:lstStyle/>
          <a:p>
            <a:pPr marL="0" indent="0" algn="l">
              <a:lnSpc>
                <a:spcPts val="2415"/>
              </a:lnSpc>
              <a:buNone/>
            </a:pPr>
            <a:r>
              <a:rPr lang="en-US" sz="2300" b="1" i="0" kern="0" spc="-50" dirty="0">
                <a:solidFill>
                  <a:srgbClr val="14213D"/>
                </a:solidFill>
                <a:latin typeface="Space Grotesk" pitchFamily="34" charset="0"/>
                <a:ea typeface="Space Grotesk" pitchFamily="34" charset="-122"/>
                <a:cs typeface="Space Grotesk" pitchFamily="34" charset="-120"/>
              </a:rPr>
              <a:t>A few papers draw most internal citations</a:t>
            </a:r>
            <a:endParaRPr lang="en-US" sz="2300" dirty="0"/>
          </a:p>
        </p:txBody>
      </p:sp>
      <p:sp>
        <p:nvSpPr>
          <p:cNvPr id="4" name="Shape 2"/>
          <p:cNvSpPr/>
          <p:nvPr/>
        </p:nvSpPr>
        <p:spPr>
          <a:xfrm>
            <a:off x="815975" y="1395968"/>
            <a:ext cx="3930650" cy="4646057"/>
          </a:xfrm>
          <a:prstGeom prst="roundRect">
            <a:avLst>
              <a:gd name="adj" fmla="val 3150"/>
            </a:avLst>
          </a:prstGeom>
          <a:solidFill>
            <a:srgbClr val="FDFCFA"/>
          </a:solidFill>
          <a:ln w="6350">
            <a:solidFill>
              <a:srgbClr val="E4E1D8"/>
            </a:solidFill>
            <a:prstDash val="solid"/>
          </a:ln>
        </p:spPr>
      </p:sp>
      <p:sp>
        <p:nvSpPr>
          <p:cNvPr id="5" name="Text 3"/>
          <p:cNvSpPr/>
          <p:nvPr/>
        </p:nvSpPr>
        <p:spPr>
          <a:xfrm>
            <a:off x="970280" y="1550274"/>
            <a:ext cx="3730701"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3D"/>
                </a:solidFill>
                <a:latin typeface="Public Sans" pitchFamily="34" charset="0"/>
                <a:ea typeface="Public Sans" pitchFamily="34" charset="-122"/>
                <a:cs typeface="Public Sans" pitchFamily="34" charset="-120"/>
              </a:rPr>
              <a:t>In-degree distribution</a:t>
            </a:r>
            <a:endParaRPr lang="en-US" sz="1400" dirty="0"/>
          </a:p>
        </p:txBody>
      </p:sp>
      <p:pic>
        <p:nvPicPr>
          <p:cNvPr id="6" name="Image 0" descr="Log-log scatter plot of in-degree: about 3,000 papers are cited once by our papers, and the count falls steadily to single papers cited 30 to 40 times."/>
          <p:cNvPicPr>
            <a:picLocks noChangeAspect="1"/>
          </p:cNvPicPr>
          <p:nvPr/>
        </p:nvPicPr>
        <p:blipFill>
          <a:blip r:embed="rId3"/>
          <a:srcRect/>
          <a:stretch/>
        </p:blipFill>
        <p:spPr>
          <a:xfrm>
            <a:off x="970280" y="1827135"/>
            <a:ext cx="3632200" cy="2413000"/>
          </a:xfrm>
          <a:prstGeom prst="rect">
            <a:avLst/>
          </a:prstGeom>
        </p:spPr>
      </p:pic>
      <p:sp>
        <p:nvSpPr>
          <p:cNvPr id="7" name="Text 4"/>
          <p:cNvSpPr/>
          <p:nvPr/>
        </p:nvSpPr>
        <p:spPr>
          <a:xfrm>
            <a:off x="919480" y="4005185"/>
            <a:ext cx="4064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Public Sans" pitchFamily="34" charset="0"/>
                <a:ea typeface="Public Sans" pitchFamily="34" charset="-122"/>
                <a:cs typeface="Public Sans" pitchFamily="34" charset="-120"/>
              </a:rPr>
              <a:t>1</a:t>
            </a:r>
            <a:endParaRPr lang="en-US" sz="1200" dirty="0"/>
          </a:p>
        </p:txBody>
      </p:sp>
      <p:sp>
        <p:nvSpPr>
          <p:cNvPr id="8" name="Text 5"/>
          <p:cNvSpPr/>
          <p:nvPr/>
        </p:nvSpPr>
        <p:spPr>
          <a:xfrm>
            <a:off x="919480" y="3420985"/>
            <a:ext cx="4064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Public Sans" pitchFamily="34" charset="0"/>
                <a:ea typeface="Public Sans" pitchFamily="34" charset="-122"/>
                <a:cs typeface="Public Sans" pitchFamily="34" charset="-120"/>
              </a:rPr>
              <a:t>10</a:t>
            </a:r>
            <a:endParaRPr lang="en-US" sz="1200" dirty="0"/>
          </a:p>
        </p:txBody>
      </p:sp>
      <p:sp>
        <p:nvSpPr>
          <p:cNvPr id="9" name="Text 6"/>
          <p:cNvSpPr/>
          <p:nvPr/>
        </p:nvSpPr>
        <p:spPr>
          <a:xfrm>
            <a:off x="919480" y="2836785"/>
            <a:ext cx="4064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Public Sans" pitchFamily="34" charset="0"/>
                <a:ea typeface="Public Sans" pitchFamily="34" charset="-122"/>
                <a:cs typeface="Public Sans" pitchFamily="34" charset="-120"/>
              </a:rPr>
              <a:t>100</a:t>
            </a:r>
            <a:endParaRPr lang="en-US" sz="1200" dirty="0"/>
          </a:p>
        </p:txBody>
      </p:sp>
      <p:sp>
        <p:nvSpPr>
          <p:cNvPr id="10" name="Text 7"/>
          <p:cNvSpPr/>
          <p:nvPr/>
        </p:nvSpPr>
        <p:spPr>
          <a:xfrm>
            <a:off x="919480" y="2252585"/>
            <a:ext cx="406400" cy="4521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Public Sans" pitchFamily="34" charset="0"/>
                <a:ea typeface="Public Sans" pitchFamily="34" charset="-122"/>
                <a:cs typeface="Public Sans" pitchFamily="34" charset="-120"/>
              </a:rPr>
              <a:t>1,000</a:t>
            </a:r>
            <a:endParaRPr lang="en-US" sz="1200" dirty="0"/>
          </a:p>
        </p:txBody>
      </p:sp>
      <p:sp>
        <p:nvSpPr>
          <p:cNvPr id="11" name="Text 8"/>
          <p:cNvSpPr/>
          <p:nvPr/>
        </p:nvSpPr>
        <p:spPr>
          <a:xfrm>
            <a:off x="1198880" y="4252835"/>
            <a:ext cx="431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7280"/>
                </a:solidFill>
                <a:latin typeface="Public Sans" pitchFamily="34" charset="0"/>
                <a:ea typeface="Public Sans" pitchFamily="34" charset="-122"/>
                <a:cs typeface="Public Sans" pitchFamily="34" charset="-120"/>
              </a:rPr>
              <a:t>1</a:t>
            </a:r>
            <a:endParaRPr lang="en-US" sz="1200" dirty="0"/>
          </a:p>
        </p:txBody>
      </p:sp>
      <p:sp>
        <p:nvSpPr>
          <p:cNvPr id="12" name="Text 9"/>
          <p:cNvSpPr/>
          <p:nvPr/>
        </p:nvSpPr>
        <p:spPr>
          <a:xfrm>
            <a:off x="3103880" y="4252835"/>
            <a:ext cx="431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7280"/>
                </a:solidFill>
                <a:latin typeface="Public Sans" pitchFamily="34" charset="0"/>
                <a:ea typeface="Public Sans" pitchFamily="34" charset="-122"/>
                <a:cs typeface="Public Sans" pitchFamily="34" charset="-120"/>
              </a:rPr>
              <a:t>10</a:t>
            </a:r>
            <a:endParaRPr lang="en-US" sz="1200" dirty="0"/>
          </a:p>
        </p:txBody>
      </p:sp>
      <p:sp>
        <p:nvSpPr>
          <p:cNvPr id="13" name="Text 10"/>
          <p:cNvSpPr/>
          <p:nvPr/>
        </p:nvSpPr>
        <p:spPr>
          <a:xfrm>
            <a:off x="4253230" y="4252835"/>
            <a:ext cx="431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B7280"/>
                </a:solidFill>
                <a:latin typeface="Public Sans" pitchFamily="34" charset="0"/>
                <a:ea typeface="Public Sans" pitchFamily="34" charset="-122"/>
                <a:cs typeface="Public Sans" pitchFamily="34" charset="-120"/>
              </a:rPr>
              <a:t>40</a:t>
            </a:r>
            <a:endParaRPr lang="en-US" sz="1200" dirty="0"/>
          </a:p>
        </p:txBody>
      </p:sp>
      <p:sp>
        <p:nvSpPr>
          <p:cNvPr id="14" name="Text 11"/>
          <p:cNvSpPr/>
          <p:nvPr/>
        </p:nvSpPr>
        <p:spPr>
          <a:xfrm>
            <a:off x="970280" y="4557635"/>
            <a:ext cx="3730701" cy="8483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Public Sans" pitchFamily="34" charset="0"/>
                <a:ea typeface="Public Sans" pitchFamily="34" charset="-122"/>
                <a:cs typeface="Public Sans" pitchFamily="34" charset="-120"/>
              </a:rPr>
              <a:t>Papers (y) by how many of our papers cite them (x), log–log. 58% are never cited from inside; the tail is heavy, and a log-normal fits it better than a power law.</a:t>
            </a:r>
            <a:endParaRPr lang="en-US" sz="1200" dirty="0"/>
          </a:p>
        </p:txBody>
      </p:sp>
      <p:sp>
        <p:nvSpPr>
          <p:cNvPr id="15" name="Shape 12"/>
          <p:cNvSpPr/>
          <p:nvPr/>
        </p:nvSpPr>
        <p:spPr>
          <a:xfrm>
            <a:off x="4956175" y="1395968"/>
            <a:ext cx="6419850" cy="4646057"/>
          </a:xfrm>
          <a:prstGeom prst="roundRect">
            <a:avLst>
              <a:gd name="adj" fmla="val 2665"/>
            </a:avLst>
          </a:prstGeom>
          <a:solidFill>
            <a:srgbClr val="FDFCFA"/>
          </a:solidFill>
          <a:ln w="6350">
            <a:solidFill>
              <a:srgbClr val="E4E1D8"/>
            </a:solidFill>
            <a:prstDash val="solid"/>
          </a:ln>
        </p:spPr>
      </p:sp>
      <p:sp>
        <p:nvSpPr>
          <p:cNvPr id="16" name="Text 13"/>
          <p:cNvSpPr/>
          <p:nvPr/>
        </p:nvSpPr>
        <p:spPr>
          <a:xfrm>
            <a:off x="5110480" y="1550274"/>
            <a:ext cx="6294577" cy="177086"/>
          </a:xfrm>
          <a:prstGeom prst="rect">
            <a:avLst/>
          </a:prstGeom>
          <a:noFill/>
          <a:ln/>
        </p:spPr>
        <p:txBody>
          <a:bodyPr wrap="square" lIns="0" tIns="0" rIns="0" bIns="0" rtlCol="0" anchor="t">
            <a:normAutofit/>
          </a:bodyPr>
          <a:lstStyle/>
          <a:p>
            <a:pPr marL="0" indent="0" algn="l">
              <a:lnSpc>
                <a:spcPts val="1223"/>
              </a:lnSpc>
              <a:buNone/>
            </a:pPr>
            <a:r>
              <a:rPr lang="en-US" sz="1019" b="1" dirty="0">
                <a:solidFill>
                  <a:srgbClr val="14213D"/>
                </a:solidFill>
                <a:latin typeface="Public Sans" pitchFamily="34" charset="0"/>
                <a:ea typeface="Public Sans" pitchFamily="34" charset="-122"/>
                <a:cs typeface="Public Sans" pitchFamily="34" charset="-120"/>
              </a:rPr>
              <a:t>Top 10 papers by PageRank</a:t>
            </a:r>
            <a:endParaRPr lang="en-US" sz="1019"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120640" y="1788318"/>
          <a:ext cx="6101080" cy="4099405"/>
        </p:xfrm>
        <a:graphic>
          <a:graphicData uri="http://schemas.openxmlformats.org/drawingml/2006/table">
            <a:tbl>
              <a:tblPr/>
              <a:tblGrid>
                <a:gridCol w="305054">
                  <a:extLst>
                    <a:ext uri="{9D8B030D-6E8A-4147-A177-3AD203B41FA5}">
                      <a16:colId xmlns:a16="http://schemas.microsoft.com/office/drawing/2014/main" val="20000"/>
                    </a:ext>
                  </a:extLst>
                </a:gridCol>
                <a:gridCol w="3599637">
                  <a:extLst>
                    <a:ext uri="{9D8B030D-6E8A-4147-A177-3AD203B41FA5}">
                      <a16:colId xmlns:a16="http://schemas.microsoft.com/office/drawing/2014/main" val="20001"/>
                    </a:ext>
                  </a:extLst>
                </a:gridCol>
                <a:gridCol w="915162">
                  <a:extLst>
                    <a:ext uri="{9D8B030D-6E8A-4147-A177-3AD203B41FA5}">
                      <a16:colId xmlns:a16="http://schemas.microsoft.com/office/drawing/2014/main" val="20002"/>
                    </a:ext>
                  </a:extLst>
                </a:gridCol>
                <a:gridCol w="549097">
                  <a:extLst>
                    <a:ext uri="{9D8B030D-6E8A-4147-A177-3AD203B41FA5}">
                      <a16:colId xmlns:a16="http://schemas.microsoft.com/office/drawing/2014/main" val="20003"/>
                    </a:ext>
                  </a:extLst>
                </a:gridCol>
                <a:gridCol w="732130">
                  <a:extLst>
                    <a:ext uri="{9D8B030D-6E8A-4147-A177-3AD203B41FA5}">
                      <a16:colId xmlns:a16="http://schemas.microsoft.com/office/drawing/2014/main" val="20004"/>
                    </a:ext>
                  </a:extLst>
                </a:gridCol>
              </a:tblGrid>
              <a:tr h="355521">
                <a:tc>
                  <a:txBody>
                    <a:bodyPr/>
                    <a:lstStyle/>
                    <a:p>
                      <a:pPr marL="0" indent="0" algn="r">
                        <a:lnSpc>
                          <a:spcPts val="1486"/>
                        </a:lnSpc>
                        <a:buNone/>
                      </a:pPr>
                      <a:r>
                        <a:rPr lang="en-US" sz="1061" b="1" dirty="0">
                          <a:solidFill>
                            <a:srgbClr val="6B7280"/>
                          </a:solidFill>
                          <a:latin typeface="Public Sans" pitchFamily="34" charset="0"/>
                          <a:ea typeface="Public Sans" pitchFamily="34" charset="-122"/>
                          <a:cs typeface="Public Sans" pitchFamily="34" charset="-120"/>
                        </a:rPr>
                        <a:t>#</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BBBA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BBAB9"/>
                      </a:solidFill>
                      <a:prstDash val="solid"/>
                      <a:round/>
                      <a:headEnd type="none" w="med" len="med"/>
                      <a:tailEnd type="none" w="med" len="med"/>
                    </a:lnB>
                    <a:solidFill>
                      <a:srgbClr val="EAE9E8"/>
                    </a:solidFill>
                  </a:tcPr>
                </a:tc>
                <a:tc>
                  <a:txBody>
                    <a:bodyPr/>
                    <a:lstStyle/>
                    <a:p>
                      <a:pPr marL="0" indent="0">
                        <a:lnSpc>
                          <a:spcPts val="1486"/>
                        </a:lnSpc>
                        <a:buNone/>
                      </a:pPr>
                      <a:r>
                        <a:rPr lang="en-US" sz="1061" b="1" dirty="0">
                          <a:solidFill>
                            <a:srgbClr val="6B7280"/>
                          </a:solidFill>
                          <a:latin typeface="Public Sans" pitchFamily="34" charset="0"/>
                          <a:ea typeface="Public Sans" pitchFamily="34" charset="-122"/>
                          <a:cs typeface="Public Sans" pitchFamily="34" charset="-120"/>
                        </a:rPr>
                        <a:t>Title</a:t>
                      </a:r>
                      <a:endParaRPr lang="en-US" sz="1061" dirty="0">
                        <a:latin typeface="Public Sans" charset="0"/>
                        <a:ea typeface="Public Sans" charset="0"/>
                        <a:cs typeface="Public Sans" charset="0"/>
                      </a:endParaRPr>
                    </a:p>
                  </a:txBody>
                  <a:tcPr marL="47173" marR="47173" marT="47173" marB="47173">
                    <a:lnL w="12700" cap="flat" cmpd="sng" algn="ctr">
                      <a:solidFill>
                        <a:srgbClr val="BBBAB9"/>
                      </a:solidFill>
                      <a:prstDash val="solid"/>
                      <a:round/>
                      <a:headEnd type="none" w="med" len="med"/>
                      <a:tailEnd type="none" w="med" len="med"/>
                    </a:lnL>
                    <a:lnR w="12700" cap="flat" cmpd="sng" algn="ctr">
                      <a:solidFill>
                        <a:srgbClr val="BBBA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BBAB9"/>
                      </a:solidFill>
                      <a:prstDash val="solid"/>
                      <a:round/>
                      <a:headEnd type="none" w="med" len="med"/>
                      <a:tailEnd type="none" w="med" len="med"/>
                    </a:lnB>
                    <a:solidFill>
                      <a:srgbClr val="EAE9E8"/>
                    </a:solidFill>
                  </a:tcPr>
                </a:tc>
                <a:tc>
                  <a:txBody>
                    <a:bodyPr/>
                    <a:lstStyle/>
                    <a:p>
                      <a:pPr marL="0" indent="0">
                        <a:lnSpc>
                          <a:spcPts val="1486"/>
                        </a:lnSpc>
                        <a:buNone/>
                      </a:pPr>
                      <a:r>
                        <a:rPr lang="en-US" sz="1061" b="1" dirty="0">
                          <a:solidFill>
                            <a:srgbClr val="6B7280"/>
                          </a:solidFill>
                          <a:latin typeface="Public Sans" pitchFamily="34" charset="0"/>
                          <a:ea typeface="Public Sans" pitchFamily="34" charset="-122"/>
                          <a:cs typeface="Public Sans" pitchFamily="34" charset="-120"/>
                        </a:rPr>
                        <a:t>NIT</a:t>
                      </a:r>
                      <a:endParaRPr lang="en-US" sz="1061" dirty="0">
                        <a:latin typeface="Public Sans" charset="0"/>
                        <a:ea typeface="Public Sans" charset="0"/>
                        <a:cs typeface="Public Sans" charset="0"/>
                      </a:endParaRPr>
                    </a:p>
                  </a:txBody>
                  <a:tcPr marL="47173" marR="47173" marT="47173" marB="47173">
                    <a:lnL w="12700" cap="flat" cmpd="sng" algn="ctr">
                      <a:solidFill>
                        <a:srgbClr val="BBBAB9"/>
                      </a:solidFill>
                      <a:prstDash val="solid"/>
                      <a:round/>
                      <a:headEnd type="none" w="med" len="med"/>
                      <a:tailEnd type="none" w="med" len="med"/>
                    </a:lnL>
                    <a:lnR w="12700" cap="flat" cmpd="sng" algn="ctr">
                      <a:solidFill>
                        <a:srgbClr val="BBBA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BBAB9"/>
                      </a:solidFill>
                      <a:prstDash val="solid"/>
                      <a:round/>
                      <a:headEnd type="none" w="med" len="med"/>
                      <a:tailEnd type="none" w="med" len="med"/>
                    </a:lnB>
                    <a:solidFill>
                      <a:srgbClr val="EAE9E8"/>
                    </a:solidFill>
                  </a:tcPr>
                </a:tc>
                <a:tc>
                  <a:txBody>
                    <a:bodyPr/>
                    <a:lstStyle/>
                    <a:p>
                      <a:pPr marL="0" indent="0" algn="r">
                        <a:lnSpc>
                          <a:spcPts val="1486"/>
                        </a:lnSpc>
                        <a:buNone/>
                      </a:pPr>
                      <a:r>
                        <a:rPr lang="en-US" sz="1061" b="1" dirty="0">
                          <a:solidFill>
                            <a:srgbClr val="6B7280"/>
                          </a:solidFill>
                          <a:latin typeface="Public Sans" pitchFamily="34" charset="0"/>
                          <a:ea typeface="Public Sans" pitchFamily="34" charset="-122"/>
                          <a:cs typeface="Public Sans" pitchFamily="34" charset="-120"/>
                        </a:rPr>
                        <a:t>Year</a:t>
                      </a:r>
                      <a:endParaRPr lang="en-US" sz="1061" dirty="0">
                        <a:latin typeface="Public Sans" charset="0"/>
                        <a:ea typeface="Public Sans" charset="0"/>
                        <a:cs typeface="Public Sans" charset="0"/>
                      </a:endParaRPr>
                    </a:p>
                  </a:txBody>
                  <a:tcPr marL="47173" marR="47173" marT="47173" marB="47173">
                    <a:lnL w="12700" cap="flat" cmpd="sng" algn="ctr">
                      <a:solidFill>
                        <a:srgbClr val="BBBAB9"/>
                      </a:solidFill>
                      <a:prstDash val="solid"/>
                      <a:round/>
                      <a:headEnd type="none" w="med" len="med"/>
                      <a:tailEnd type="none" w="med" len="med"/>
                    </a:lnL>
                    <a:lnR w="12700" cap="flat" cmpd="sng" algn="ctr">
                      <a:solidFill>
                        <a:srgbClr val="BBBA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BBAB9"/>
                      </a:solidFill>
                      <a:prstDash val="solid"/>
                      <a:round/>
                      <a:headEnd type="none" w="med" len="med"/>
                      <a:tailEnd type="none" w="med" len="med"/>
                    </a:lnB>
                    <a:solidFill>
                      <a:srgbClr val="EAE9E8"/>
                    </a:solidFill>
                  </a:tcPr>
                </a:tc>
                <a:tc>
                  <a:txBody>
                    <a:bodyPr/>
                    <a:lstStyle/>
                    <a:p>
                      <a:pPr marL="0" indent="0" algn="r">
                        <a:lnSpc>
                          <a:spcPts val="1486"/>
                        </a:lnSpc>
                        <a:buNone/>
                      </a:pPr>
                      <a:r>
                        <a:rPr lang="en-US" sz="1061" b="1" dirty="0">
                          <a:solidFill>
                            <a:srgbClr val="6B7280"/>
                          </a:solidFill>
                          <a:latin typeface="Public Sans" pitchFamily="34" charset="0"/>
                          <a:ea typeface="Public Sans" pitchFamily="34" charset="-122"/>
                          <a:cs typeface="Public Sans" pitchFamily="34" charset="-120"/>
                        </a:rPr>
                        <a:t>In-deg.</a:t>
                      </a:r>
                      <a:endParaRPr lang="en-US" sz="1061" dirty="0">
                        <a:latin typeface="Public Sans" charset="0"/>
                        <a:ea typeface="Public Sans" charset="0"/>
                        <a:cs typeface="Public Sans" charset="0"/>
                      </a:endParaRPr>
                    </a:p>
                  </a:txBody>
                  <a:tcPr marL="47173" marR="47173" marT="47173" marB="47173">
                    <a:lnL w="12700" cap="flat" cmpd="sng" algn="ctr">
                      <a:solidFill>
                        <a:srgbClr val="BBBAB9"/>
                      </a:solidFill>
                      <a:prstDash val="solid"/>
                      <a:round/>
                      <a:headEnd type="none" w="med" len="med"/>
                      <a:tailEnd type="none" w="med" len="med"/>
                    </a:lnL>
                    <a:lnR w="12700" cap="flat" cmpd="sng" algn="ctr">
                      <a:solidFill>
                        <a:srgbClr val="BBBA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BBAB9"/>
                      </a:solidFill>
                      <a:prstDash val="solid"/>
                      <a:round/>
                      <a:headEnd type="none" w="med" len="med"/>
                      <a:tailEnd type="none" w="med" len="med"/>
                    </a:lnB>
                    <a:solidFill>
                      <a:srgbClr val="EAE9E8"/>
                    </a:solidFill>
                  </a:tcPr>
                </a:tc>
                <a:extLst>
                  <a:ext uri="{0D108BD9-81ED-4DB2-BD59-A6C34878D82A}">
                    <a16:rowId xmlns:a16="http://schemas.microsoft.com/office/drawing/2014/main" val="10000"/>
                  </a:ext>
                </a:extLst>
              </a:tr>
              <a:tr h="355521">
                <a:tc>
                  <a:txBody>
                    <a:bodyPr/>
                    <a:lstStyle/>
                    <a:p>
                      <a:pPr marL="0" indent="0" algn="r">
                        <a:lnSpc>
                          <a:spcPts val="1486"/>
                        </a:lnSpc>
                        <a:buNone/>
                      </a:pPr>
                      <a:r>
                        <a:rPr lang="en-US" sz="1061" dirty="0">
                          <a:solidFill>
                            <a:srgbClr val="4A5568"/>
                          </a:solidFill>
                          <a:latin typeface="Public Sans" pitchFamily="34" charset="0"/>
                          <a:ea typeface="Public Sans" pitchFamily="34" charset="-122"/>
                          <a:cs typeface="Public Sans" pitchFamily="34" charset="-120"/>
                        </a:rPr>
                        <a:t>1</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BBAB9"/>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486"/>
                        </a:lnSpc>
                        <a:buNone/>
                      </a:pPr>
                      <a:r>
                        <a:rPr lang="en-US" sz="1061" dirty="0">
                          <a:solidFill>
                            <a:srgbClr val="14213D"/>
                          </a:solidFill>
                          <a:latin typeface="Public Sans" pitchFamily="34" charset="0"/>
                          <a:ea typeface="Public Sans" pitchFamily="34" charset="-122"/>
                          <a:cs typeface="Public Sans" pitchFamily="34" charset="-120"/>
                        </a:rPr>
                        <a:t>Effect of particle surface treatment and…</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BBAB9"/>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486"/>
                        </a:lnSpc>
                        <a:buNone/>
                      </a:pPr>
                      <a:r>
                        <a:rPr lang="en-US" sz="1061" dirty="0">
                          <a:solidFill>
                            <a:srgbClr val="B34A1C"/>
                          </a:solidFill>
                          <a:latin typeface="Public Sans" pitchFamily="34" charset="0"/>
                          <a:ea typeface="Public Sans" pitchFamily="34" charset="-122"/>
                          <a:cs typeface="Public Sans" pitchFamily="34" charset="-120"/>
                        </a:rPr>
                        <a:t>Surathkal</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BBAB9"/>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486"/>
                        </a:lnSpc>
                        <a:buNone/>
                      </a:pPr>
                      <a:r>
                        <a:rPr lang="en-US" sz="1061" dirty="0">
                          <a:solidFill>
                            <a:srgbClr val="4A5568"/>
                          </a:solidFill>
                          <a:latin typeface="Public Sans" pitchFamily="34" charset="0"/>
                          <a:ea typeface="Public Sans" pitchFamily="34" charset="-122"/>
                          <a:cs typeface="Public Sans" pitchFamily="34" charset="-120"/>
                        </a:rPr>
                        <a:t>2016</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BBAB9"/>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486"/>
                        </a:lnSpc>
                        <a:buNone/>
                      </a:pPr>
                      <a:r>
                        <a:rPr lang="en-US" sz="1061" dirty="0">
                          <a:solidFill>
                            <a:srgbClr val="4A5568"/>
                          </a:solidFill>
                          <a:latin typeface="Public Sans" pitchFamily="34" charset="0"/>
                          <a:ea typeface="Public Sans" pitchFamily="34" charset="-122"/>
                          <a:cs typeface="Public Sans" pitchFamily="34" charset="-120"/>
                        </a:rPr>
                        <a:t>33</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BBAB9"/>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extLst>
                  <a:ext uri="{0D108BD9-81ED-4DB2-BD59-A6C34878D82A}">
                    <a16:rowId xmlns:a16="http://schemas.microsoft.com/office/drawing/2014/main" val="10001"/>
                  </a:ext>
                </a:extLst>
              </a:tr>
              <a:tr h="355521">
                <a:tc>
                  <a:txBody>
                    <a:bodyPr/>
                    <a:lstStyle/>
                    <a:p>
                      <a:pPr marL="0" indent="0" algn="r">
                        <a:lnSpc>
                          <a:spcPts val="1486"/>
                        </a:lnSpc>
                        <a:buNone/>
                      </a:pPr>
                      <a:r>
                        <a:rPr lang="en-US" sz="1061" dirty="0">
                          <a:solidFill>
                            <a:srgbClr val="4A5568"/>
                          </a:solidFill>
                          <a:latin typeface="Public Sans" pitchFamily="34" charset="0"/>
                          <a:ea typeface="Public Sans" pitchFamily="34" charset="-122"/>
                          <a:cs typeface="Public Sans" pitchFamily="34" charset="-120"/>
                        </a:rPr>
                        <a:t>2</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486"/>
                        </a:lnSpc>
                        <a:buNone/>
                      </a:pPr>
                      <a:r>
                        <a:rPr lang="en-US" sz="1061" dirty="0">
                          <a:solidFill>
                            <a:srgbClr val="14213D"/>
                          </a:solidFill>
                          <a:latin typeface="Public Sans" pitchFamily="34" charset="0"/>
                          <a:ea typeface="Public Sans" pitchFamily="34" charset="-122"/>
                          <a:cs typeface="Public Sans" pitchFamily="34" charset="-120"/>
                        </a:rPr>
                        <a:t>Myo-inositol based nano-PCM for solar…</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486"/>
                        </a:lnSpc>
                        <a:buNone/>
                      </a:pPr>
                      <a:r>
                        <a:rPr lang="en-US" sz="1061" dirty="0">
                          <a:solidFill>
                            <a:srgbClr val="1F63B8"/>
                          </a:solidFill>
                          <a:latin typeface="Public Sans" pitchFamily="34" charset="0"/>
                          <a:ea typeface="Public Sans" pitchFamily="34" charset="-122"/>
                          <a:cs typeface="Public Sans" pitchFamily="34" charset="-120"/>
                        </a:rPr>
                        <a:t>Trichy</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486"/>
                        </a:lnSpc>
                        <a:buNone/>
                      </a:pPr>
                      <a:r>
                        <a:rPr lang="en-US" sz="1061" dirty="0">
                          <a:solidFill>
                            <a:srgbClr val="4A5568"/>
                          </a:solidFill>
                          <a:latin typeface="Public Sans" pitchFamily="34" charset="0"/>
                          <a:ea typeface="Public Sans" pitchFamily="34" charset="-122"/>
                          <a:cs typeface="Public Sans" pitchFamily="34" charset="-120"/>
                        </a:rPr>
                        <a:t>2016</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486"/>
                        </a:lnSpc>
                        <a:buNone/>
                      </a:pPr>
                      <a:r>
                        <a:rPr lang="en-US" sz="1061" dirty="0">
                          <a:solidFill>
                            <a:srgbClr val="4A5568"/>
                          </a:solidFill>
                          <a:latin typeface="Public Sans" pitchFamily="34" charset="0"/>
                          <a:ea typeface="Public Sans" pitchFamily="34" charset="-122"/>
                          <a:cs typeface="Public Sans" pitchFamily="34" charset="-120"/>
                        </a:rPr>
                        <a:t>15</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extLst>
                  <a:ext uri="{0D108BD9-81ED-4DB2-BD59-A6C34878D82A}">
                    <a16:rowId xmlns:a16="http://schemas.microsoft.com/office/drawing/2014/main" val="10002"/>
                  </a:ext>
                </a:extLst>
              </a:tr>
              <a:tr h="355521">
                <a:tc>
                  <a:txBody>
                    <a:bodyPr/>
                    <a:lstStyle/>
                    <a:p>
                      <a:pPr marL="0" indent="0" algn="r">
                        <a:lnSpc>
                          <a:spcPts val="1486"/>
                        </a:lnSpc>
                        <a:buNone/>
                      </a:pPr>
                      <a:r>
                        <a:rPr lang="en-US" sz="1061" dirty="0">
                          <a:solidFill>
                            <a:srgbClr val="4A5568"/>
                          </a:solidFill>
                          <a:latin typeface="Public Sans" pitchFamily="34" charset="0"/>
                          <a:ea typeface="Public Sans" pitchFamily="34" charset="-122"/>
                          <a:cs typeface="Public Sans" pitchFamily="34" charset="-120"/>
                        </a:rPr>
                        <a:t>3</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486"/>
                        </a:lnSpc>
                        <a:buNone/>
                      </a:pPr>
                      <a:r>
                        <a:rPr lang="en-US" sz="1061" dirty="0">
                          <a:solidFill>
                            <a:srgbClr val="14213D"/>
                          </a:solidFill>
                          <a:latin typeface="Public Sans" pitchFamily="34" charset="0"/>
                          <a:ea typeface="Public Sans" pitchFamily="34" charset="-122"/>
                          <a:cs typeface="Public Sans" pitchFamily="34" charset="-120"/>
                        </a:rPr>
                        <a:t>Studies on the weldability, mechanical…</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486"/>
                        </a:lnSpc>
                        <a:buNone/>
                      </a:pPr>
                      <a:r>
                        <a:rPr lang="en-US" sz="1061" dirty="0">
                          <a:solidFill>
                            <a:srgbClr val="1F63B8"/>
                          </a:solidFill>
                          <a:latin typeface="Public Sans" pitchFamily="34" charset="0"/>
                          <a:ea typeface="Public Sans" pitchFamily="34" charset="-122"/>
                          <a:cs typeface="Public Sans" pitchFamily="34" charset="-120"/>
                        </a:rPr>
                        <a:t>Trichy</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486"/>
                        </a:lnSpc>
                        <a:buNone/>
                      </a:pPr>
                      <a:r>
                        <a:rPr lang="en-US" sz="1061" dirty="0">
                          <a:solidFill>
                            <a:srgbClr val="4A5568"/>
                          </a:solidFill>
                          <a:latin typeface="Public Sans" pitchFamily="34" charset="0"/>
                          <a:ea typeface="Public Sans" pitchFamily="34" charset="-122"/>
                          <a:cs typeface="Public Sans" pitchFamily="34" charset="-120"/>
                        </a:rPr>
                        <a:t>2018</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486"/>
                        </a:lnSpc>
                        <a:buNone/>
                      </a:pPr>
                      <a:r>
                        <a:rPr lang="en-US" sz="1061" dirty="0">
                          <a:solidFill>
                            <a:srgbClr val="4A5568"/>
                          </a:solidFill>
                          <a:latin typeface="Public Sans" pitchFamily="34" charset="0"/>
                          <a:ea typeface="Public Sans" pitchFamily="34" charset="-122"/>
                          <a:cs typeface="Public Sans" pitchFamily="34" charset="-120"/>
                        </a:rPr>
                        <a:t>17</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extLst>
                  <a:ext uri="{0D108BD9-81ED-4DB2-BD59-A6C34878D82A}">
                    <a16:rowId xmlns:a16="http://schemas.microsoft.com/office/drawing/2014/main" val="10003"/>
                  </a:ext>
                </a:extLst>
              </a:tr>
              <a:tr h="355521">
                <a:tc>
                  <a:txBody>
                    <a:bodyPr/>
                    <a:lstStyle/>
                    <a:p>
                      <a:pPr marL="0" indent="0" algn="r">
                        <a:lnSpc>
                          <a:spcPts val="1486"/>
                        </a:lnSpc>
                        <a:buNone/>
                      </a:pPr>
                      <a:r>
                        <a:rPr lang="en-US" sz="1061" dirty="0">
                          <a:solidFill>
                            <a:srgbClr val="4A5568"/>
                          </a:solidFill>
                          <a:latin typeface="Public Sans" pitchFamily="34" charset="0"/>
                          <a:ea typeface="Public Sans" pitchFamily="34" charset="-122"/>
                          <a:cs typeface="Public Sans" pitchFamily="34" charset="-120"/>
                        </a:rPr>
                        <a:t>4</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486"/>
                        </a:lnSpc>
                        <a:buNone/>
                      </a:pPr>
                      <a:r>
                        <a:rPr lang="en-US" sz="1061" dirty="0">
                          <a:solidFill>
                            <a:srgbClr val="14213D"/>
                          </a:solidFill>
                          <a:latin typeface="Public Sans" pitchFamily="34" charset="0"/>
                          <a:ea typeface="Public Sans" pitchFamily="34" charset="-122"/>
                          <a:cs typeface="Public Sans" pitchFamily="34" charset="-120"/>
                        </a:rPr>
                        <a:t>Printability of multiwalled SS 316L by…</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486"/>
                        </a:lnSpc>
                        <a:buNone/>
                      </a:pPr>
                      <a:r>
                        <a:rPr lang="en-US" sz="1061" dirty="0">
                          <a:solidFill>
                            <a:srgbClr val="1F63B8"/>
                          </a:solidFill>
                          <a:latin typeface="Public Sans" pitchFamily="34" charset="0"/>
                          <a:ea typeface="Public Sans" pitchFamily="34" charset="-122"/>
                          <a:cs typeface="Public Sans" pitchFamily="34" charset="-120"/>
                        </a:rPr>
                        <a:t>Trichy</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486"/>
                        </a:lnSpc>
                        <a:buNone/>
                      </a:pPr>
                      <a:r>
                        <a:rPr lang="en-US" sz="1061" dirty="0">
                          <a:solidFill>
                            <a:srgbClr val="4A5568"/>
                          </a:solidFill>
                          <a:latin typeface="Public Sans" pitchFamily="34" charset="0"/>
                          <a:ea typeface="Public Sans" pitchFamily="34" charset="-122"/>
                          <a:cs typeface="Public Sans" pitchFamily="34" charset="-120"/>
                        </a:rPr>
                        <a:t>2019</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486"/>
                        </a:lnSpc>
                        <a:buNone/>
                      </a:pPr>
                      <a:r>
                        <a:rPr lang="en-US" sz="1061" dirty="0">
                          <a:solidFill>
                            <a:srgbClr val="4A5568"/>
                          </a:solidFill>
                          <a:latin typeface="Public Sans" pitchFamily="34" charset="0"/>
                          <a:ea typeface="Public Sans" pitchFamily="34" charset="-122"/>
                          <a:cs typeface="Public Sans" pitchFamily="34" charset="-120"/>
                        </a:rPr>
                        <a:t>6</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extLst>
                  <a:ext uri="{0D108BD9-81ED-4DB2-BD59-A6C34878D82A}">
                    <a16:rowId xmlns:a16="http://schemas.microsoft.com/office/drawing/2014/main" val="10004"/>
                  </a:ext>
                </a:extLst>
              </a:tr>
              <a:tr h="355521">
                <a:tc>
                  <a:txBody>
                    <a:bodyPr/>
                    <a:lstStyle/>
                    <a:p>
                      <a:pPr marL="0" indent="0" algn="r">
                        <a:lnSpc>
                          <a:spcPts val="1486"/>
                        </a:lnSpc>
                        <a:buNone/>
                      </a:pPr>
                      <a:r>
                        <a:rPr lang="en-US" sz="1061" dirty="0">
                          <a:solidFill>
                            <a:srgbClr val="4A5568"/>
                          </a:solidFill>
                          <a:latin typeface="Public Sans" pitchFamily="34" charset="0"/>
                          <a:ea typeface="Public Sans" pitchFamily="34" charset="-122"/>
                          <a:cs typeface="Public Sans" pitchFamily="34" charset="-120"/>
                        </a:rPr>
                        <a:t>5</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486"/>
                        </a:lnSpc>
                        <a:buNone/>
                      </a:pPr>
                      <a:r>
                        <a:rPr lang="en-US" sz="1061" dirty="0">
                          <a:solidFill>
                            <a:srgbClr val="14213D"/>
                          </a:solidFill>
                          <a:latin typeface="Public Sans" pitchFamily="34" charset="0"/>
                          <a:ea typeface="Public Sans" pitchFamily="34" charset="-122"/>
                          <a:cs typeface="Public Sans" pitchFamily="34" charset="-120"/>
                        </a:rPr>
                        <a:t>Half-sandwich RuCl2(η6-p-cymene) core…</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486"/>
                        </a:lnSpc>
                        <a:buNone/>
                      </a:pPr>
                      <a:r>
                        <a:rPr lang="en-US" sz="1061" dirty="0">
                          <a:solidFill>
                            <a:srgbClr val="1F63B8"/>
                          </a:solidFill>
                          <a:latin typeface="Public Sans" pitchFamily="34" charset="0"/>
                          <a:ea typeface="Public Sans" pitchFamily="34" charset="-122"/>
                          <a:cs typeface="Public Sans" pitchFamily="34" charset="-120"/>
                        </a:rPr>
                        <a:t>Trichy</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486"/>
                        </a:lnSpc>
                        <a:buNone/>
                      </a:pPr>
                      <a:r>
                        <a:rPr lang="en-US" sz="1061" dirty="0">
                          <a:solidFill>
                            <a:srgbClr val="4A5568"/>
                          </a:solidFill>
                          <a:latin typeface="Public Sans" pitchFamily="34" charset="0"/>
                          <a:ea typeface="Public Sans" pitchFamily="34" charset="-122"/>
                          <a:cs typeface="Public Sans" pitchFamily="34" charset="-120"/>
                        </a:rPr>
                        <a:t>2016</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486"/>
                        </a:lnSpc>
                        <a:buNone/>
                      </a:pPr>
                      <a:r>
                        <a:rPr lang="en-US" sz="1061" dirty="0">
                          <a:solidFill>
                            <a:srgbClr val="4A5568"/>
                          </a:solidFill>
                          <a:latin typeface="Public Sans" pitchFamily="34" charset="0"/>
                          <a:ea typeface="Public Sans" pitchFamily="34" charset="-122"/>
                          <a:cs typeface="Public Sans" pitchFamily="34" charset="-120"/>
                        </a:rPr>
                        <a:t>40</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extLst>
                  <a:ext uri="{0D108BD9-81ED-4DB2-BD59-A6C34878D82A}">
                    <a16:rowId xmlns:a16="http://schemas.microsoft.com/office/drawing/2014/main" val="10005"/>
                  </a:ext>
                </a:extLst>
              </a:tr>
              <a:tr h="355521">
                <a:tc>
                  <a:txBody>
                    <a:bodyPr/>
                    <a:lstStyle/>
                    <a:p>
                      <a:pPr marL="0" indent="0" algn="r">
                        <a:lnSpc>
                          <a:spcPts val="1486"/>
                        </a:lnSpc>
                        <a:buNone/>
                      </a:pPr>
                      <a:r>
                        <a:rPr lang="en-US" sz="1061" dirty="0">
                          <a:solidFill>
                            <a:srgbClr val="4A5568"/>
                          </a:solidFill>
                          <a:latin typeface="Public Sans" pitchFamily="34" charset="0"/>
                          <a:ea typeface="Public Sans" pitchFamily="34" charset="-122"/>
                          <a:cs typeface="Public Sans" pitchFamily="34" charset="-120"/>
                        </a:rPr>
                        <a:t>6</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486"/>
                        </a:lnSpc>
                        <a:buNone/>
                      </a:pPr>
                      <a:r>
                        <a:rPr lang="en-US" sz="1061" dirty="0">
                          <a:solidFill>
                            <a:srgbClr val="14213D"/>
                          </a:solidFill>
                          <a:latin typeface="Public Sans" pitchFamily="34" charset="0"/>
                          <a:ea typeface="Public Sans" pitchFamily="34" charset="-122"/>
                          <a:cs typeface="Public Sans" pitchFamily="34" charset="-120"/>
                        </a:rPr>
                        <a:t>Investigating the contrast diurnal…</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486"/>
                        </a:lnSpc>
                        <a:buNone/>
                      </a:pPr>
                      <a:r>
                        <a:rPr lang="en-US" sz="1061" dirty="0">
                          <a:solidFill>
                            <a:srgbClr val="1F63B8"/>
                          </a:solidFill>
                          <a:latin typeface="Public Sans" pitchFamily="34" charset="0"/>
                          <a:ea typeface="Public Sans" pitchFamily="34" charset="-122"/>
                          <a:cs typeface="Public Sans" pitchFamily="34" charset="-120"/>
                        </a:rPr>
                        <a:t>Trichy</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486"/>
                        </a:lnSpc>
                        <a:buNone/>
                      </a:pPr>
                      <a:r>
                        <a:rPr lang="en-US" sz="1061" dirty="0">
                          <a:solidFill>
                            <a:srgbClr val="4A5568"/>
                          </a:solidFill>
                          <a:latin typeface="Public Sans" pitchFamily="34" charset="0"/>
                          <a:ea typeface="Public Sans" pitchFamily="34" charset="-122"/>
                          <a:cs typeface="Public Sans" pitchFamily="34" charset="-120"/>
                        </a:rPr>
                        <a:t>2022</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486"/>
                        </a:lnSpc>
                        <a:buNone/>
                      </a:pPr>
                      <a:r>
                        <a:rPr lang="en-US" sz="1061" dirty="0">
                          <a:solidFill>
                            <a:srgbClr val="4A5568"/>
                          </a:solidFill>
                          <a:latin typeface="Public Sans" pitchFamily="34" charset="0"/>
                          <a:ea typeface="Public Sans" pitchFamily="34" charset="-122"/>
                          <a:cs typeface="Public Sans" pitchFamily="34" charset="-120"/>
                        </a:rPr>
                        <a:t>21</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extLst>
                  <a:ext uri="{0D108BD9-81ED-4DB2-BD59-A6C34878D82A}">
                    <a16:rowId xmlns:a16="http://schemas.microsoft.com/office/drawing/2014/main" val="10006"/>
                  </a:ext>
                </a:extLst>
              </a:tr>
              <a:tr h="355521">
                <a:tc>
                  <a:txBody>
                    <a:bodyPr/>
                    <a:lstStyle/>
                    <a:p>
                      <a:pPr marL="0" indent="0" algn="r">
                        <a:lnSpc>
                          <a:spcPts val="1486"/>
                        </a:lnSpc>
                        <a:buNone/>
                      </a:pPr>
                      <a:r>
                        <a:rPr lang="en-US" sz="1061" dirty="0">
                          <a:solidFill>
                            <a:srgbClr val="4A5568"/>
                          </a:solidFill>
                          <a:latin typeface="Public Sans" pitchFamily="34" charset="0"/>
                          <a:ea typeface="Public Sans" pitchFamily="34" charset="-122"/>
                          <a:cs typeface="Public Sans" pitchFamily="34" charset="-120"/>
                        </a:rPr>
                        <a:t>7</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486"/>
                        </a:lnSpc>
                        <a:buNone/>
                      </a:pPr>
                      <a:r>
                        <a:rPr lang="en-US" sz="1061" dirty="0">
                          <a:solidFill>
                            <a:srgbClr val="14213D"/>
                          </a:solidFill>
                          <a:latin typeface="Public Sans" pitchFamily="34" charset="0"/>
                          <a:ea typeface="Public Sans" pitchFamily="34" charset="-122"/>
                          <a:cs typeface="Public Sans" pitchFamily="34" charset="-120"/>
                        </a:rPr>
                        <a:t>High Thermoelectric Performance of Co-Doped…</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486"/>
                        </a:lnSpc>
                        <a:buNone/>
                      </a:pPr>
                      <a:r>
                        <a:rPr lang="en-US" sz="1061" dirty="0">
                          <a:solidFill>
                            <a:srgbClr val="B34A1C"/>
                          </a:solidFill>
                          <a:latin typeface="Public Sans" pitchFamily="34" charset="0"/>
                          <a:ea typeface="Public Sans" pitchFamily="34" charset="-122"/>
                          <a:cs typeface="Public Sans" pitchFamily="34" charset="-120"/>
                        </a:rPr>
                        <a:t>Surathkal</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486"/>
                        </a:lnSpc>
                        <a:buNone/>
                      </a:pPr>
                      <a:r>
                        <a:rPr lang="en-US" sz="1061" dirty="0">
                          <a:solidFill>
                            <a:srgbClr val="4A5568"/>
                          </a:solidFill>
                          <a:latin typeface="Public Sans" pitchFamily="34" charset="0"/>
                          <a:ea typeface="Public Sans" pitchFamily="34" charset="-122"/>
                          <a:cs typeface="Public Sans" pitchFamily="34" charset="-120"/>
                        </a:rPr>
                        <a:t>2017</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486"/>
                        </a:lnSpc>
                        <a:buNone/>
                      </a:pPr>
                      <a:r>
                        <a:rPr lang="en-US" sz="1061" dirty="0">
                          <a:solidFill>
                            <a:srgbClr val="4A5568"/>
                          </a:solidFill>
                          <a:latin typeface="Public Sans" pitchFamily="34" charset="0"/>
                          <a:ea typeface="Public Sans" pitchFamily="34" charset="-122"/>
                          <a:cs typeface="Public Sans" pitchFamily="34" charset="-120"/>
                        </a:rPr>
                        <a:t>29</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extLst>
                  <a:ext uri="{0D108BD9-81ED-4DB2-BD59-A6C34878D82A}">
                    <a16:rowId xmlns:a16="http://schemas.microsoft.com/office/drawing/2014/main" val="10007"/>
                  </a:ext>
                </a:extLst>
              </a:tr>
              <a:tr h="355521">
                <a:tc>
                  <a:txBody>
                    <a:bodyPr/>
                    <a:lstStyle/>
                    <a:p>
                      <a:pPr marL="0" indent="0" algn="r">
                        <a:lnSpc>
                          <a:spcPts val="1486"/>
                        </a:lnSpc>
                        <a:buNone/>
                      </a:pPr>
                      <a:r>
                        <a:rPr lang="en-US" sz="1061" dirty="0">
                          <a:solidFill>
                            <a:srgbClr val="4A5568"/>
                          </a:solidFill>
                          <a:latin typeface="Public Sans" pitchFamily="34" charset="0"/>
                          <a:ea typeface="Public Sans" pitchFamily="34" charset="-122"/>
                          <a:cs typeface="Public Sans" pitchFamily="34" charset="-120"/>
                        </a:rPr>
                        <a:t>8</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486"/>
                        </a:lnSpc>
                        <a:buNone/>
                      </a:pPr>
                      <a:r>
                        <a:rPr lang="en-US" sz="1061" dirty="0">
                          <a:solidFill>
                            <a:srgbClr val="14213D"/>
                          </a:solidFill>
                          <a:latin typeface="Public Sans" pitchFamily="34" charset="0"/>
                          <a:ea typeface="Public Sans" pitchFamily="34" charset="-122"/>
                          <a:cs typeface="Public Sans" pitchFamily="34" charset="-120"/>
                        </a:rPr>
                        <a:t>Experimental investigation on the…</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486"/>
                        </a:lnSpc>
                        <a:buNone/>
                      </a:pPr>
                      <a:r>
                        <a:rPr lang="en-US" sz="1061" dirty="0">
                          <a:solidFill>
                            <a:srgbClr val="1F63B8"/>
                          </a:solidFill>
                          <a:latin typeface="Public Sans" pitchFamily="34" charset="0"/>
                          <a:ea typeface="Public Sans" pitchFamily="34" charset="-122"/>
                          <a:cs typeface="Public Sans" pitchFamily="34" charset="-120"/>
                        </a:rPr>
                        <a:t>Trichy</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486"/>
                        </a:lnSpc>
                        <a:buNone/>
                      </a:pPr>
                      <a:r>
                        <a:rPr lang="en-US" sz="1061" dirty="0">
                          <a:solidFill>
                            <a:srgbClr val="4A5568"/>
                          </a:solidFill>
                          <a:latin typeface="Public Sans" pitchFamily="34" charset="0"/>
                          <a:ea typeface="Public Sans" pitchFamily="34" charset="-122"/>
                          <a:cs typeface="Public Sans" pitchFamily="34" charset="-120"/>
                        </a:rPr>
                        <a:t>2016</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486"/>
                        </a:lnSpc>
                        <a:buNone/>
                      </a:pPr>
                      <a:r>
                        <a:rPr lang="en-US" sz="1061" dirty="0">
                          <a:solidFill>
                            <a:srgbClr val="4A5568"/>
                          </a:solidFill>
                          <a:latin typeface="Public Sans" pitchFamily="34" charset="0"/>
                          <a:ea typeface="Public Sans" pitchFamily="34" charset="-122"/>
                          <a:cs typeface="Public Sans" pitchFamily="34" charset="-120"/>
                        </a:rPr>
                        <a:t>9</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extLst>
                  <a:ext uri="{0D108BD9-81ED-4DB2-BD59-A6C34878D82A}">
                    <a16:rowId xmlns:a16="http://schemas.microsoft.com/office/drawing/2014/main" val="10008"/>
                  </a:ext>
                </a:extLst>
              </a:tr>
              <a:tr h="355521">
                <a:tc>
                  <a:txBody>
                    <a:bodyPr/>
                    <a:lstStyle/>
                    <a:p>
                      <a:pPr marL="0" indent="0" algn="r">
                        <a:lnSpc>
                          <a:spcPts val="1486"/>
                        </a:lnSpc>
                        <a:buNone/>
                      </a:pPr>
                      <a:r>
                        <a:rPr lang="en-US" sz="1061" dirty="0">
                          <a:solidFill>
                            <a:srgbClr val="4A5568"/>
                          </a:solidFill>
                          <a:latin typeface="Public Sans" pitchFamily="34" charset="0"/>
                          <a:ea typeface="Public Sans" pitchFamily="34" charset="-122"/>
                          <a:cs typeface="Public Sans" pitchFamily="34" charset="-120"/>
                        </a:rPr>
                        <a:t>9</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486"/>
                        </a:lnSpc>
                        <a:buNone/>
                      </a:pPr>
                      <a:r>
                        <a:rPr lang="en-US" sz="1061" dirty="0">
                          <a:solidFill>
                            <a:srgbClr val="14213D"/>
                          </a:solidFill>
                          <a:latin typeface="Public Sans" pitchFamily="34" charset="0"/>
                          <a:ea typeface="Public Sans" pitchFamily="34" charset="-122"/>
                          <a:cs typeface="Public Sans" pitchFamily="34" charset="-120"/>
                        </a:rPr>
                        <a:t>Effect of Oxide Fluxes on Depth of…</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486"/>
                        </a:lnSpc>
                        <a:buNone/>
                      </a:pPr>
                      <a:r>
                        <a:rPr lang="en-US" sz="1061" dirty="0">
                          <a:solidFill>
                            <a:srgbClr val="1F63B8"/>
                          </a:solidFill>
                          <a:latin typeface="Public Sans" pitchFamily="34" charset="0"/>
                          <a:ea typeface="Public Sans" pitchFamily="34" charset="-122"/>
                          <a:cs typeface="Public Sans" pitchFamily="34" charset="-120"/>
                        </a:rPr>
                        <a:t>Trichy</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486"/>
                        </a:lnSpc>
                        <a:buNone/>
                      </a:pPr>
                      <a:r>
                        <a:rPr lang="en-US" sz="1061" dirty="0">
                          <a:solidFill>
                            <a:srgbClr val="4A5568"/>
                          </a:solidFill>
                          <a:latin typeface="Public Sans" pitchFamily="34" charset="0"/>
                          <a:ea typeface="Public Sans" pitchFamily="34" charset="-122"/>
                          <a:cs typeface="Public Sans" pitchFamily="34" charset="-120"/>
                        </a:rPr>
                        <a:t>2016</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486"/>
                        </a:lnSpc>
                        <a:buNone/>
                      </a:pPr>
                      <a:r>
                        <a:rPr lang="en-US" sz="1061" dirty="0">
                          <a:solidFill>
                            <a:srgbClr val="4A5568"/>
                          </a:solidFill>
                          <a:latin typeface="Public Sans" pitchFamily="34" charset="0"/>
                          <a:ea typeface="Public Sans" pitchFamily="34" charset="-122"/>
                          <a:cs typeface="Public Sans" pitchFamily="34" charset="-120"/>
                        </a:rPr>
                        <a:t>2</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extLst>
                  <a:ext uri="{0D108BD9-81ED-4DB2-BD59-A6C34878D82A}">
                    <a16:rowId xmlns:a16="http://schemas.microsoft.com/office/drawing/2014/main" val="10009"/>
                  </a:ext>
                </a:extLst>
              </a:tr>
              <a:tr h="544195">
                <a:tc>
                  <a:txBody>
                    <a:bodyPr/>
                    <a:lstStyle/>
                    <a:p>
                      <a:pPr marL="0" indent="0" algn="r">
                        <a:lnSpc>
                          <a:spcPts val="1486"/>
                        </a:lnSpc>
                        <a:buNone/>
                      </a:pPr>
                      <a:r>
                        <a:rPr lang="en-US" sz="1061" dirty="0">
                          <a:solidFill>
                            <a:srgbClr val="4A5568"/>
                          </a:solidFill>
                          <a:latin typeface="Public Sans" pitchFamily="34" charset="0"/>
                          <a:ea typeface="Public Sans" pitchFamily="34" charset="-122"/>
                          <a:cs typeface="Public Sans" pitchFamily="34" charset="-120"/>
                        </a:rPr>
                        <a:t>10</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486"/>
                        </a:lnSpc>
                        <a:buNone/>
                      </a:pPr>
                      <a:r>
                        <a:rPr lang="en-US" sz="1061" dirty="0">
                          <a:solidFill>
                            <a:srgbClr val="14213D"/>
                          </a:solidFill>
                          <a:latin typeface="Public Sans" pitchFamily="34" charset="0"/>
                          <a:ea typeface="Public Sans" pitchFamily="34" charset="-122"/>
                          <a:cs typeface="Public Sans" pitchFamily="34" charset="-120"/>
                        </a:rPr>
                        <a:t>Hydrothermally Synthesized h-MoO3 and…</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486"/>
                        </a:lnSpc>
                        <a:buNone/>
                      </a:pPr>
                      <a:r>
                        <a:rPr lang="en-US" sz="1061" dirty="0">
                          <a:solidFill>
                            <a:srgbClr val="1F63B8"/>
                          </a:solidFill>
                          <a:latin typeface="Public Sans" pitchFamily="34" charset="0"/>
                          <a:ea typeface="Public Sans" pitchFamily="34" charset="-122"/>
                          <a:cs typeface="Public Sans" pitchFamily="34" charset="-120"/>
                        </a:rPr>
                        <a:t>Trichy</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486"/>
                        </a:lnSpc>
                        <a:buNone/>
                      </a:pPr>
                      <a:r>
                        <a:rPr lang="en-US" sz="1061" dirty="0">
                          <a:solidFill>
                            <a:srgbClr val="4A5568"/>
                          </a:solidFill>
                          <a:latin typeface="Public Sans" pitchFamily="34" charset="0"/>
                          <a:ea typeface="Public Sans" pitchFamily="34" charset="-122"/>
                          <a:cs typeface="Public Sans" pitchFamily="34" charset="-120"/>
                        </a:rPr>
                        <a:t>2016</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486"/>
                        </a:lnSpc>
                        <a:buNone/>
                      </a:pPr>
                      <a:r>
                        <a:rPr lang="en-US" sz="1061" dirty="0">
                          <a:solidFill>
                            <a:srgbClr val="4A5568"/>
                          </a:solidFill>
                          <a:latin typeface="Public Sans" pitchFamily="34" charset="0"/>
                          <a:ea typeface="Public Sans" pitchFamily="34" charset="-122"/>
                          <a:cs typeface="Public Sans" pitchFamily="34" charset="-120"/>
                        </a:rPr>
                        <a:t>7</a:t>
                      </a:r>
                      <a:endParaRPr lang="en-US" sz="1061" dirty="0">
                        <a:latin typeface="Public Sans" charset="0"/>
                        <a:ea typeface="Public Sans" charset="0"/>
                        <a:cs typeface="Public Sans" charset="0"/>
                      </a:endParaRPr>
                    </a:p>
                  </a:txBody>
                  <a:tcPr marL="47173" marR="47173" marT="47173" marB="47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27092"/>
          </a:xfrm>
          <a:prstGeom prst="rect">
            <a:avLst/>
          </a:prstGeom>
          <a:noFill/>
          <a:ln/>
        </p:spPr>
        <p:txBody>
          <a:bodyPr wrap="square" lIns="0" tIns="0" rIns="0" bIns="0" rtlCol="0" anchor="t">
            <a:normAutofit/>
          </a:bodyPr>
          <a:lstStyle/>
          <a:p>
            <a:pPr marL="0" indent="0" algn="l">
              <a:lnSpc>
                <a:spcPts val="1622"/>
              </a:lnSpc>
              <a:buNone/>
            </a:pPr>
            <a:r>
              <a:rPr lang="en-US" sz="1159" b="1" kern="0" spc="150" dirty="0">
                <a:solidFill>
                  <a:srgbClr val="5B4BC4"/>
                </a:solidFill>
                <a:latin typeface="Public Sans" pitchFamily="34" charset="0"/>
                <a:ea typeface="Public Sans" pitchFamily="34" charset="-122"/>
                <a:cs typeface="Public Sans" pitchFamily="34" charset="-120"/>
              </a:rPr>
              <a:t>07 · AUTHORSHIP NETWORK</a:t>
            </a:r>
            <a:endParaRPr lang="en-US" sz="1159" dirty="0"/>
          </a:p>
        </p:txBody>
      </p:sp>
      <p:sp>
        <p:nvSpPr>
          <p:cNvPr id="3" name="Text 1"/>
          <p:cNvSpPr>
            <a:spLocks noGrp="1"/>
          </p:cNvSpPr>
          <p:nvPr>
            <p:ph type="title"/>
          </p:nvPr>
        </p:nvSpPr>
        <p:spPr>
          <a:xfrm>
            <a:off x="812800" y="963693"/>
            <a:ext cx="10883392" cy="428863"/>
          </a:xfrm>
          <a:prstGeom prst="rect">
            <a:avLst/>
          </a:prstGeom>
          <a:noFill/>
          <a:ln/>
        </p:spPr>
        <p:txBody>
          <a:bodyPr wrap="square" lIns="0" tIns="0" rIns="0" bIns="0" rtlCol="0" anchor="t">
            <a:normAutofit/>
          </a:bodyPr>
          <a:lstStyle/>
          <a:p>
            <a:pPr marL="0" indent="0" algn="l">
              <a:lnSpc>
                <a:spcPts val="3224"/>
              </a:lnSpc>
              <a:buNone/>
            </a:pPr>
            <a:r>
              <a:rPr lang="en-US" sz="3070" b="1" i="0" kern="0" spc="-50" dirty="0">
                <a:solidFill>
                  <a:srgbClr val="14213D"/>
                </a:solidFill>
                <a:latin typeface="Space Grotesk" pitchFamily="34" charset="0"/>
                <a:ea typeface="Space Grotesk" pitchFamily="34" charset="-122"/>
                <a:cs typeface="Space Grotesk" pitchFamily="34" charset="-120"/>
              </a:rPr>
              <a:t>Departments, bridged by a few hubs</a:t>
            </a:r>
            <a:endParaRPr lang="en-US" sz="3070" dirty="0"/>
          </a:p>
        </p:txBody>
      </p:sp>
      <p:sp>
        <p:nvSpPr>
          <p:cNvPr id="4" name="Shape 2"/>
          <p:cNvSpPr/>
          <p:nvPr/>
        </p:nvSpPr>
        <p:spPr>
          <a:xfrm>
            <a:off x="815975" y="1548132"/>
            <a:ext cx="4743450" cy="4493895"/>
          </a:xfrm>
          <a:prstGeom prst="roundRect">
            <a:avLst>
              <a:gd name="adj" fmla="val 2755"/>
            </a:avLst>
          </a:prstGeom>
          <a:solidFill>
            <a:srgbClr val="FDFCFA"/>
          </a:solidFill>
          <a:ln w="6350">
            <a:solidFill>
              <a:srgbClr val="E4E1D8"/>
            </a:solidFill>
            <a:prstDash val="solid"/>
          </a:ln>
        </p:spPr>
      </p:sp>
      <p:sp>
        <p:nvSpPr>
          <p:cNvPr id="5" name="Shape 3"/>
          <p:cNvSpPr/>
          <p:nvPr/>
        </p:nvSpPr>
        <p:spPr>
          <a:xfrm>
            <a:off x="970280" y="1751964"/>
            <a:ext cx="114300" cy="114300"/>
          </a:xfrm>
          <a:prstGeom prst="roundRect">
            <a:avLst>
              <a:gd name="adj" fmla="val 50000"/>
            </a:avLst>
          </a:prstGeom>
          <a:solidFill>
            <a:srgbClr val="2A78D6"/>
          </a:solidFill>
          <a:ln/>
        </p:spPr>
      </p:sp>
      <p:sp>
        <p:nvSpPr>
          <p:cNvPr id="6" name="Text 4"/>
          <p:cNvSpPr/>
          <p:nvPr/>
        </p:nvSpPr>
        <p:spPr>
          <a:xfrm>
            <a:off x="1135380" y="1702436"/>
            <a:ext cx="86039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NIT Trichy</a:t>
            </a:r>
            <a:endParaRPr lang="en-US" sz="1200" dirty="0"/>
          </a:p>
        </p:txBody>
      </p:sp>
      <p:sp>
        <p:nvSpPr>
          <p:cNvPr id="7" name="Shape 5"/>
          <p:cNvSpPr/>
          <p:nvPr/>
        </p:nvSpPr>
        <p:spPr>
          <a:xfrm>
            <a:off x="2004774" y="1751964"/>
            <a:ext cx="114300" cy="114300"/>
          </a:xfrm>
          <a:prstGeom prst="roundRect">
            <a:avLst>
              <a:gd name="adj" fmla="val 50000"/>
            </a:avLst>
          </a:prstGeom>
          <a:solidFill>
            <a:srgbClr val="EB6834"/>
          </a:solidFill>
          <a:ln/>
        </p:spPr>
      </p:sp>
      <p:sp>
        <p:nvSpPr>
          <p:cNvPr id="8" name="Text 6"/>
          <p:cNvSpPr/>
          <p:nvPr/>
        </p:nvSpPr>
        <p:spPr>
          <a:xfrm>
            <a:off x="2169874" y="1702436"/>
            <a:ext cx="112847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NIT Surathkal</a:t>
            </a:r>
            <a:endParaRPr lang="en-US" sz="1200" dirty="0"/>
          </a:p>
        </p:txBody>
      </p:sp>
      <p:sp>
        <p:nvSpPr>
          <p:cNvPr id="9" name="Text 7"/>
          <p:cNvSpPr/>
          <p:nvPr/>
        </p:nvSpPr>
        <p:spPr>
          <a:xfrm>
            <a:off x="3298349" y="1702436"/>
            <a:ext cx="208168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Public Sans" pitchFamily="34" charset="0"/>
                <a:ea typeface="Public Sans" pitchFamily="34" charset="-122"/>
                <a:cs typeface="Public Sans" pitchFamily="34" charset="-120"/>
              </a:rPr>
              <a:t>size = faculty co-authors</a:t>
            </a:r>
            <a:endParaRPr lang="en-US" sz="1200" dirty="0"/>
          </a:p>
        </p:txBody>
      </p:sp>
      <p:pic>
        <p:nvPicPr>
          <p:cNvPr id="10" name="Image 0" descr="Faculty co-authorship network: a blue NIT Trichy cluster on the left and an orange NIT Surathkal cluster on the right, joined by a few links"/>
          <p:cNvPicPr>
            <a:picLocks noChangeAspect="1"/>
          </p:cNvPicPr>
          <p:nvPr/>
        </p:nvPicPr>
        <p:blipFill>
          <a:blip r:embed="rId3"/>
          <a:srcRect l="-26" r="-26"/>
          <a:stretch/>
        </p:blipFill>
        <p:spPr>
          <a:xfrm>
            <a:off x="970280" y="1991996"/>
            <a:ext cx="4445000" cy="3054350"/>
          </a:xfrm>
          <a:prstGeom prst="rect">
            <a:avLst/>
          </a:prstGeom>
        </p:spPr>
      </p:pic>
      <p:sp>
        <p:nvSpPr>
          <p:cNvPr id="11" name="Text 8"/>
          <p:cNvSpPr/>
          <p:nvPr/>
        </p:nvSpPr>
        <p:spPr>
          <a:xfrm>
            <a:off x="970280" y="5122546"/>
            <a:ext cx="456788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Public Sans" pitchFamily="34" charset="0"/>
                <a:ea typeface="Public Sans" pitchFamily="34" charset="-122"/>
                <a:cs typeface="Public Sans" pitchFamily="34" charset="-120"/>
              </a:rPr>
              <a:t>539 faculty with a faculty co-author · 961 links · largest group 492</a:t>
            </a:r>
            <a:endParaRPr lang="en-US" sz="1200" dirty="0"/>
          </a:p>
        </p:txBody>
      </p:sp>
      <p:sp>
        <p:nvSpPr>
          <p:cNvPr id="12" name="Shape 9"/>
          <p:cNvSpPr/>
          <p:nvPr/>
        </p:nvSpPr>
        <p:spPr>
          <a:xfrm>
            <a:off x="5768975" y="1548132"/>
            <a:ext cx="5607050" cy="2735977"/>
          </a:xfrm>
          <a:prstGeom prst="roundRect">
            <a:avLst>
              <a:gd name="adj" fmla="val 4526"/>
            </a:avLst>
          </a:prstGeom>
          <a:solidFill>
            <a:srgbClr val="FDFCFA"/>
          </a:solidFill>
          <a:ln w="6350">
            <a:solidFill>
              <a:srgbClr val="E4E1D8"/>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933440" y="1687196"/>
          <a:ext cx="5288281" cy="2468008"/>
        </p:xfrm>
        <a:graphic>
          <a:graphicData uri="http://schemas.openxmlformats.org/drawingml/2006/table">
            <a:tbl>
              <a:tblPr/>
              <a:tblGrid>
                <a:gridCol w="1692250">
                  <a:extLst>
                    <a:ext uri="{9D8B030D-6E8A-4147-A177-3AD203B41FA5}">
                      <a16:colId xmlns:a16="http://schemas.microsoft.com/office/drawing/2014/main" val="20000"/>
                    </a:ext>
                  </a:extLst>
                </a:gridCol>
                <a:gridCol w="899008">
                  <a:extLst>
                    <a:ext uri="{9D8B030D-6E8A-4147-A177-3AD203B41FA5}">
                      <a16:colId xmlns:a16="http://schemas.microsoft.com/office/drawing/2014/main" val="20001"/>
                    </a:ext>
                  </a:extLst>
                </a:gridCol>
                <a:gridCol w="899008">
                  <a:extLst>
                    <a:ext uri="{9D8B030D-6E8A-4147-A177-3AD203B41FA5}">
                      <a16:colId xmlns:a16="http://schemas.microsoft.com/office/drawing/2014/main" val="20002"/>
                    </a:ext>
                  </a:extLst>
                </a:gridCol>
                <a:gridCol w="740359">
                  <a:extLst>
                    <a:ext uri="{9D8B030D-6E8A-4147-A177-3AD203B41FA5}">
                      <a16:colId xmlns:a16="http://schemas.microsoft.com/office/drawing/2014/main" val="20003"/>
                    </a:ext>
                  </a:extLst>
                </a:gridCol>
                <a:gridCol w="1057656">
                  <a:extLst>
                    <a:ext uri="{9D8B030D-6E8A-4147-A177-3AD203B41FA5}">
                      <a16:colId xmlns:a16="http://schemas.microsoft.com/office/drawing/2014/main" val="20004"/>
                    </a:ext>
                  </a:extLst>
                </a:gridCol>
              </a:tblGrid>
              <a:tr h="511493">
                <a:tc>
                  <a:txBody>
                    <a:bodyPr/>
                    <a:lstStyle/>
                    <a:p>
                      <a:pPr marL="0" indent="0">
                        <a:lnSpc>
                          <a:spcPts val="1580"/>
                        </a:lnSpc>
                        <a:buNone/>
                      </a:pPr>
                      <a:r>
                        <a:rPr lang="en-US" sz="1129" b="1" dirty="0">
                          <a:solidFill>
                            <a:srgbClr val="14213D"/>
                          </a:solidFill>
                          <a:latin typeface="Public Sans" pitchFamily="34" charset="0"/>
                          <a:ea typeface="Public Sans" pitchFamily="34" charset="-122"/>
                          <a:cs typeface="Public Sans" pitchFamily="34" charset="-120"/>
                        </a:rPr>
                        <a:t>Most central</a:t>
                      </a:r>
                      <a:endParaRPr lang="en-US" sz="1129" dirty="0">
                        <a:latin typeface="Public Sans" charset="0"/>
                        <a:ea typeface="Public Sans" charset="0"/>
                        <a:cs typeface="Public Sans" charset="0"/>
                      </a:endParaRPr>
                    </a:p>
                  </a:txBody>
                  <a:tcPr marL="50173" marR="50173" marT="50173" marB="50173">
                    <a:lnL w="12700" cap="flat" cmpd="sng" algn="ctr">
                      <a:solidFill>
                        <a:srgbClr val="CAC9C7"/>
                      </a:solidFill>
                      <a:prstDash val="solid"/>
                      <a:round/>
                      <a:headEnd type="none" w="med" len="med"/>
                      <a:tailEnd type="none" w="med" len="med"/>
                    </a:lnL>
                    <a:lnR w="12700" cap="flat" cmpd="sng" algn="ctr">
                      <a:solidFill>
                        <a:srgbClr val="BBBA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BBAB9"/>
                      </a:solidFill>
                      <a:prstDash val="solid"/>
                      <a:round/>
                      <a:headEnd type="none" w="med" len="med"/>
                      <a:tailEnd type="none" w="med" len="med"/>
                    </a:lnB>
                    <a:solidFill>
                      <a:srgbClr val="EAE9E8"/>
                    </a:solidFill>
                  </a:tcPr>
                </a:tc>
                <a:tc>
                  <a:txBody>
                    <a:bodyPr/>
                    <a:lstStyle/>
                    <a:p>
                      <a:pPr marL="0" indent="0">
                        <a:lnSpc>
                          <a:spcPts val="1580"/>
                        </a:lnSpc>
                        <a:buNone/>
                      </a:pPr>
                      <a:r>
                        <a:rPr lang="en-US" sz="1129" b="1" dirty="0">
                          <a:solidFill>
                            <a:srgbClr val="6B7280"/>
                          </a:solidFill>
                          <a:latin typeface="Public Sans" pitchFamily="34" charset="0"/>
                          <a:ea typeface="Public Sans" pitchFamily="34" charset="-122"/>
                          <a:cs typeface="Public Sans" pitchFamily="34" charset="-120"/>
                        </a:rPr>
                        <a:t>NIT</a:t>
                      </a:r>
                      <a:endParaRPr lang="en-US" sz="1129" dirty="0">
                        <a:latin typeface="Public Sans" charset="0"/>
                        <a:ea typeface="Public Sans" charset="0"/>
                        <a:cs typeface="Public Sans" charset="0"/>
                      </a:endParaRPr>
                    </a:p>
                  </a:txBody>
                  <a:tcPr marL="50173" marR="50173" marT="50173" marB="50173">
                    <a:lnL w="12700" cap="flat" cmpd="sng" algn="ctr">
                      <a:solidFill>
                        <a:srgbClr val="BBBAB9"/>
                      </a:solidFill>
                      <a:prstDash val="solid"/>
                      <a:round/>
                      <a:headEnd type="none" w="med" len="med"/>
                      <a:tailEnd type="none" w="med" len="med"/>
                    </a:lnL>
                    <a:lnR w="12700" cap="flat" cmpd="sng" algn="ctr">
                      <a:solidFill>
                        <a:srgbClr val="BBBA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BBAB9"/>
                      </a:solidFill>
                      <a:prstDash val="solid"/>
                      <a:round/>
                      <a:headEnd type="none" w="med" len="med"/>
                      <a:tailEnd type="none" w="med" len="med"/>
                    </a:lnB>
                    <a:solidFill>
                      <a:srgbClr val="EAE9E8"/>
                    </a:solidFill>
                  </a:tcPr>
                </a:tc>
                <a:tc>
                  <a:txBody>
                    <a:bodyPr/>
                    <a:lstStyle/>
                    <a:p>
                      <a:pPr marL="0" indent="0">
                        <a:lnSpc>
                          <a:spcPts val="1580"/>
                        </a:lnSpc>
                        <a:buNone/>
                      </a:pPr>
                      <a:r>
                        <a:rPr lang="en-US" sz="1129" b="1" dirty="0">
                          <a:solidFill>
                            <a:srgbClr val="6B7280"/>
                          </a:solidFill>
                          <a:latin typeface="Public Sans" pitchFamily="34" charset="0"/>
                          <a:ea typeface="Public Sans" pitchFamily="34" charset="-122"/>
                          <a:cs typeface="Public Sans" pitchFamily="34" charset="-120"/>
                        </a:rPr>
                        <a:t>Branch</a:t>
                      </a:r>
                      <a:endParaRPr lang="en-US" sz="1129" dirty="0">
                        <a:latin typeface="Public Sans" charset="0"/>
                        <a:ea typeface="Public Sans" charset="0"/>
                        <a:cs typeface="Public Sans" charset="0"/>
                      </a:endParaRPr>
                    </a:p>
                  </a:txBody>
                  <a:tcPr marL="50173" marR="50173" marT="50173" marB="50173">
                    <a:lnL w="12700" cap="flat" cmpd="sng" algn="ctr">
                      <a:solidFill>
                        <a:srgbClr val="BBBAB9"/>
                      </a:solidFill>
                      <a:prstDash val="solid"/>
                      <a:round/>
                      <a:headEnd type="none" w="med" len="med"/>
                      <a:tailEnd type="none" w="med" len="med"/>
                    </a:lnL>
                    <a:lnR w="12700" cap="flat" cmpd="sng" algn="ctr">
                      <a:solidFill>
                        <a:srgbClr val="BBBA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BBAB9"/>
                      </a:solidFill>
                      <a:prstDash val="solid"/>
                      <a:round/>
                      <a:headEnd type="none" w="med" len="med"/>
                      <a:tailEnd type="none" w="med" len="med"/>
                    </a:lnB>
                    <a:solidFill>
                      <a:srgbClr val="EAE9E8"/>
                    </a:solidFill>
                  </a:tcPr>
                </a:tc>
                <a:tc>
                  <a:txBody>
                    <a:bodyPr/>
                    <a:lstStyle/>
                    <a:p>
                      <a:pPr marL="0" indent="0" algn="r">
                        <a:lnSpc>
                          <a:spcPts val="1580"/>
                        </a:lnSpc>
                        <a:buNone/>
                      </a:pPr>
                      <a:r>
                        <a:rPr lang="en-US" sz="1129" b="1" dirty="0">
                          <a:solidFill>
                            <a:srgbClr val="6B7280"/>
                          </a:solidFill>
                          <a:latin typeface="Public Sans" pitchFamily="34" charset="0"/>
                          <a:ea typeface="Public Sans" pitchFamily="34" charset="-122"/>
                          <a:cs typeface="Public Sans" pitchFamily="34" charset="-120"/>
                        </a:rPr>
                        <a:t>Degree</a:t>
                      </a:r>
                      <a:endParaRPr lang="en-US" sz="1129" dirty="0">
                        <a:latin typeface="Public Sans" charset="0"/>
                        <a:ea typeface="Public Sans" charset="0"/>
                        <a:cs typeface="Public Sans" charset="0"/>
                      </a:endParaRPr>
                    </a:p>
                  </a:txBody>
                  <a:tcPr marL="50173" marR="50173" marT="50173" marB="50173">
                    <a:lnL w="12700" cap="flat" cmpd="sng" algn="ctr">
                      <a:solidFill>
                        <a:srgbClr val="BBBAB9"/>
                      </a:solidFill>
                      <a:prstDash val="solid"/>
                      <a:round/>
                      <a:headEnd type="none" w="med" len="med"/>
                      <a:tailEnd type="none" w="med" len="med"/>
                    </a:lnL>
                    <a:lnR w="12700" cap="flat" cmpd="sng" algn="ctr">
                      <a:solidFill>
                        <a:srgbClr val="BBBA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BBAB9"/>
                      </a:solidFill>
                      <a:prstDash val="solid"/>
                      <a:round/>
                      <a:headEnd type="none" w="med" len="med"/>
                      <a:tailEnd type="none" w="med" len="med"/>
                    </a:lnB>
                    <a:solidFill>
                      <a:srgbClr val="EAE9E8"/>
                    </a:solidFill>
                  </a:tcPr>
                </a:tc>
                <a:tc>
                  <a:txBody>
                    <a:bodyPr/>
                    <a:lstStyle/>
                    <a:p>
                      <a:pPr marL="0" indent="0" algn="r">
                        <a:lnSpc>
                          <a:spcPts val="1580"/>
                        </a:lnSpc>
                        <a:buNone/>
                      </a:pPr>
                      <a:r>
                        <a:rPr lang="en-US" sz="1129" b="1" dirty="0">
                          <a:solidFill>
                            <a:srgbClr val="6B7280"/>
                          </a:solidFill>
                          <a:latin typeface="Public Sans" pitchFamily="34" charset="0"/>
                          <a:ea typeface="Public Sans" pitchFamily="34" charset="-122"/>
                          <a:cs typeface="Public Sans" pitchFamily="34" charset="-120"/>
                        </a:rPr>
                        <a:t>Betweenness</a:t>
                      </a:r>
                      <a:endParaRPr lang="en-US" sz="1129" dirty="0">
                        <a:latin typeface="Public Sans" charset="0"/>
                        <a:ea typeface="Public Sans" charset="0"/>
                        <a:cs typeface="Public Sans" charset="0"/>
                      </a:endParaRPr>
                    </a:p>
                  </a:txBody>
                  <a:tcPr marL="50173" marR="50173" marT="50173" marB="50173">
                    <a:lnL w="12700" cap="flat" cmpd="sng" algn="ctr">
                      <a:solidFill>
                        <a:srgbClr val="BBBAB9"/>
                      </a:solidFill>
                      <a:prstDash val="solid"/>
                      <a:round/>
                      <a:headEnd type="none" w="med" len="med"/>
                      <a:tailEnd type="none" w="med" len="med"/>
                    </a:lnL>
                    <a:lnR w="12700" cap="flat" cmpd="sng" algn="ctr">
                      <a:solidFill>
                        <a:srgbClr val="BBBA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BBAB9"/>
                      </a:solidFill>
                      <a:prstDash val="solid"/>
                      <a:round/>
                      <a:headEnd type="none" w="med" len="med"/>
                      <a:tailEnd type="none" w="med" len="med"/>
                    </a:lnB>
                    <a:solidFill>
                      <a:srgbClr val="EAE9E8"/>
                    </a:solidFill>
                  </a:tcPr>
                </a:tc>
                <a:extLst>
                  <a:ext uri="{0D108BD9-81ED-4DB2-BD59-A6C34878D82A}">
                    <a16:rowId xmlns:a16="http://schemas.microsoft.com/office/drawing/2014/main" val="10000"/>
                  </a:ext>
                </a:extLst>
              </a:tr>
              <a:tr h="511493">
                <a:tc>
                  <a:txBody>
                    <a:bodyPr/>
                    <a:lstStyle/>
                    <a:p>
                      <a:pPr marL="0" indent="0">
                        <a:lnSpc>
                          <a:spcPts val="1580"/>
                        </a:lnSpc>
                        <a:buNone/>
                      </a:pPr>
                      <a:r>
                        <a:rPr lang="en-US" sz="1129" dirty="0">
                          <a:solidFill>
                            <a:srgbClr val="14213D"/>
                          </a:solidFill>
                          <a:latin typeface="Public Sans" pitchFamily="34" charset="0"/>
                          <a:ea typeface="Public Sans" pitchFamily="34" charset="-122"/>
                          <a:cs typeface="Public Sans" pitchFamily="34" charset="-120"/>
                        </a:rPr>
                        <a:t>Ramesh M R</a:t>
                      </a:r>
                      <a:endParaRPr lang="en-US" sz="1129" dirty="0">
                        <a:latin typeface="Public Sans" charset="0"/>
                        <a:ea typeface="Public Sans" charset="0"/>
                        <a:cs typeface="Public Sans" charset="0"/>
                      </a:endParaRPr>
                    </a:p>
                  </a:txBody>
                  <a:tcPr marL="50173" marR="50173" marT="50173" marB="50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BBAB9"/>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580"/>
                        </a:lnSpc>
                        <a:buNone/>
                      </a:pPr>
                      <a:r>
                        <a:rPr lang="en-US" sz="1129" dirty="0">
                          <a:solidFill>
                            <a:srgbClr val="B34A1C"/>
                          </a:solidFill>
                          <a:latin typeface="Public Sans" pitchFamily="34" charset="0"/>
                          <a:ea typeface="Public Sans" pitchFamily="34" charset="-122"/>
                          <a:cs typeface="Public Sans" pitchFamily="34" charset="-120"/>
                        </a:rPr>
                        <a:t>Surathkal</a:t>
                      </a:r>
                      <a:endParaRPr lang="en-US" sz="1129" dirty="0">
                        <a:latin typeface="Public Sans" charset="0"/>
                        <a:ea typeface="Public Sans" charset="0"/>
                        <a:cs typeface="Public Sans" charset="0"/>
                      </a:endParaRPr>
                    </a:p>
                  </a:txBody>
                  <a:tcPr marL="50173" marR="50173" marT="50173" marB="50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BBAB9"/>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580"/>
                        </a:lnSpc>
                        <a:buNone/>
                      </a:pPr>
                      <a:r>
                        <a:rPr lang="en-US" sz="1129" dirty="0">
                          <a:solidFill>
                            <a:srgbClr val="4A5568"/>
                          </a:solidFill>
                          <a:latin typeface="Public Sans" pitchFamily="34" charset="0"/>
                          <a:ea typeface="Public Sans" pitchFamily="34" charset="-122"/>
                          <a:cs typeface="Public Sans" pitchFamily="34" charset="-120"/>
                        </a:rPr>
                        <a:t>Mechanical</a:t>
                      </a:r>
                      <a:endParaRPr lang="en-US" sz="1129" dirty="0">
                        <a:latin typeface="Public Sans" charset="0"/>
                        <a:ea typeface="Public Sans" charset="0"/>
                        <a:cs typeface="Public Sans" charset="0"/>
                      </a:endParaRPr>
                    </a:p>
                  </a:txBody>
                  <a:tcPr marL="50173" marR="50173" marT="50173" marB="50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BBAB9"/>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580"/>
                        </a:lnSpc>
                        <a:buNone/>
                      </a:pPr>
                      <a:r>
                        <a:rPr lang="en-US" sz="1129" dirty="0">
                          <a:solidFill>
                            <a:srgbClr val="4A5568"/>
                          </a:solidFill>
                          <a:latin typeface="Public Sans" pitchFamily="34" charset="0"/>
                          <a:ea typeface="Public Sans" pitchFamily="34" charset="-122"/>
                          <a:cs typeface="Public Sans" pitchFamily="34" charset="-120"/>
                        </a:rPr>
                        <a:t>22</a:t>
                      </a:r>
                      <a:endParaRPr lang="en-US" sz="1129" dirty="0">
                        <a:latin typeface="Public Sans" charset="0"/>
                        <a:ea typeface="Public Sans" charset="0"/>
                        <a:cs typeface="Public Sans" charset="0"/>
                      </a:endParaRPr>
                    </a:p>
                  </a:txBody>
                  <a:tcPr marL="50173" marR="50173" marT="50173" marB="50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BBAB9"/>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580"/>
                        </a:lnSpc>
                        <a:buNone/>
                      </a:pPr>
                      <a:r>
                        <a:rPr lang="en-US" sz="1129" dirty="0">
                          <a:solidFill>
                            <a:srgbClr val="4A5568"/>
                          </a:solidFill>
                          <a:latin typeface="Public Sans" pitchFamily="34" charset="0"/>
                          <a:ea typeface="Public Sans" pitchFamily="34" charset="-122"/>
                          <a:cs typeface="Public Sans" pitchFamily="34" charset="-120"/>
                        </a:rPr>
                        <a:t>0.101</a:t>
                      </a:r>
                      <a:endParaRPr lang="en-US" sz="1129" dirty="0">
                        <a:latin typeface="Public Sans" charset="0"/>
                        <a:ea typeface="Public Sans" charset="0"/>
                        <a:cs typeface="Public Sans" charset="0"/>
                      </a:endParaRPr>
                    </a:p>
                  </a:txBody>
                  <a:tcPr marL="50173" marR="50173" marT="50173" marB="50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BBAB9"/>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extLst>
                  <a:ext uri="{0D108BD9-81ED-4DB2-BD59-A6C34878D82A}">
                    <a16:rowId xmlns:a16="http://schemas.microsoft.com/office/drawing/2014/main" val="10001"/>
                  </a:ext>
                </a:extLst>
              </a:tr>
              <a:tr h="311150">
                <a:tc>
                  <a:txBody>
                    <a:bodyPr/>
                    <a:lstStyle/>
                    <a:p>
                      <a:pPr marL="0" indent="0">
                        <a:lnSpc>
                          <a:spcPts val="1580"/>
                        </a:lnSpc>
                        <a:buNone/>
                      </a:pPr>
                      <a:r>
                        <a:rPr lang="en-US" sz="1129" dirty="0">
                          <a:solidFill>
                            <a:srgbClr val="14213D"/>
                          </a:solidFill>
                          <a:latin typeface="Public Sans" pitchFamily="34" charset="0"/>
                          <a:ea typeface="Public Sans" pitchFamily="34" charset="-122"/>
                          <a:cs typeface="Public Sans" pitchFamily="34" charset="-120"/>
                        </a:rPr>
                        <a:t>P Palanisamy</a:t>
                      </a:r>
                      <a:endParaRPr lang="en-US" sz="1129" dirty="0">
                        <a:latin typeface="Public Sans" charset="0"/>
                        <a:ea typeface="Public Sans" charset="0"/>
                        <a:cs typeface="Public Sans" charset="0"/>
                      </a:endParaRPr>
                    </a:p>
                  </a:txBody>
                  <a:tcPr marL="50173" marR="50173" marT="50173" marB="50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580"/>
                        </a:lnSpc>
                        <a:buNone/>
                      </a:pPr>
                      <a:r>
                        <a:rPr lang="en-US" sz="1129" dirty="0">
                          <a:solidFill>
                            <a:srgbClr val="1F63B8"/>
                          </a:solidFill>
                          <a:latin typeface="Public Sans" pitchFamily="34" charset="0"/>
                          <a:ea typeface="Public Sans" pitchFamily="34" charset="-122"/>
                          <a:cs typeface="Public Sans" pitchFamily="34" charset="-120"/>
                        </a:rPr>
                        <a:t>Trichy</a:t>
                      </a:r>
                      <a:endParaRPr lang="en-US" sz="1129" dirty="0">
                        <a:latin typeface="Public Sans" charset="0"/>
                        <a:ea typeface="Public Sans" charset="0"/>
                        <a:cs typeface="Public Sans" charset="0"/>
                      </a:endParaRPr>
                    </a:p>
                  </a:txBody>
                  <a:tcPr marL="50173" marR="50173" marT="50173" marB="50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580"/>
                        </a:lnSpc>
                        <a:buNone/>
                      </a:pPr>
                      <a:r>
                        <a:rPr lang="en-US" sz="1129" dirty="0">
                          <a:solidFill>
                            <a:srgbClr val="4A5568"/>
                          </a:solidFill>
                          <a:latin typeface="Public Sans" pitchFamily="34" charset="0"/>
                          <a:ea typeface="Public Sans" pitchFamily="34" charset="-122"/>
                          <a:cs typeface="Public Sans" pitchFamily="34" charset="-120"/>
                        </a:rPr>
                        <a:t>ECE</a:t>
                      </a:r>
                      <a:endParaRPr lang="en-US" sz="1129" dirty="0">
                        <a:latin typeface="Public Sans" charset="0"/>
                        <a:ea typeface="Public Sans" charset="0"/>
                        <a:cs typeface="Public Sans" charset="0"/>
                      </a:endParaRPr>
                    </a:p>
                  </a:txBody>
                  <a:tcPr marL="50173" marR="50173" marT="50173" marB="50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580"/>
                        </a:lnSpc>
                        <a:buNone/>
                      </a:pPr>
                      <a:r>
                        <a:rPr lang="en-US" sz="1129" dirty="0">
                          <a:solidFill>
                            <a:srgbClr val="4A5568"/>
                          </a:solidFill>
                          <a:latin typeface="Public Sans" pitchFamily="34" charset="0"/>
                          <a:ea typeface="Public Sans" pitchFamily="34" charset="-122"/>
                          <a:cs typeface="Public Sans" pitchFamily="34" charset="-120"/>
                        </a:rPr>
                        <a:t>10</a:t>
                      </a:r>
                      <a:endParaRPr lang="en-US" sz="1129" dirty="0">
                        <a:latin typeface="Public Sans" charset="0"/>
                        <a:ea typeface="Public Sans" charset="0"/>
                        <a:cs typeface="Public Sans" charset="0"/>
                      </a:endParaRPr>
                    </a:p>
                  </a:txBody>
                  <a:tcPr marL="50173" marR="50173" marT="50173" marB="50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580"/>
                        </a:lnSpc>
                        <a:buNone/>
                      </a:pPr>
                      <a:r>
                        <a:rPr lang="en-US" sz="1129" dirty="0">
                          <a:solidFill>
                            <a:srgbClr val="4A5568"/>
                          </a:solidFill>
                          <a:latin typeface="Public Sans" pitchFamily="34" charset="0"/>
                          <a:ea typeface="Public Sans" pitchFamily="34" charset="-122"/>
                          <a:cs typeface="Public Sans" pitchFamily="34" charset="-120"/>
                        </a:rPr>
                        <a:t>0.077</a:t>
                      </a:r>
                      <a:endParaRPr lang="en-US" sz="1129" dirty="0">
                        <a:latin typeface="Public Sans" charset="0"/>
                        <a:ea typeface="Public Sans" charset="0"/>
                        <a:cs typeface="Public Sans" charset="0"/>
                      </a:endParaRPr>
                    </a:p>
                  </a:txBody>
                  <a:tcPr marL="50173" marR="50173" marT="50173" marB="50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extLst>
                  <a:ext uri="{0D108BD9-81ED-4DB2-BD59-A6C34878D82A}">
                    <a16:rowId xmlns:a16="http://schemas.microsoft.com/office/drawing/2014/main" val="10002"/>
                  </a:ext>
                </a:extLst>
              </a:tr>
              <a:tr h="511572">
                <a:tc>
                  <a:txBody>
                    <a:bodyPr/>
                    <a:lstStyle/>
                    <a:p>
                      <a:pPr marL="0" indent="0">
                        <a:lnSpc>
                          <a:spcPts val="1580"/>
                        </a:lnSpc>
                        <a:buNone/>
                      </a:pPr>
                      <a:r>
                        <a:rPr lang="en-US" sz="1129" dirty="0">
                          <a:solidFill>
                            <a:srgbClr val="14213D"/>
                          </a:solidFill>
                          <a:latin typeface="Public Sans" pitchFamily="34" charset="0"/>
                          <a:ea typeface="Public Sans" pitchFamily="34" charset="-122"/>
                          <a:cs typeface="Public Sans" pitchFamily="34" charset="-120"/>
                        </a:rPr>
                        <a:t>Gangadharan K V</a:t>
                      </a:r>
                      <a:endParaRPr lang="en-US" sz="1129" dirty="0">
                        <a:latin typeface="Public Sans" charset="0"/>
                        <a:ea typeface="Public Sans" charset="0"/>
                        <a:cs typeface="Public Sans" charset="0"/>
                      </a:endParaRPr>
                    </a:p>
                  </a:txBody>
                  <a:tcPr marL="50173" marR="50173" marT="50173" marB="50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580"/>
                        </a:lnSpc>
                        <a:buNone/>
                      </a:pPr>
                      <a:r>
                        <a:rPr lang="en-US" sz="1129" dirty="0">
                          <a:solidFill>
                            <a:srgbClr val="B34A1C"/>
                          </a:solidFill>
                          <a:latin typeface="Public Sans" pitchFamily="34" charset="0"/>
                          <a:ea typeface="Public Sans" pitchFamily="34" charset="-122"/>
                          <a:cs typeface="Public Sans" pitchFamily="34" charset="-120"/>
                        </a:rPr>
                        <a:t>Surathkal</a:t>
                      </a:r>
                      <a:endParaRPr lang="en-US" sz="1129" dirty="0">
                        <a:latin typeface="Public Sans" charset="0"/>
                        <a:ea typeface="Public Sans" charset="0"/>
                        <a:cs typeface="Public Sans" charset="0"/>
                      </a:endParaRPr>
                    </a:p>
                  </a:txBody>
                  <a:tcPr marL="50173" marR="50173" marT="50173" marB="50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580"/>
                        </a:lnSpc>
                        <a:buNone/>
                      </a:pPr>
                      <a:r>
                        <a:rPr lang="en-US" sz="1129" dirty="0">
                          <a:solidFill>
                            <a:srgbClr val="4A5568"/>
                          </a:solidFill>
                          <a:latin typeface="Public Sans" pitchFamily="34" charset="0"/>
                          <a:ea typeface="Public Sans" pitchFamily="34" charset="-122"/>
                          <a:cs typeface="Public Sans" pitchFamily="34" charset="-120"/>
                        </a:rPr>
                        <a:t>Mechanical</a:t>
                      </a:r>
                      <a:endParaRPr lang="en-US" sz="1129" dirty="0">
                        <a:latin typeface="Public Sans" charset="0"/>
                        <a:ea typeface="Public Sans" charset="0"/>
                        <a:cs typeface="Public Sans" charset="0"/>
                      </a:endParaRPr>
                    </a:p>
                  </a:txBody>
                  <a:tcPr marL="50173" marR="50173" marT="50173" marB="50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580"/>
                        </a:lnSpc>
                        <a:buNone/>
                      </a:pPr>
                      <a:r>
                        <a:rPr lang="en-US" sz="1129" dirty="0">
                          <a:solidFill>
                            <a:srgbClr val="4A5568"/>
                          </a:solidFill>
                          <a:latin typeface="Public Sans" pitchFamily="34" charset="0"/>
                          <a:ea typeface="Public Sans" pitchFamily="34" charset="-122"/>
                          <a:cs typeface="Public Sans" pitchFamily="34" charset="-120"/>
                        </a:rPr>
                        <a:t>14</a:t>
                      </a:r>
                      <a:endParaRPr lang="en-US" sz="1129" dirty="0">
                        <a:latin typeface="Public Sans" charset="0"/>
                        <a:ea typeface="Public Sans" charset="0"/>
                        <a:cs typeface="Public Sans" charset="0"/>
                      </a:endParaRPr>
                    </a:p>
                  </a:txBody>
                  <a:tcPr marL="50173" marR="50173" marT="50173" marB="50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580"/>
                        </a:lnSpc>
                        <a:buNone/>
                      </a:pPr>
                      <a:r>
                        <a:rPr lang="en-US" sz="1129" dirty="0">
                          <a:solidFill>
                            <a:srgbClr val="4A5568"/>
                          </a:solidFill>
                          <a:latin typeface="Public Sans" pitchFamily="34" charset="0"/>
                          <a:ea typeface="Public Sans" pitchFamily="34" charset="-122"/>
                          <a:cs typeface="Public Sans" pitchFamily="34" charset="-120"/>
                        </a:rPr>
                        <a:t>0.071</a:t>
                      </a:r>
                      <a:endParaRPr lang="en-US" sz="1129" dirty="0">
                        <a:latin typeface="Public Sans" charset="0"/>
                        <a:ea typeface="Public Sans" charset="0"/>
                        <a:cs typeface="Public Sans" charset="0"/>
                      </a:endParaRPr>
                    </a:p>
                  </a:txBody>
                  <a:tcPr marL="50173" marR="50173" marT="50173" marB="50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extLst>
                  <a:ext uri="{0D108BD9-81ED-4DB2-BD59-A6C34878D82A}">
                    <a16:rowId xmlns:a16="http://schemas.microsoft.com/office/drawing/2014/main" val="10003"/>
                  </a:ext>
                </a:extLst>
              </a:tr>
              <a:tr h="311150">
                <a:tc>
                  <a:txBody>
                    <a:bodyPr/>
                    <a:lstStyle/>
                    <a:p>
                      <a:pPr marL="0" indent="0">
                        <a:lnSpc>
                          <a:spcPts val="1580"/>
                        </a:lnSpc>
                        <a:buNone/>
                      </a:pPr>
                      <a:r>
                        <a:rPr lang="en-US" sz="1129" dirty="0">
                          <a:solidFill>
                            <a:srgbClr val="14213D"/>
                          </a:solidFill>
                          <a:latin typeface="Public Sans" pitchFamily="34" charset="0"/>
                          <a:ea typeface="Public Sans" pitchFamily="34" charset="-122"/>
                          <a:cs typeface="Public Sans" pitchFamily="34" charset="-120"/>
                        </a:rPr>
                        <a:t>N Sivakumaran</a:t>
                      </a:r>
                      <a:endParaRPr lang="en-US" sz="1129" dirty="0">
                        <a:latin typeface="Public Sans" charset="0"/>
                        <a:ea typeface="Public Sans" charset="0"/>
                        <a:cs typeface="Public Sans" charset="0"/>
                      </a:endParaRPr>
                    </a:p>
                  </a:txBody>
                  <a:tcPr marL="50173" marR="50173" marT="50173" marB="50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580"/>
                        </a:lnSpc>
                        <a:buNone/>
                      </a:pPr>
                      <a:r>
                        <a:rPr lang="en-US" sz="1129" dirty="0">
                          <a:solidFill>
                            <a:srgbClr val="1F63B8"/>
                          </a:solidFill>
                          <a:latin typeface="Public Sans" pitchFamily="34" charset="0"/>
                          <a:ea typeface="Public Sans" pitchFamily="34" charset="-122"/>
                          <a:cs typeface="Public Sans" pitchFamily="34" charset="-120"/>
                        </a:rPr>
                        <a:t>Trichy</a:t>
                      </a:r>
                      <a:endParaRPr lang="en-US" sz="1129" dirty="0">
                        <a:latin typeface="Public Sans" charset="0"/>
                        <a:ea typeface="Public Sans" charset="0"/>
                        <a:cs typeface="Public Sans" charset="0"/>
                      </a:endParaRPr>
                    </a:p>
                  </a:txBody>
                  <a:tcPr marL="50173" marR="50173" marT="50173" marB="50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580"/>
                        </a:lnSpc>
                        <a:buNone/>
                      </a:pPr>
                      <a:r>
                        <a:rPr lang="en-US" sz="1129" dirty="0">
                          <a:solidFill>
                            <a:srgbClr val="4A5568"/>
                          </a:solidFill>
                          <a:latin typeface="Public Sans" pitchFamily="34" charset="0"/>
                          <a:ea typeface="Public Sans" pitchFamily="34" charset="-122"/>
                          <a:cs typeface="Public Sans" pitchFamily="34" charset="-120"/>
                        </a:rPr>
                        <a:t>ICE</a:t>
                      </a:r>
                      <a:endParaRPr lang="en-US" sz="1129" dirty="0">
                        <a:latin typeface="Public Sans" charset="0"/>
                        <a:ea typeface="Public Sans" charset="0"/>
                        <a:cs typeface="Public Sans" charset="0"/>
                      </a:endParaRPr>
                    </a:p>
                  </a:txBody>
                  <a:tcPr marL="50173" marR="50173" marT="50173" marB="50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580"/>
                        </a:lnSpc>
                        <a:buNone/>
                      </a:pPr>
                      <a:r>
                        <a:rPr lang="en-US" sz="1129" dirty="0">
                          <a:solidFill>
                            <a:srgbClr val="4A5568"/>
                          </a:solidFill>
                          <a:latin typeface="Public Sans" pitchFamily="34" charset="0"/>
                          <a:ea typeface="Public Sans" pitchFamily="34" charset="-122"/>
                          <a:cs typeface="Public Sans" pitchFamily="34" charset="-120"/>
                        </a:rPr>
                        <a:t>13</a:t>
                      </a:r>
                      <a:endParaRPr lang="en-US" sz="1129" dirty="0">
                        <a:latin typeface="Public Sans" charset="0"/>
                        <a:ea typeface="Public Sans" charset="0"/>
                        <a:cs typeface="Public Sans" charset="0"/>
                      </a:endParaRPr>
                    </a:p>
                  </a:txBody>
                  <a:tcPr marL="50173" marR="50173" marT="50173" marB="50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580"/>
                        </a:lnSpc>
                        <a:buNone/>
                      </a:pPr>
                      <a:r>
                        <a:rPr lang="en-US" sz="1129" dirty="0">
                          <a:solidFill>
                            <a:srgbClr val="4A5568"/>
                          </a:solidFill>
                          <a:latin typeface="Public Sans" pitchFamily="34" charset="0"/>
                          <a:ea typeface="Public Sans" pitchFamily="34" charset="-122"/>
                          <a:cs typeface="Public Sans" pitchFamily="34" charset="-120"/>
                        </a:rPr>
                        <a:t>0.060</a:t>
                      </a:r>
                      <a:endParaRPr lang="en-US" sz="1129" dirty="0">
                        <a:latin typeface="Public Sans" charset="0"/>
                        <a:ea typeface="Public Sans" charset="0"/>
                        <a:cs typeface="Public Sans" charset="0"/>
                      </a:endParaRPr>
                    </a:p>
                  </a:txBody>
                  <a:tcPr marL="50173" marR="50173" marT="50173" marB="50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extLst>
                  <a:ext uri="{0D108BD9-81ED-4DB2-BD59-A6C34878D82A}">
                    <a16:rowId xmlns:a16="http://schemas.microsoft.com/office/drawing/2014/main" val="10004"/>
                  </a:ext>
                </a:extLst>
              </a:tr>
              <a:tr h="311150">
                <a:tc>
                  <a:txBody>
                    <a:bodyPr/>
                    <a:lstStyle/>
                    <a:p>
                      <a:pPr marL="0" indent="0">
                        <a:lnSpc>
                          <a:spcPts val="1580"/>
                        </a:lnSpc>
                        <a:buNone/>
                      </a:pPr>
                      <a:r>
                        <a:rPr lang="en-US" sz="1129" dirty="0">
                          <a:solidFill>
                            <a:srgbClr val="14213D"/>
                          </a:solidFill>
                          <a:latin typeface="Public Sans" pitchFamily="34" charset="0"/>
                          <a:ea typeface="Public Sans" pitchFamily="34" charset="-122"/>
                          <a:cs typeface="Public Sans" pitchFamily="34" charset="-120"/>
                        </a:rPr>
                        <a:t>Jeny Rajan</a:t>
                      </a:r>
                      <a:endParaRPr lang="en-US" sz="1129" dirty="0">
                        <a:latin typeface="Public Sans" charset="0"/>
                        <a:ea typeface="Public Sans" charset="0"/>
                        <a:cs typeface="Public Sans" charset="0"/>
                      </a:endParaRPr>
                    </a:p>
                  </a:txBody>
                  <a:tcPr marL="50173" marR="50173" marT="50173" marB="50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580"/>
                        </a:lnSpc>
                        <a:buNone/>
                      </a:pPr>
                      <a:r>
                        <a:rPr lang="en-US" sz="1129" dirty="0">
                          <a:solidFill>
                            <a:srgbClr val="B34A1C"/>
                          </a:solidFill>
                          <a:latin typeface="Public Sans" pitchFamily="34" charset="0"/>
                          <a:ea typeface="Public Sans" pitchFamily="34" charset="-122"/>
                          <a:cs typeface="Public Sans" pitchFamily="34" charset="-120"/>
                        </a:rPr>
                        <a:t>Surathkal</a:t>
                      </a:r>
                      <a:endParaRPr lang="en-US" sz="1129" dirty="0">
                        <a:latin typeface="Public Sans" charset="0"/>
                        <a:ea typeface="Public Sans" charset="0"/>
                        <a:cs typeface="Public Sans" charset="0"/>
                      </a:endParaRPr>
                    </a:p>
                  </a:txBody>
                  <a:tcPr marL="50173" marR="50173" marT="50173" marB="50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580"/>
                        </a:lnSpc>
                        <a:buNone/>
                      </a:pPr>
                      <a:r>
                        <a:rPr lang="en-US" sz="1129" dirty="0">
                          <a:solidFill>
                            <a:srgbClr val="4A5568"/>
                          </a:solidFill>
                          <a:latin typeface="Public Sans" pitchFamily="34" charset="0"/>
                          <a:ea typeface="Public Sans" pitchFamily="34" charset="-122"/>
                          <a:cs typeface="Public Sans" pitchFamily="34" charset="-120"/>
                        </a:rPr>
                        <a:t>CSE</a:t>
                      </a:r>
                      <a:endParaRPr lang="en-US" sz="1129" dirty="0">
                        <a:latin typeface="Public Sans" charset="0"/>
                        <a:ea typeface="Public Sans" charset="0"/>
                        <a:cs typeface="Public Sans" charset="0"/>
                      </a:endParaRPr>
                    </a:p>
                  </a:txBody>
                  <a:tcPr marL="50173" marR="50173" marT="50173" marB="50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580"/>
                        </a:lnSpc>
                        <a:buNone/>
                      </a:pPr>
                      <a:r>
                        <a:rPr lang="en-US" sz="1129" dirty="0">
                          <a:solidFill>
                            <a:srgbClr val="4A5568"/>
                          </a:solidFill>
                          <a:latin typeface="Public Sans" pitchFamily="34" charset="0"/>
                          <a:ea typeface="Public Sans" pitchFamily="34" charset="-122"/>
                          <a:cs typeface="Public Sans" pitchFamily="34" charset="-120"/>
                        </a:rPr>
                        <a:t>10</a:t>
                      </a:r>
                      <a:endParaRPr lang="en-US" sz="1129" dirty="0">
                        <a:latin typeface="Public Sans" charset="0"/>
                        <a:ea typeface="Public Sans" charset="0"/>
                        <a:cs typeface="Public Sans" charset="0"/>
                      </a:endParaRPr>
                    </a:p>
                  </a:txBody>
                  <a:tcPr marL="50173" marR="50173" marT="50173" marB="50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580"/>
                        </a:lnSpc>
                        <a:buNone/>
                      </a:pPr>
                      <a:r>
                        <a:rPr lang="en-US" sz="1129" dirty="0">
                          <a:solidFill>
                            <a:srgbClr val="4A5568"/>
                          </a:solidFill>
                          <a:latin typeface="Public Sans" pitchFamily="34" charset="0"/>
                          <a:ea typeface="Public Sans" pitchFamily="34" charset="-122"/>
                          <a:cs typeface="Public Sans" pitchFamily="34" charset="-120"/>
                        </a:rPr>
                        <a:t>0.060</a:t>
                      </a:r>
                      <a:endParaRPr lang="en-US" sz="1129" dirty="0">
                        <a:latin typeface="Public Sans" charset="0"/>
                        <a:ea typeface="Public Sans" charset="0"/>
                        <a:cs typeface="Public Sans" charset="0"/>
                      </a:endParaRPr>
                    </a:p>
                  </a:txBody>
                  <a:tcPr marL="50173" marR="50173" marT="50173" marB="50173">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4" name="Shape 10"/>
          <p:cNvSpPr/>
          <p:nvPr/>
        </p:nvSpPr>
        <p:spPr>
          <a:xfrm>
            <a:off x="5768975" y="4392061"/>
            <a:ext cx="5607050" cy="1649968"/>
          </a:xfrm>
          <a:prstGeom prst="roundRect">
            <a:avLst>
              <a:gd name="adj" fmla="val 7505"/>
            </a:avLst>
          </a:prstGeom>
          <a:solidFill>
            <a:srgbClr val="FDFCFA"/>
          </a:solidFill>
          <a:ln w="6350">
            <a:solidFill>
              <a:srgbClr val="E4E1D8"/>
            </a:solidFill>
            <a:prstDash val="solid"/>
          </a:ln>
        </p:spPr>
      </p:sp>
      <p:sp>
        <p:nvSpPr>
          <p:cNvPr id="15" name="Text 11"/>
          <p:cNvSpPr/>
          <p:nvPr/>
        </p:nvSpPr>
        <p:spPr>
          <a:xfrm>
            <a:off x="5923280" y="4520964"/>
            <a:ext cx="2676373" cy="286941"/>
          </a:xfrm>
          <a:prstGeom prst="rect">
            <a:avLst/>
          </a:prstGeom>
          <a:noFill/>
          <a:ln/>
        </p:spPr>
        <p:txBody>
          <a:bodyPr wrap="square" lIns="0" tIns="0" rIns="0" bIns="0" rtlCol="0" anchor="t">
            <a:normAutofit/>
          </a:bodyPr>
          <a:lstStyle/>
          <a:p>
            <a:pPr marL="0" indent="0" algn="l">
              <a:lnSpc>
                <a:spcPts val="2069"/>
              </a:lnSpc>
              <a:buNone/>
            </a:pPr>
            <a:r>
              <a:rPr lang="en-US" sz="1881" b="1" dirty="0">
                <a:solidFill>
                  <a:srgbClr val="4A3BB0"/>
                </a:solidFill>
                <a:latin typeface="Space Grotesk" pitchFamily="34" charset="0"/>
                <a:ea typeface="Space Grotesk" pitchFamily="34" charset="-122"/>
                <a:cs typeface="Space Grotesk" pitchFamily="34" charset="-120"/>
              </a:rPr>
              <a:t>161</a:t>
            </a:r>
            <a:endParaRPr lang="en-US" sz="1881" dirty="0"/>
          </a:p>
        </p:txBody>
      </p:sp>
      <p:sp>
        <p:nvSpPr>
          <p:cNvPr id="16" name="Text 12"/>
          <p:cNvSpPr/>
          <p:nvPr/>
        </p:nvSpPr>
        <p:spPr>
          <a:xfrm>
            <a:off x="5923280" y="4795205"/>
            <a:ext cx="2700020" cy="396399"/>
          </a:xfrm>
          <a:prstGeom prst="rect">
            <a:avLst/>
          </a:prstGeom>
          <a:noFill/>
          <a:ln/>
        </p:spPr>
        <p:txBody>
          <a:bodyPr wrap="square" lIns="0" tIns="0" rIns="0" bIns="0" rtlCol="0" anchor="t">
            <a:normAutofit/>
          </a:bodyPr>
          <a:lstStyle/>
          <a:p>
            <a:pPr marL="0" indent="0" algn="l">
              <a:lnSpc>
                <a:spcPts val="1506"/>
              </a:lnSpc>
              <a:buNone/>
            </a:pPr>
            <a:r>
              <a:rPr lang="en-US" sz="1159" dirty="0">
                <a:solidFill>
                  <a:srgbClr val="4A5568"/>
                </a:solidFill>
                <a:latin typeface="Public Sans" pitchFamily="34" charset="0"/>
                <a:ea typeface="Public Sans" pitchFamily="34" charset="-122"/>
                <a:cs typeface="Public Sans" pitchFamily="34" charset="-120"/>
              </a:rPr>
              <a:t>Louvain communities, modularity 0.85</a:t>
            </a:r>
            <a:endParaRPr lang="en-US" sz="1159" dirty="0"/>
          </a:p>
        </p:txBody>
      </p:sp>
      <p:sp>
        <p:nvSpPr>
          <p:cNvPr id="17" name="Text 13"/>
          <p:cNvSpPr/>
          <p:nvPr/>
        </p:nvSpPr>
        <p:spPr>
          <a:xfrm>
            <a:off x="8623300" y="4520964"/>
            <a:ext cx="2676373" cy="286941"/>
          </a:xfrm>
          <a:prstGeom prst="rect">
            <a:avLst/>
          </a:prstGeom>
          <a:noFill/>
          <a:ln/>
        </p:spPr>
        <p:txBody>
          <a:bodyPr wrap="square" lIns="0" tIns="0" rIns="0" bIns="0" rtlCol="0" anchor="t">
            <a:normAutofit/>
          </a:bodyPr>
          <a:lstStyle/>
          <a:p>
            <a:pPr marL="0" indent="0" algn="l">
              <a:lnSpc>
                <a:spcPts val="2069"/>
              </a:lnSpc>
              <a:buNone/>
            </a:pPr>
            <a:r>
              <a:rPr lang="en-US" sz="1881" b="1" dirty="0">
                <a:solidFill>
                  <a:srgbClr val="4A3BB0"/>
                </a:solidFill>
                <a:latin typeface="Space Grotesk" pitchFamily="34" charset="0"/>
                <a:ea typeface="Space Grotesk" pitchFamily="34" charset="-122"/>
                <a:cs typeface="Space Grotesk" pitchFamily="34" charset="-120"/>
              </a:rPr>
              <a:t>NMI 0.68</a:t>
            </a:r>
            <a:endParaRPr lang="en-US" sz="1881" dirty="0"/>
          </a:p>
        </p:txBody>
      </p:sp>
      <p:sp>
        <p:nvSpPr>
          <p:cNvPr id="18" name="Text 14"/>
          <p:cNvSpPr/>
          <p:nvPr/>
        </p:nvSpPr>
        <p:spPr>
          <a:xfrm>
            <a:off x="8623300" y="4795205"/>
            <a:ext cx="2676373" cy="396399"/>
          </a:xfrm>
          <a:prstGeom prst="rect">
            <a:avLst/>
          </a:prstGeom>
          <a:noFill/>
          <a:ln/>
        </p:spPr>
        <p:txBody>
          <a:bodyPr wrap="square" lIns="0" tIns="0" rIns="0" bIns="0" rtlCol="0" anchor="t">
            <a:normAutofit/>
          </a:bodyPr>
          <a:lstStyle/>
          <a:p>
            <a:pPr marL="0" indent="0" algn="l">
              <a:lnSpc>
                <a:spcPts val="1458"/>
              </a:lnSpc>
              <a:buNone/>
            </a:pPr>
            <a:r>
              <a:rPr lang="en-US" sz="1121" dirty="0">
                <a:solidFill>
                  <a:srgbClr val="4A5568"/>
                </a:solidFill>
                <a:latin typeface="Public Sans" pitchFamily="34" charset="0"/>
                <a:ea typeface="Public Sans" pitchFamily="34" charset="-122"/>
                <a:cs typeface="Public Sans" pitchFamily="34" charset="-120"/>
              </a:rPr>
              <a:t>communities vs departments (0.24 if random)</a:t>
            </a:r>
            <a:endParaRPr lang="en-US" sz="1121" dirty="0"/>
          </a:p>
        </p:txBody>
      </p:sp>
      <p:sp>
        <p:nvSpPr>
          <p:cNvPr id="19" name="Text 15"/>
          <p:cNvSpPr/>
          <p:nvPr/>
        </p:nvSpPr>
        <p:spPr>
          <a:xfrm>
            <a:off x="5923280" y="5267802"/>
            <a:ext cx="2676373" cy="287020"/>
          </a:xfrm>
          <a:prstGeom prst="rect">
            <a:avLst/>
          </a:prstGeom>
          <a:noFill/>
          <a:ln/>
        </p:spPr>
        <p:txBody>
          <a:bodyPr wrap="square" lIns="0" tIns="0" rIns="0" bIns="0" rtlCol="0" anchor="t">
            <a:normAutofit/>
          </a:bodyPr>
          <a:lstStyle/>
          <a:p>
            <a:pPr marL="0" indent="0" algn="l">
              <a:lnSpc>
                <a:spcPts val="2069"/>
              </a:lnSpc>
              <a:buNone/>
            </a:pPr>
            <a:r>
              <a:rPr lang="en-US" sz="1881" b="1" dirty="0">
                <a:solidFill>
                  <a:srgbClr val="4A3BB0"/>
                </a:solidFill>
                <a:latin typeface="Space Grotesk" pitchFamily="34" charset="0"/>
                <a:ea typeface="Space Grotesk" pitchFamily="34" charset="-122"/>
                <a:cs typeface="Space Grotesk" pitchFamily="34" charset="-120"/>
              </a:rPr>
              <a:t>σ = 16.1</a:t>
            </a:r>
            <a:endParaRPr lang="en-US" sz="1881" dirty="0"/>
          </a:p>
        </p:txBody>
      </p:sp>
      <p:sp>
        <p:nvSpPr>
          <p:cNvPr id="20" name="Text 16"/>
          <p:cNvSpPr/>
          <p:nvPr/>
        </p:nvSpPr>
        <p:spPr>
          <a:xfrm>
            <a:off x="5923280" y="5542124"/>
            <a:ext cx="2676373" cy="396399"/>
          </a:xfrm>
          <a:prstGeom prst="rect">
            <a:avLst/>
          </a:prstGeom>
          <a:noFill/>
          <a:ln/>
        </p:spPr>
        <p:txBody>
          <a:bodyPr wrap="square" lIns="0" tIns="0" rIns="0" bIns="0" rtlCol="0" anchor="t">
            <a:normAutofit/>
          </a:bodyPr>
          <a:lstStyle/>
          <a:p>
            <a:pPr marL="0" indent="0" algn="l">
              <a:lnSpc>
                <a:spcPts val="1458"/>
              </a:lnSpc>
              <a:buNone/>
            </a:pPr>
            <a:r>
              <a:rPr lang="en-US" sz="1121" dirty="0">
                <a:solidFill>
                  <a:srgbClr val="4A5568"/>
                </a:solidFill>
                <a:latin typeface="Public Sans" pitchFamily="34" charset="0"/>
                <a:ea typeface="Public Sans" pitchFamily="34" charset="-122"/>
                <a:cs typeface="Public Sans" pitchFamily="34" charset="-120"/>
              </a:rPr>
              <a:t>small world: clustering 0.21 vs 0.010 random</a:t>
            </a:r>
            <a:endParaRPr lang="en-US" sz="1121" dirty="0"/>
          </a:p>
        </p:txBody>
      </p:sp>
      <p:sp>
        <p:nvSpPr>
          <p:cNvPr id="21" name="Text 17"/>
          <p:cNvSpPr/>
          <p:nvPr/>
        </p:nvSpPr>
        <p:spPr>
          <a:xfrm>
            <a:off x="8623300" y="5267802"/>
            <a:ext cx="2676373"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4A3BB0"/>
                </a:solidFill>
                <a:latin typeface="Space Grotesk" pitchFamily="34" charset="0"/>
                <a:ea typeface="Space Grotesk" pitchFamily="34" charset="-122"/>
                <a:cs typeface="Space Grotesk" pitchFamily="34" charset="-120"/>
              </a:rPr>
              <a:t>28</a:t>
            </a:r>
            <a:endParaRPr lang="en-US" sz="2000" dirty="0"/>
          </a:p>
        </p:txBody>
      </p:sp>
      <p:sp>
        <p:nvSpPr>
          <p:cNvPr id="22" name="Text 18"/>
          <p:cNvSpPr/>
          <p:nvPr/>
        </p:nvSpPr>
        <p:spPr>
          <a:xfrm>
            <a:off x="8623300" y="5559902"/>
            <a:ext cx="2676373"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A5568"/>
                </a:solidFill>
                <a:latin typeface="Public Sans" pitchFamily="34" charset="0"/>
                <a:ea typeface="Public Sans" pitchFamily="34" charset="-122"/>
                <a:cs typeface="Public Sans" pitchFamily="34" charset="-120"/>
              </a:rPr>
              <a:t>of the 961 links join the two NITs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4BC4"/>
                </a:solidFill>
                <a:latin typeface="Public Sans" pitchFamily="34" charset="0"/>
                <a:ea typeface="Public Sans" pitchFamily="34" charset="-122"/>
                <a:cs typeface="Public Sans" pitchFamily="34" charset="-120"/>
              </a:rPr>
              <a:t>08 · INDIAN CONNECTIVITY</a:t>
            </a:r>
            <a:endParaRPr lang="en-US" sz="1200" dirty="0"/>
          </a:p>
        </p:txBody>
      </p:sp>
      <p:sp>
        <p:nvSpPr>
          <p:cNvPr id="3" name="Text 1"/>
          <p:cNvSpPr>
            <a:spLocks noGrp="1"/>
          </p:cNvSpPr>
          <p:nvPr>
            <p:ph type="title"/>
          </p:nvPr>
        </p:nvSpPr>
        <p:spPr>
          <a:xfrm>
            <a:off x="812800" y="975364"/>
            <a:ext cx="10883392" cy="452120"/>
          </a:xfrm>
          <a:prstGeom prst="rect">
            <a:avLst/>
          </a:prstGeom>
          <a:noFill/>
          <a:ln/>
        </p:spPr>
        <p:txBody>
          <a:bodyPr wrap="square" lIns="0" tIns="0" rIns="0" bIns="0" rtlCol="0" anchor="t">
            <a:normAutofit/>
          </a:bodyPr>
          <a:lstStyle/>
          <a:p>
            <a:pPr marL="0" indent="0" algn="l">
              <a:lnSpc>
                <a:spcPts val="3360"/>
              </a:lnSpc>
              <a:buNone/>
            </a:pPr>
            <a:r>
              <a:rPr lang="en-US" sz="3200" b="1" i="0" kern="0" spc="-50" dirty="0">
                <a:solidFill>
                  <a:srgbClr val="14213D"/>
                </a:solidFill>
                <a:latin typeface="Space Grotesk" pitchFamily="34" charset="0"/>
                <a:ea typeface="Space Grotesk" pitchFamily="34" charset="-122"/>
                <a:cs typeface="Space Grotesk" pitchFamily="34" charset="-120"/>
              </a:rPr>
              <a:t>We draw on IITs and labs; universities draw on us</a:t>
            </a:r>
            <a:endParaRPr lang="en-US" sz="3200" dirty="0"/>
          </a:p>
        </p:txBody>
      </p:sp>
      <p:sp>
        <p:nvSpPr>
          <p:cNvPr id="4" name="Shape 2"/>
          <p:cNvSpPr/>
          <p:nvPr/>
        </p:nvSpPr>
        <p:spPr>
          <a:xfrm>
            <a:off x="815975" y="1557654"/>
            <a:ext cx="4057650" cy="2805430"/>
          </a:xfrm>
          <a:prstGeom prst="roundRect">
            <a:avLst>
              <a:gd name="adj" fmla="val 4414"/>
            </a:avLst>
          </a:prstGeom>
          <a:solidFill>
            <a:srgbClr val="FDFCFA"/>
          </a:solidFill>
          <a:ln w="6350">
            <a:solidFill>
              <a:srgbClr val="E4E1D8"/>
            </a:solidFill>
            <a:prstDash val="solid"/>
          </a:ln>
        </p:spPr>
      </p:sp>
      <p:sp>
        <p:nvSpPr>
          <p:cNvPr id="5" name="Text 3"/>
          <p:cNvSpPr/>
          <p:nvPr/>
        </p:nvSpPr>
        <p:spPr>
          <a:xfrm>
            <a:off x="970280" y="1711964"/>
            <a:ext cx="3861511"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3D"/>
                </a:solidFill>
                <a:latin typeface="Public Sans" pitchFamily="34" charset="0"/>
                <a:ea typeface="Public Sans" pitchFamily="34" charset="-122"/>
                <a:cs typeface="Public Sans" pitchFamily="34" charset="-120"/>
              </a:rPr>
              <a:t>Citation flow, 2016–2026</a:t>
            </a:r>
            <a:endParaRPr lang="en-US" sz="1400" dirty="0"/>
          </a:p>
        </p:txBody>
      </p:sp>
      <p:sp>
        <p:nvSpPr>
          <p:cNvPr id="6" name="Text 4"/>
          <p:cNvSpPr/>
          <p:nvPr/>
        </p:nvSpPr>
        <p:spPr>
          <a:xfrm>
            <a:off x="970280" y="2026921"/>
            <a:ext cx="3861511"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63B8"/>
                </a:solidFill>
                <a:latin typeface="Public Sans" pitchFamily="34" charset="0"/>
                <a:ea typeface="Public Sans" pitchFamily="34" charset="-122"/>
                <a:cs typeface="Public Sans" pitchFamily="34" charset="-120"/>
              </a:rPr>
              <a:t>NIT Trichy · ratio 0.86</a:t>
            </a:r>
            <a:endParaRPr lang="en-US" sz="1400" dirty="0"/>
          </a:p>
        </p:txBody>
      </p:sp>
      <p:sp>
        <p:nvSpPr>
          <p:cNvPr id="7" name="Shape 5"/>
          <p:cNvSpPr/>
          <p:nvPr/>
        </p:nvSpPr>
        <p:spPr>
          <a:xfrm>
            <a:off x="970280" y="2350771"/>
            <a:ext cx="1962150" cy="165100"/>
          </a:xfrm>
          <a:custGeom>
            <a:avLst/>
            <a:gdLst/>
            <a:ahLst/>
            <a:cxnLst/>
            <a:rect l="l" t="t" r="r" b="b"/>
            <a:pathLst>
              <a:path w="1962150" h="165100">
                <a:moveTo>
                  <a:pt x="0" y="0"/>
                </a:moveTo>
                <a:lnTo>
                  <a:pt x="1936750" y="0"/>
                </a:lnTo>
                <a:arcTo wR="25400" hR="25400" stAng="16200000" swAng="5400000"/>
                <a:lnTo>
                  <a:pt x="1962150" y="139700"/>
                </a:lnTo>
                <a:arcTo wR="25400" hR="25400" stAng="0" swAng="5400000"/>
                <a:lnTo>
                  <a:pt x="0" y="165100"/>
                </a:lnTo>
                <a:lnTo>
                  <a:pt x="0" y="0"/>
                </a:lnTo>
                <a:close/>
              </a:path>
            </a:pathLst>
          </a:custGeom>
          <a:solidFill>
            <a:srgbClr val="2A78D6"/>
          </a:solidFill>
          <a:ln/>
        </p:spPr>
      </p:sp>
      <p:sp>
        <p:nvSpPr>
          <p:cNvPr id="8" name="Text 6"/>
          <p:cNvSpPr/>
          <p:nvPr/>
        </p:nvSpPr>
        <p:spPr>
          <a:xfrm>
            <a:off x="3008630" y="2326642"/>
            <a:ext cx="146380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36,970 received</a:t>
            </a:r>
            <a:endParaRPr lang="en-US" sz="1200" dirty="0"/>
          </a:p>
        </p:txBody>
      </p:sp>
      <p:sp>
        <p:nvSpPr>
          <p:cNvPr id="9" name="Shape 7"/>
          <p:cNvSpPr/>
          <p:nvPr/>
        </p:nvSpPr>
        <p:spPr>
          <a:xfrm>
            <a:off x="970280" y="2614929"/>
            <a:ext cx="2286000" cy="165100"/>
          </a:xfrm>
          <a:custGeom>
            <a:avLst/>
            <a:gdLst/>
            <a:ahLst/>
            <a:cxnLst/>
            <a:rect l="l" t="t" r="r" b="b"/>
            <a:pathLst>
              <a:path w="2286000" h="165100">
                <a:moveTo>
                  <a:pt x="0" y="0"/>
                </a:moveTo>
                <a:lnTo>
                  <a:pt x="2260600" y="0"/>
                </a:lnTo>
                <a:arcTo wR="25400" hR="25400" stAng="16200000" swAng="5400000"/>
                <a:lnTo>
                  <a:pt x="2286000" y="139700"/>
                </a:lnTo>
                <a:arcTo wR="25400" hR="25400" stAng="0" swAng="5400000"/>
                <a:lnTo>
                  <a:pt x="0" y="165100"/>
                </a:lnTo>
                <a:lnTo>
                  <a:pt x="0" y="0"/>
                </a:lnTo>
                <a:close/>
              </a:path>
            </a:pathLst>
          </a:custGeom>
          <a:solidFill>
            <a:srgbClr val="A9C8F0"/>
          </a:solidFill>
          <a:ln/>
        </p:spPr>
      </p:sp>
      <p:sp>
        <p:nvSpPr>
          <p:cNvPr id="10" name="Text 8"/>
          <p:cNvSpPr/>
          <p:nvPr/>
        </p:nvSpPr>
        <p:spPr>
          <a:xfrm>
            <a:off x="3332480" y="2590800"/>
            <a:ext cx="119805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43,057 given</a:t>
            </a:r>
            <a:endParaRPr lang="en-US" sz="1200" dirty="0"/>
          </a:p>
        </p:txBody>
      </p:sp>
      <p:sp>
        <p:nvSpPr>
          <p:cNvPr id="11" name="Text 9"/>
          <p:cNvSpPr/>
          <p:nvPr/>
        </p:nvSpPr>
        <p:spPr>
          <a:xfrm>
            <a:off x="970280" y="2905764"/>
            <a:ext cx="3861511"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B34A1C"/>
                </a:solidFill>
                <a:latin typeface="Public Sans" pitchFamily="34" charset="0"/>
                <a:ea typeface="Public Sans" pitchFamily="34" charset="-122"/>
                <a:cs typeface="Public Sans" pitchFamily="34" charset="-120"/>
              </a:rPr>
              <a:t>NIT Surathkal · ratio 0.82</a:t>
            </a:r>
            <a:endParaRPr lang="en-US" sz="1400" dirty="0"/>
          </a:p>
        </p:txBody>
      </p:sp>
      <p:sp>
        <p:nvSpPr>
          <p:cNvPr id="12" name="Shape 10"/>
          <p:cNvSpPr/>
          <p:nvPr/>
        </p:nvSpPr>
        <p:spPr>
          <a:xfrm>
            <a:off x="970280" y="3229614"/>
            <a:ext cx="1612900" cy="165100"/>
          </a:xfrm>
          <a:custGeom>
            <a:avLst/>
            <a:gdLst/>
            <a:ahLst/>
            <a:cxnLst/>
            <a:rect l="l" t="t" r="r" b="b"/>
            <a:pathLst>
              <a:path w="1612900" h="165100">
                <a:moveTo>
                  <a:pt x="0" y="0"/>
                </a:moveTo>
                <a:lnTo>
                  <a:pt x="1587500" y="0"/>
                </a:lnTo>
                <a:arcTo wR="25400" hR="25400" stAng="16200000" swAng="5400000"/>
                <a:lnTo>
                  <a:pt x="1612900" y="139700"/>
                </a:lnTo>
                <a:arcTo wR="25400" hR="25400" stAng="0" swAng="5400000"/>
                <a:lnTo>
                  <a:pt x="0" y="165100"/>
                </a:lnTo>
                <a:lnTo>
                  <a:pt x="0" y="0"/>
                </a:lnTo>
                <a:close/>
              </a:path>
            </a:pathLst>
          </a:custGeom>
          <a:solidFill>
            <a:srgbClr val="EB6834"/>
          </a:solidFill>
          <a:ln/>
        </p:spPr>
      </p:sp>
      <p:sp>
        <p:nvSpPr>
          <p:cNvPr id="13" name="Text 11"/>
          <p:cNvSpPr/>
          <p:nvPr/>
        </p:nvSpPr>
        <p:spPr>
          <a:xfrm>
            <a:off x="2659380" y="3205479"/>
            <a:ext cx="146380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30,349 received</a:t>
            </a:r>
            <a:endParaRPr lang="en-US" sz="1200" dirty="0"/>
          </a:p>
        </p:txBody>
      </p:sp>
      <p:sp>
        <p:nvSpPr>
          <p:cNvPr id="14" name="Shape 12"/>
          <p:cNvSpPr/>
          <p:nvPr/>
        </p:nvSpPr>
        <p:spPr>
          <a:xfrm>
            <a:off x="970280" y="3493771"/>
            <a:ext cx="1974850" cy="165100"/>
          </a:xfrm>
          <a:custGeom>
            <a:avLst/>
            <a:gdLst/>
            <a:ahLst/>
            <a:cxnLst/>
            <a:rect l="l" t="t" r="r" b="b"/>
            <a:pathLst>
              <a:path w="1974850" h="165100">
                <a:moveTo>
                  <a:pt x="0" y="0"/>
                </a:moveTo>
                <a:lnTo>
                  <a:pt x="1949450" y="0"/>
                </a:lnTo>
                <a:arcTo wR="25400" hR="25400" stAng="16200000" swAng="5400000"/>
                <a:lnTo>
                  <a:pt x="1974850" y="139700"/>
                </a:lnTo>
                <a:arcTo wR="25400" hR="25400" stAng="0" swAng="5400000"/>
                <a:lnTo>
                  <a:pt x="0" y="165100"/>
                </a:lnTo>
                <a:lnTo>
                  <a:pt x="0" y="0"/>
                </a:lnTo>
                <a:close/>
              </a:path>
            </a:pathLst>
          </a:custGeom>
          <a:solidFill>
            <a:srgbClr val="F5B79B"/>
          </a:solidFill>
          <a:ln/>
        </p:spPr>
      </p:sp>
      <p:sp>
        <p:nvSpPr>
          <p:cNvPr id="15" name="Text 13"/>
          <p:cNvSpPr/>
          <p:nvPr/>
        </p:nvSpPr>
        <p:spPr>
          <a:xfrm>
            <a:off x="3021330" y="3469642"/>
            <a:ext cx="119805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37,191 given</a:t>
            </a:r>
            <a:endParaRPr lang="en-US" sz="1200" dirty="0"/>
          </a:p>
        </p:txBody>
      </p:sp>
      <p:sp>
        <p:nvSpPr>
          <p:cNvPr id="16" name="Text 14"/>
          <p:cNvSpPr/>
          <p:nvPr/>
        </p:nvSpPr>
        <p:spPr>
          <a:xfrm>
            <a:off x="970280" y="3784600"/>
            <a:ext cx="3861511"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6B7280"/>
                </a:solidFill>
                <a:latin typeface="Public Sans" pitchFamily="34" charset="0"/>
                <a:ea typeface="Public Sans" pitchFamily="34" charset="-122"/>
                <a:cs typeface="Public Sans" pitchFamily="34" charset="-120"/>
              </a:rPr>
              <a:t>Citations with other Indian institutes; ratio = received ÷ given. Co-authored papers never count as flow.</a:t>
            </a:r>
            <a:endParaRPr lang="en-US" sz="1200" dirty="0"/>
          </a:p>
        </p:txBody>
      </p:sp>
      <p:sp>
        <p:nvSpPr>
          <p:cNvPr id="17" name="Shape 15"/>
          <p:cNvSpPr/>
          <p:nvPr/>
        </p:nvSpPr>
        <p:spPr>
          <a:xfrm>
            <a:off x="5083175" y="1557654"/>
            <a:ext cx="6292850" cy="2805430"/>
          </a:xfrm>
          <a:prstGeom prst="roundRect">
            <a:avLst>
              <a:gd name="adj" fmla="val 4414"/>
            </a:avLst>
          </a:prstGeom>
          <a:solidFill>
            <a:srgbClr val="FDFCFA"/>
          </a:solidFill>
          <a:ln w="6350">
            <a:solidFill>
              <a:srgbClr val="E4E1D8"/>
            </a:solidFill>
            <a:prstDash val="solid"/>
          </a:ln>
        </p:spPr>
      </p:sp>
      <p:sp>
        <p:nvSpPr>
          <p:cNvPr id="18" name="Text 16"/>
          <p:cNvSpPr/>
          <p:nvPr/>
        </p:nvSpPr>
        <p:spPr>
          <a:xfrm>
            <a:off x="5237480" y="1711964"/>
            <a:ext cx="6163767"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3D"/>
                </a:solidFill>
                <a:latin typeface="Public Sans" pitchFamily="34" charset="0"/>
                <a:ea typeface="Public Sans" pitchFamily="34" charset="-122"/>
                <a:cs typeface="Public Sans" pitchFamily="34" charset="-120"/>
              </a:rPr>
              <a:t>The knowledge hierarchy</a:t>
            </a:r>
            <a:endParaRPr lang="en-US" sz="1400" dirty="0"/>
          </a:p>
        </p:txBody>
      </p:sp>
      <p:sp>
        <p:nvSpPr>
          <p:cNvPr id="19" name="Text 17"/>
          <p:cNvSpPr/>
          <p:nvPr/>
        </p:nvSpPr>
        <p:spPr>
          <a:xfrm>
            <a:off x="5237480" y="1988821"/>
            <a:ext cx="6163767"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Public Sans" pitchFamily="34" charset="0"/>
                <a:ea typeface="Public Sans" pitchFamily="34" charset="-122"/>
                <a:cs typeface="Public Sans" pitchFamily="34" charset="-120"/>
              </a:rPr>
              <a:t>Citations each type of institute gives us per citation we give it · dashed line = 1.0, balanced</a:t>
            </a:r>
            <a:endParaRPr lang="en-US" sz="1200" dirty="0"/>
          </a:p>
        </p:txBody>
      </p:sp>
      <p:sp>
        <p:nvSpPr>
          <p:cNvPr id="20" name="Text 18"/>
          <p:cNvSpPr/>
          <p:nvPr/>
        </p:nvSpPr>
        <p:spPr>
          <a:xfrm>
            <a:off x="5237480" y="2479042"/>
            <a:ext cx="183134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14213D"/>
                </a:solidFill>
                <a:latin typeface="Public Sans" pitchFamily="34" charset="0"/>
                <a:ea typeface="Public Sans" pitchFamily="34" charset="-122"/>
                <a:cs typeface="Public Sans" pitchFamily="34" charset="-120"/>
              </a:rPr>
              <a:t>DRDO</a:t>
            </a:r>
            <a:endParaRPr lang="en-US" sz="1200" dirty="0"/>
          </a:p>
        </p:txBody>
      </p:sp>
      <p:sp>
        <p:nvSpPr>
          <p:cNvPr id="21" name="Shape 19"/>
          <p:cNvSpPr/>
          <p:nvPr/>
        </p:nvSpPr>
        <p:spPr>
          <a:xfrm>
            <a:off x="7117080" y="2500629"/>
            <a:ext cx="736600" cy="139700"/>
          </a:xfrm>
          <a:custGeom>
            <a:avLst/>
            <a:gdLst/>
            <a:ahLst/>
            <a:cxnLst/>
            <a:rect l="l" t="t" r="r" b="b"/>
            <a:pathLst>
              <a:path w="736600" h="139700">
                <a:moveTo>
                  <a:pt x="0" y="0"/>
                </a:moveTo>
                <a:lnTo>
                  <a:pt x="711200" y="0"/>
                </a:lnTo>
                <a:arcTo wR="25400" hR="25400" stAng="16200000" swAng="5400000"/>
                <a:lnTo>
                  <a:pt x="736600" y="114300"/>
                </a:lnTo>
                <a:arcTo wR="25400" hR="25400" stAng="0" swAng="5400000"/>
                <a:lnTo>
                  <a:pt x="0" y="139700"/>
                </a:lnTo>
                <a:lnTo>
                  <a:pt x="0" y="0"/>
                </a:lnTo>
                <a:close/>
              </a:path>
            </a:pathLst>
          </a:custGeom>
          <a:solidFill>
            <a:srgbClr val="5A5FBF"/>
          </a:solidFill>
          <a:ln/>
        </p:spPr>
      </p:sp>
      <p:sp>
        <p:nvSpPr>
          <p:cNvPr id="22" name="Text 20"/>
          <p:cNvSpPr/>
          <p:nvPr/>
        </p:nvSpPr>
        <p:spPr>
          <a:xfrm>
            <a:off x="7955280" y="2479042"/>
            <a:ext cx="375571"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4A5568"/>
                </a:solidFill>
                <a:latin typeface="Public Sans" pitchFamily="34" charset="0"/>
                <a:ea typeface="Public Sans" pitchFamily="34" charset="-122"/>
                <a:cs typeface="Public Sans" pitchFamily="34" charset="-120"/>
              </a:rPr>
              <a:t>0.27</a:t>
            </a:r>
            <a:endParaRPr lang="en-US" sz="1200" dirty="0"/>
          </a:p>
        </p:txBody>
      </p:sp>
      <p:sp>
        <p:nvSpPr>
          <p:cNvPr id="23" name="Text 21"/>
          <p:cNvSpPr/>
          <p:nvPr/>
        </p:nvSpPr>
        <p:spPr>
          <a:xfrm>
            <a:off x="5237480" y="2700021"/>
            <a:ext cx="183134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14213D"/>
                </a:solidFill>
                <a:latin typeface="Public Sans" pitchFamily="34" charset="0"/>
                <a:ea typeface="Public Sans" pitchFamily="34" charset="-122"/>
                <a:cs typeface="Public Sans" pitchFamily="34" charset="-120"/>
              </a:rPr>
              <a:t>DAE</a:t>
            </a:r>
            <a:endParaRPr lang="en-US" sz="1200" dirty="0"/>
          </a:p>
        </p:txBody>
      </p:sp>
      <p:sp>
        <p:nvSpPr>
          <p:cNvPr id="24" name="Shape 22"/>
          <p:cNvSpPr/>
          <p:nvPr/>
        </p:nvSpPr>
        <p:spPr>
          <a:xfrm>
            <a:off x="7117080" y="2721614"/>
            <a:ext cx="869950" cy="139700"/>
          </a:xfrm>
          <a:custGeom>
            <a:avLst/>
            <a:gdLst/>
            <a:ahLst/>
            <a:cxnLst/>
            <a:rect l="l" t="t" r="r" b="b"/>
            <a:pathLst>
              <a:path w="869950" h="139700">
                <a:moveTo>
                  <a:pt x="0" y="0"/>
                </a:moveTo>
                <a:lnTo>
                  <a:pt x="844550" y="0"/>
                </a:lnTo>
                <a:arcTo wR="25400" hR="25400" stAng="16200000" swAng="5400000"/>
                <a:lnTo>
                  <a:pt x="869950" y="114300"/>
                </a:lnTo>
                <a:arcTo wR="25400" hR="25400" stAng="0" swAng="5400000"/>
                <a:lnTo>
                  <a:pt x="0" y="139700"/>
                </a:lnTo>
                <a:lnTo>
                  <a:pt x="0" y="0"/>
                </a:lnTo>
                <a:close/>
              </a:path>
            </a:pathLst>
          </a:custGeom>
          <a:solidFill>
            <a:srgbClr val="5A5FBF"/>
          </a:solidFill>
          <a:ln/>
        </p:spPr>
      </p:sp>
      <p:sp>
        <p:nvSpPr>
          <p:cNvPr id="25" name="Text 23"/>
          <p:cNvSpPr/>
          <p:nvPr/>
        </p:nvSpPr>
        <p:spPr>
          <a:xfrm>
            <a:off x="8088630" y="2700021"/>
            <a:ext cx="377285"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4A5568"/>
                </a:solidFill>
                <a:latin typeface="Public Sans" pitchFamily="34" charset="0"/>
                <a:ea typeface="Public Sans" pitchFamily="34" charset="-122"/>
                <a:cs typeface="Public Sans" pitchFamily="34" charset="-120"/>
              </a:rPr>
              <a:t>0.32</a:t>
            </a:r>
            <a:endParaRPr lang="en-US" sz="1200" dirty="0"/>
          </a:p>
        </p:txBody>
      </p:sp>
      <p:sp>
        <p:nvSpPr>
          <p:cNvPr id="26" name="Text 24"/>
          <p:cNvSpPr/>
          <p:nvPr/>
        </p:nvSpPr>
        <p:spPr>
          <a:xfrm>
            <a:off x="5237480" y="2921000"/>
            <a:ext cx="183134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14213D"/>
                </a:solidFill>
                <a:latin typeface="Public Sans" pitchFamily="34" charset="0"/>
                <a:ea typeface="Public Sans" pitchFamily="34" charset="-122"/>
                <a:cs typeface="Public Sans" pitchFamily="34" charset="-120"/>
              </a:rPr>
              <a:t>CSIR labs</a:t>
            </a:r>
            <a:endParaRPr lang="en-US" sz="1200" dirty="0"/>
          </a:p>
        </p:txBody>
      </p:sp>
      <p:sp>
        <p:nvSpPr>
          <p:cNvPr id="27" name="Shape 25"/>
          <p:cNvSpPr/>
          <p:nvPr/>
        </p:nvSpPr>
        <p:spPr>
          <a:xfrm>
            <a:off x="7117080" y="2942592"/>
            <a:ext cx="895350" cy="139700"/>
          </a:xfrm>
          <a:custGeom>
            <a:avLst/>
            <a:gdLst/>
            <a:ahLst/>
            <a:cxnLst/>
            <a:rect l="l" t="t" r="r" b="b"/>
            <a:pathLst>
              <a:path w="895350" h="139700">
                <a:moveTo>
                  <a:pt x="0" y="0"/>
                </a:moveTo>
                <a:lnTo>
                  <a:pt x="869950" y="0"/>
                </a:lnTo>
                <a:arcTo wR="25400" hR="25400" stAng="16200000" swAng="5400000"/>
                <a:lnTo>
                  <a:pt x="895350" y="114300"/>
                </a:lnTo>
                <a:arcTo wR="25400" hR="25400" stAng="0" swAng="5400000"/>
                <a:lnTo>
                  <a:pt x="0" y="139700"/>
                </a:lnTo>
                <a:lnTo>
                  <a:pt x="0" y="0"/>
                </a:lnTo>
                <a:close/>
              </a:path>
            </a:pathLst>
          </a:custGeom>
          <a:solidFill>
            <a:srgbClr val="5A5FBF"/>
          </a:solidFill>
          <a:ln/>
        </p:spPr>
      </p:sp>
      <p:sp>
        <p:nvSpPr>
          <p:cNvPr id="28" name="Text 26"/>
          <p:cNvSpPr/>
          <p:nvPr/>
        </p:nvSpPr>
        <p:spPr>
          <a:xfrm>
            <a:off x="8114030" y="2921000"/>
            <a:ext cx="382333"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4A5568"/>
                </a:solidFill>
                <a:latin typeface="Public Sans" pitchFamily="34" charset="0"/>
                <a:ea typeface="Public Sans" pitchFamily="34" charset="-122"/>
                <a:cs typeface="Public Sans" pitchFamily="34" charset="-120"/>
              </a:rPr>
              <a:t>0.33</a:t>
            </a:r>
            <a:endParaRPr lang="en-US" sz="1200" dirty="0"/>
          </a:p>
        </p:txBody>
      </p:sp>
      <p:sp>
        <p:nvSpPr>
          <p:cNvPr id="29" name="Text 27"/>
          <p:cNvSpPr/>
          <p:nvPr/>
        </p:nvSpPr>
        <p:spPr>
          <a:xfrm>
            <a:off x="5237480" y="3141979"/>
            <a:ext cx="183134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14213D"/>
                </a:solidFill>
                <a:latin typeface="Public Sans" pitchFamily="34" charset="0"/>
                <a:ea typeface="Public Sans" pitchFamily="34" charset="-122"/>
                <a:cs typeface="Public Sans" pitchFamily="34" charset="-120"/>
              </a:rPr>
              <a:t>IISER / IISc</a:t>
            </a:r>
            <a:endParaRPr lang="en-US" sz="1200" dirty="0"/>
          </a:p>
        </p:txBody>
      </p:sp>
      <p:sp>
        <p:nvSpPr>
          <p:cNvPr id="30" name="Shape 28"/>
          <p:cNvSpPr/>
          <p:nvPr/>
        </p:nvSpPr>
        <p:spPr>
          <a:xfrm>
            <a:off x="7117080" y="3163571"/>
            <a:ext cx="927100" cy="139700"/>
          </a:xfrm>
          <a:custGeom>
            <a:avLst/>
            <a:gdLst/>
            <a:ahLst/>
            <a:cxnLst/>
            <a:rect l="l" t="t" r="r" b="b"/>
            <a:pathLst>
              <a:path w="927100" h="139700">
                <a:moveTo>
                  <a:pt x="0" y="0"/>
                </a:moveTo>
                <a:lnTo>
                  <a:pt x="901700" y="0"/>
                </a:lnTo>
                <a:arcTo wR="25400" hR="25400" stAng="16200000" swAng="5400000"/>
                <a:lnTo>
                  <a:pt x="927100" y="114300"/>
                </a:lnTo>
                <a:arcTo wR="25400" hR="25400" stAng="0" swAng="5400000"/>
                <a:lnTo>
                  <a:pt x="0" y="139700"/>
                </a:lnTo>
                <a:lnTo>
                  <a:pt x="0" y="0"/>
                </a:lnTo>
                <a:close/>
              </a:path>
            </a:pathLst>
          </a:custGeom>
          <a:solidFill>
            <a:srgbClr val="5A5FBF"/>
          </a:solidFill>
          <a:ln/>
        </p:spPr>
      </p:sp>
      <p:sp>
        <p:nvSpPr>
          <p:cNvPr id="31" name="Text 29"/>
          <p:cNvSpPr/>
          <p:nvPr/>
        </p:nvSpPr>
        <p:spPr>
          <a:xfrm>
            <a:off x="8145780" y="3141979"/>
            <a:ext cx="38300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4A5568"/>
                </a:solidFill>
                <a:latin typeface="Public Sans" pitchFamily="34" charset="0"/>
                <a:ea typeface="Public Sans" pitchFamily="34" charset="-122"/>
                <a:cs typeface="Public Sans" pitchFamily="34" charset="-120"/>
              </a:rPr>
              <a:t>0.34</a:t>
            </a:r>
            <a:endParaRPr lang="en-US" sz="1200" dirty="0"/>
          </a:p>
        </p:txBody>
      </p:sp>
      <p:sp>
        <p:nvSpPr>
          <p:cNvPr id="32" name="Text 30"/>
          <p:cNvSpPr/>
          <p:nvPr/>
        </p:nvSpPr>
        <p:spPr>
          <a:xfrm>
            <a:off x="5237480" y="3362964"/>
            <a:ext cx="183134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14213D"/>
                </a:solidFill>
                <a:latin typeface="Public Sans" pitchFamily="34" charset="0"/>
                <a:ea typeface="Public Sans" pitchFamily="34" charset="-122"/>
                <a:cs typeface="Public Sans" pitchFamily="34" charset="-120"/>
              </a:rPr>
              <a:t>IITs</a:t>
            </a:r>
            <a:endParaRPr lang="en-US" sz="1200" dirty="0"/>
          </a:p>
        </p:txBody>
      </p:sp>
      <p:sp>
        <p:nvSpPr>
          <p:cNvPr id="33" name="Shape 31"/>
          <p:cNvSpPr/>
          <p:nvPr/>
        </p:nvSpPr>
        <p:spPr>
          <a:xfrm>
            <a:off x="7117080" y="3384550"/>
            <a:ext cx="1085850" cy="139700"/>
          </a:xfrm>
          <a:custGeom>
            <a:avLst/>
            <a:gdLst/>
            <a:ahLst/>
            <a:cxnLst/>
            <a:rect l="l" t="t" r="r" b="b"/>
            <a:pathLst>
              <a:path w="1085850" h="139700">
                <a:moveTo>
                  <a:pt x="0" y="0"/>
                </a:moveTo>
                <a:lnTo>
                  <a:pt x="1060450" y="0"/>
                </a:lnTo>
                <a:arcTo wR="25400" hR="25400" stAng="16200000" swAng="5400000"/>
                <a:lnTo>
                  <a:pt x="1085850" y="114300"/>
                </a:lnTo>
                <a:arcTo wR="25400" hR="25400" stAng="0" swAng="5400000"/>
                <a:lnTo>
                  <a:pt x="0" y="139700"/>
                </a:lnTo>
                <a:lnTo>
                  <a:pt x="0" y="0"/>
                </a:lnTo>
                <a:close/>
              </a:path>
            </a:pathLst>
          </a:custGeom>
          <a:solidFill>
            <a:srgbClr val="5A5FBF"/>
          </a:solidFill>
          <a:ln/>
        </p:spPr>
      </p:sp>
      <p:sp>
        <p:nvSpPr>
          <p:cNvPr id="34" name="Text 32"/>
          <p:cNvSpPr/>
          <p:nvPr/>
        </p:nvSpPr>
        <p:spPr>
          <a:xfrm>
            <a:off x="8304530" y="3362964"/>
            <a:ext cx="378809"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4A5568"/>
                </a:solidFill>
                <a:latin typeface="Public Sans" pitchFamily="34" charset="0"/>
                <a:ea typeface="Public Sans" pitchFamily="34" charset="-122"/>
                <a:cs typeface="Public Sans" pitchFamily="34" charset="-120"/>
              </a:rPr>
              <a:t>0.40</a:t>
            </a:r>
            <a:endParaRPr lang="en-US" sz="1200" dirty="0"/>
          </a:p>
        </p:txBody>
      </p:sp>
      <p:sp>
        <p:nvSpPr>
          <p:cNvPr id="35" name="Text 33"/>
          <p:cNvSpPr/>
          <p:nvPr/>
        </p:nvSpPr>
        <p:spPr>
          <a:xfrm>
            <a:off x="5237480" y="3583942"/>
            <a:ext cx="183134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14213D"/>
                </a:solidFill>
                <a:latin typeface="Public Sans" pitchFamily="34" charset="0"/>
                <a:ea typeface="Public Sans" pitchFamily="34" charset="-122"/>
                <a:cs typeface="Public Sans" pitchFamily="34" charset="-120"/>
              </a:rPr>
              <a:t>ISRO</a:t>
            </a:r>
            <a:endParaRPr lang="en-US" sz="1200" dirty="0"/>
          </a:p>
        </p:txBody>
      </p:sp>
      <p:sp>
        <p:nvSpPr>
          <p:cNvPr id="36" name="Shape 34"/>
          <p:cNvSpPr/>
          <p:nvPr/>
        </p:nvSpPr>
        <p:spPr>
          <a:xfrm>
            <a:off x="7117080" y="3605529"/>
            <a:ext cx="1143000" cy="139700"/>
          </a:xfrm>
          <a:custGeom>
            <a:avLst/>
            <a:gdLst/>
            <a:ahLst/>
            <a:cxnLst/>
            <a:rect l="l" t="t" r="r" b="b"/>
            <a:pathLst>
              <a:path w="1143000" h="139700">
                <a:moveTo>
                  <a:pt x="0" y="0"/>
                </a:moveTo>
                <a:lnTo>
                  <a:pt x="1117600" y="0"/>
                </a:lnTo>
                <a:arcTo wR="25400" hR="25400" stAng="16200000" swAng="5400000"/>
                <a:lnTo>
                  <a:pt x="1143000" y="114300"/>
                </a:lnTo>
                <a:arcTo wR="25400" hR="25400" stAng="0" swAng="5400000"/>
                <a:lnTo>
                  <a:pt x="0" y="139700"/>
                </a:lnTo>
                <a:lnTo>
                  <a:pt x="0" y="0"/>
                </a:lnTo>
                <a:close/>
              </a:path>
            </a:pathLst>
          </a:custGeom>
          <a:solidFill>
            <a:srgbClr val="5A5FBF"/>
          </a:solidFill>
          <a:ln/>
        </p:spPr>
      </p:sp>
      <p:sp>
        <p:nvSpPr>
          <p:cNvPr id="37" name="Text 35"/>
          <p:cNvSpPr/>
          <p:nvPr/>
        </p:nvSpPr>
        <p:spPr>
          <a:xfrm>
            <a:off x="8361680" y="3583942"/>
            <a:ext cx="375857"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4A5568"/>
                </a:solidFill>
                <a:latin typeface="Public Sans" pitchFamily="34" charset="0"/>
                <a:ea typeface="Public Sans" pitchFamily="34" charset="-122"/>
                <a:cs typeface="Public Sans" pitchFamily="34" charset="-120"/>
              </a:rPr>
              <a:t>0.42</a:t>
            </a:r>
            <a:endParaRPr lang="en-US" sz="1200" dirty="0"/>
          </a:p>
        </p:txBody>
      </p:sp>
      <p:sp>
        <p:nvSpPr>
          <p:cNvPr id="38" name="Text 36"/>
          <p:cNvSpPr/>
          <p:nvPr/>
        </p:nvSpPr>
        <p:spPr>
          <a:xfrm>
            <a:off x="5237480" y="3804921"/>
            <a:ext cx="183134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14213D"/>
                </a:solidFill>
                <a:latin typeface="Public Sans" pitchFamily="34" charset="0"/>
                <a:ea typeface="Public Sans" pitchFamily="34" charset="-122"/>
                <a:cs typeface="Public Sans" pitchFamily="34" charset="-120"/>
              </a:rPr>
              <a:t>Other NITs</a:t>
            </a:r>
            <a:endParaRPr lang="en-US" sz="1200" dirty="0"/>
          </a:p>
        </p:txBody>
      </p:sp>
      <p:sp>
        <p:nvSpPr>
          <p:cNvPr id="39" name="Shape 37"/>
          <p:cNvSpPr/>
          <p:nvPr/>
        </p:nvSpPr>
        <p:spPr>
          <a:xfrm>
            <a:off x="7117080" y="3826514"/>
            <a:ext cx="2749550" cy="139700"/>
          </a:xfrm>
          <a:custGeom>
            <a:avLst/>
            <a:gdLst/>
            <a:ahLst/>
            <a:cxnLst/>
            <a:rect l="l" t="t" r="r" b="b"/>
            <a:pathLst>
              <a:path w="2749550" h="139700">
                <a:moveTo>
                  <a:pt x="0" y="0"/>
                </a:moveTo>
                <a:lnTo>
                  <a:pt x="2724150" y="0"/>
                </a:lnTo>
                <a:arcTo wR="25400" hR="25400" stAng="16200000" swAng="5400000"/>
                <a:lnTo>
                  <a:pt x="2749550" y="114300"/>
                </a:lnTo>
                <a:arcTo wR="25400" hR="25400" stAng="0" swAng="5400000"/>
                <a:lnTo>
                  <a:pt x="0" y="139700"/>
                </a:lnTo>
                <a:lnTo>
                  <a:pt x="0" y="0"/>
                </a:lnTo>
                <a:close/>
              </a:path>
            </a:pathLst>
          </a:custGeom>
          <a:solidFill>
            <a:srgbClr val="A7B4C8"/>
          </a:solidFill>
          <a:ln/>
        </p:spPr>
      </p:sp>
      <p:sp>
        <p:nvSpPr>
          <p:cNvPr id="40" name="Text 38"/>
          <p:cNvSpPr/>
          <p:nvPr/>
        </p:nvSpPr>
        <p:spPr>
          <a:xfrm>
            <a:off x="9968230" y="3804921"/>
            <a:ext cx="302419"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4A5568"/>
                </a:solidFill>
                <a:latin typeface="Public Sans" pitchFamily="34" charset="0"/>
                <a:ea typeface="Public Sans" pitchFamily="34" charset="-122"/>
                <a:cs typeface="Public Sans" pitchFamily="34" charset="-120"/>
              </a:rPr>
              <a:t>1.01</a:t>
            </a:r>
            <a:endParaRPr lang="en-US" sz="1200" dirty="0"/>
          </a:p>
        </p:txBody>
      </p:sp>
      <p:sp>
        <p:nvSpPr>
          <p:cNvPr id="41" name="Text 39"/>
          <p:cNvSpPr/>
          <p:nvPr/>
        </p:nvSpPr>
        <p:spPr>
          <a:xfrm>
            <a:off x="5237480" y="4025900"/>
            <a:ext cx="183134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14213D"/>
                </a:solidFill>
                <a:latin typeface="Public Sans" pitchFamily="34" charset="0"/>
                <a:ea typeface="Public Sans" pitchFamily="34" charset="-122"/>
                <a:cs typeface="Public Sans" pitchFamily="34" charset="-120"/>
              </a:rPr>
              <a:t>Universities, colleges</a:t>
            </a:r>
            <a:endParaRPr lang="en-US" sz="1200" dirty="0"/>
          </a:p>
        </p:txBody>
      </p:sp>
      <p:sp>
        <p:nvSpPr>
          <p:cNvPr id="42" name="Shape 40"/>
          <p:cNvSpPr/>
          <p:nvPr/>
        </p:nvSpPr>
        <p:spPr>
          <a:xfrm>
            <a:off x="7117080" y="4047492"/>
            <a:ext cx="3594100" cy="139700"/>
          </a:xfrm>
          <a:custGeom>
            <a:avLst/>
            <a:gdLst/>
            <a:ahLst/>
            <a:cxnLst/>
            <a:rect l="l" t="t" r="r" b="b"/>
            <a:pathLst>
              <a:path w="3594100" h="139700">
                <a:moveTo>
                  <a:pt x="0" y="0"/>
                </a:moveTo>
                <a:lnTo>
                  <a:pt x="3568700" y="0"/>
                </a:lnTo>
                <a:arcTo wR="25400" hR="25400" stAng="16200000" swAng="5400000"/>
                <a:lnTo>
                  <a:pt x="3594100" y="114300"/>
                </a:lnTo>
                <a:arcTo wR="25400" hR="25400" stAng="0" swAng="5400000"/>
                <a:lnTo>
                  <a:pt x="0" y="139700"/>
                </a:lnTo>
                <a:lnTo>
                  <a:pt x="0" y="0"/>
                </a:lnTo>
                <a:close/>
              </a:path>
            </a:pathLst>
          </a:custGeom>
          <a:solidFill>
            <a:srgbClr val="1A9E70"/>
          </a:solidFill>
          <a:ln/>
        </p:spPr>
      </p:sp>
      <p:sp>
        <p:nvSpPr>
          <p:cNvPr id="43" name="Text 41"/>
          <p:cNvSpPr/>
          <p:nvPr/>
        </p:nvSpPr>
        <p:spPr>
          <a:xfrm>
            <a:off x="10812780" y="4025900"/>
            <a:ext cx="339852"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4A5568"/>
                </a:solidFill>
                <a:latin typeface="Public Sans" pitchFamily="34" charset="0"/>
                <a:ea typeface="Public Sans" pitchFamily="34" charset="-122"/>
                <a:cs typeface="Public Sans" pitchFamily="34" charset="-120"/>
              </a:rPr>
              <a:t>1.32</a:t>
            </a:r>
            <a:endParaRPr lang="en-US" sz="1200" dirty="0"/>
          </a:p>
        </p:txBody>
      </p:sp>
      <p:sp>
        <p:nvSpPr>
          <p:cNvPr id="44" name="Shape 42"/>
          <p:cNvSpPr/>
          <p:nvPr/>
        </p:nvSpPr>
        <p:spPr>
          <a:xfrm>
            <a:off x="9847580" y="2479042"/>
            <a:ext cx="0" cy="1790700"/>
          </a:xfrm>
          <a:prstGeom prst="line">
            <a:avLst/>
          </a:prstGeom>
          <a:noFill/>
          <a:ln w="12700">
            <a:solidFill>
              <a:srgbClr val="6B7280"/>
            </a:solidFill>
            <a:prstDash val="dash"/>
          </a:ln>
        </p:spPr>
      </p:sp>
      <p:sp>
        <p:nvSpPr>
          <p:cNvPr id="45" name="Shape 43"/>
          <p:cNvSpPr/>
          <p:nvPr/>
        </p:nvSpPr>
        <p:spPr>
          <a:xfrm>
            <a:off x="815975" y="4521839"/>
            <a:ext cx="3414157" cy="958850"/>
          </a:xfrm>
          <a:prstGeom prst="roundRect">
            <a:avLst>
              <a:gd name="adj" fmla="val 12914"/>
            </a:avLst>
          </a:prstGeom>
          <a:solidFill>
            <a:srgbClr val="FDFCFA"/>
          </a:solidFill>
          <a:ln w="6350">
            <a:solidFill>
              <a:srgbClr val="E4E1D8"/>
            </a:solidFill>
            <a:prstDash val="solid"/>
          </a:ln>
        </p:spPr>
      </p:sp>
      <p:sp>
        <p:nvSpPr>
          <p:cNvPr id="46" name="Text 44"/>
          <p:cNvSpPr/>
          <p:nvPr/>
        </p:nvSpPr>
        <p:spPr>
          <a:xfrm>
            <a:off x="970280" y="4650742"/>
            <a:ext cx="3198713"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14213D"/>
                </a:solidFill>
                <a:latin typeface="Space Grotesk" pitchFamily="34" charset="0"/>
                <a:ea typeface="Space Grotesk" pitchFamily="34" charset="-122"/>
                <a:cs typeface="Space Grotesk" pitchFamily="34" charset="-120"/>
              </a:rPr>
              <a:t>VIT</a:t>
            </a:r>
            <a:endParaRPr lang="en-US" sz="2000" dirty="0"/>
          </a:p>
        </p:txBody>
      </p:sp>
      <p:sp>
        <p:nvSpPr>
          <p:cNvPr id="47" name="Text 45"/>
          <p:cNvSpPr/>
          <p:nvPr/>
        </p:nvSpPr>
        <p:spPr>
          <a:xfrm>
            <a:off x="970280" y="4955542"/>
            <a:ext cx="3198713"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A5568"/>
                </a:solidFill>
                <a:latin typeface="Public Sans" pitchFamily="34" charset="0"/>
                <a:ea typeface="Public Sans" pitchFamily="34" charset="-122"/>
                <a:cs typeface="Public Sans" pitchFamily="34" charset="-120"/>
              </a:rPr>
              <a:t>cites us most: 1,953 citations to Trichy and 1,388 to Surathkal</a:t>
            </a:r>
            <a:endParaRPr lang="en-US" sz="1200" dirty="0"/>
          </a:p>
        </p:txBody>
      </p:sp>
      <p:sp>
        <p:nvSpPr>
          <p:cNvPr id="48" name="Shape 46"/>
          <p:cNvSpPr/>
          <p:nvPr/>
        </p:nvSpPr>
        <p:spPr>
          <a:xfrm>
            <a:off x="4388882" y="4521839"/>
            <a:ext cx="3414236" cy="958850"/>
          </a:xfrm>
          <a:prstGeom prst="roundRect">
            <a:avLst>
              <a:gd name="adj" fmla="val 12914"/>
            </a:avLst>
          </a:prstGeom>
          <a:solidFill>
            <a:srgbClr val="FDFCFA"/>
          </a:solidFill>
          <a:ln w="6350">
            <a:solidFill>
              <a:srgbClr val="E4E1D8"/>
            </a:solidFill>
            <a:prstDash val="solid"/>
          </a:ln>
        </p:spPr>
      </p:sp>
      <p:sp>
        <p:nvSpPr>
          <p:cNvPr id="49" name="Text 47"/>
          <p:cNvSpPr/>
          <p:nvPr/>
        </p:nvSpPr>
        <p:spPr>
          <a:xfrm>
            <a:off x="4543187" y="4650742"/>
            <a:ext cx="3198795"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EB6834"/>
                </a:solidFill>
                <a:latin typeface="Space Grotesk" pitchFamily="34" charset="0"/>
                <a:ea typeface="Space Grotesk" pitchFamily="34" charset="-122"/>
                <a:cs typeface="Space Grotesk" pitchFamily="34" charset="-120"/>
              </a:rPr>
              <a:t>583</a:t>
            </a:r>
            <a:r>
              <a:rPr lang="en-US" sz="2000" b="1" dirty="0">
                <a:solidFill>
                  <a:srgbClr val="14213D"/>
                </a:solidFill>
                <a:latin typeface="Space Grotesk" pitchFamily="34" charset="0"/>
                <a:ea typeface="Space Grotesk" pitchFamily="34" charset="-122"/>
                <a:cs typeface="Space Grotesk" pitchFamily="34" charset="-120"/>
              </a:rPr>
              <a:t> vs </a:t>
            </a:r>
            <a:r>
              <a:rPr lang="en-US" sz="2000" b="1" dirty="0">
                <a:solidFill>
                  <a:srgbClr val="2A78D6"/>
                </a:solidFill>
                <a:latin typeface="Space Grotesk" pitchFamily="34" charset="0"/>
                <a:ea typeface="Space Grotesk" pitchFamily="34" charset="-122"/>
                <a:cs typeface="Space Grotesk" pitchFamily="34" charset="-120"/>
              </a:rPr>
              <a:t>411</a:t>
            </a:r>
            <a:endParaRPr lang="en-US" sz="2000" dirty="0"/>
          </a:p>
        </p:txBody>
      </p:sp>
      <p:sp>
        <p:nvSpPr>
          <p:cNvPr id="50" name="Text 48"/>
          <p:cNvSpPr/>
          <p:nvPr/>
        </p:nvSpPr>
        <p:spPr>
          <a:xfrm>
            <a:off x="4543187" y="4955542"/>
            <a:ext cx="3198795"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A5568"/>
                </a:solidFill>
                <a:latin typeface="Public Sans" pitchFamily="34" charset="0"/>
                <a:ea typeface="Public Sans" pitchFamily="34" charset="-122"/>
                <a:cs typeface="Public Sans" pitchFamily="34" charset="-120"/>
              </a:rPr>
              <a:t>joint papers with IITs, Surathkal vs Trichy; Trichy leads with DAE, ISRO, DRDO, industry</a:t>
            </a:r>
            <a:endParaRPr lang="en-US" sz="1200" dirty="0"/>
          </a:p>
        </p:txBody>
      </p:sp>
      <p:sp>
        <p:nvSpPr>
          <p:cNvPr id="51" name="Shape 49"/>
          <p:cNvSpPr/>
          <p:nvPr/>
        </p:nvSpPr>
        <p:spPr>
          <a:xfrm>
            <a:off x="7961868" y="4521839"/>
            <a:ext cx="3414157" cy="958850"/>
          </a:xfrm>
          <a:prstGeom prst="roundRect">
            <a:avLst>
              <a:gd name="adj" fmla="val 12914"/>
            </a:avLst>
          </a:prstGeom>
          <a:solidFill>
            <a:srgbClr val="FDFCFA"/>
          </a:solidFill>
          <a:ln w="6350">
            <a:solidFill>
              <a:srgbClr val="E4E1D8"/>
            </a:solidFill>
            <a:prstDash val="solid"/>
          </a:ln>
        </p:spPr>
      </p:sp>
      <p:sp>
        <p:nvSpPr>
          <p:cNvPr id="52" name="Text 50"/>
          <p:cNvSpPr/>
          <p:nvPr/>
        </p:nvSpPr>
        <p:spPr>
          <a:xfrm>
            <a:off x="8116174" y="4650742"/>
            <a:ext cx="3198713"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14213D"/>
                </a:solidFill>
                <a:latin typeface="Space Grotesk" pitchFamily="34" charset="0"/>
                <a:ea typeface="Space Grotesk" pitchFamily="34" charset="-122"/>
                <a:cs typeface="Space Grotesk" pitchFamily="34" charset="-120"/>
              </a:rPr>
              <a:t>37% vs 16%</a:t>
            </a:r>
            <a:endParaRPr lang="en-US" sz="2000" dirty="0"/>
          </a:p>
        </p:txBody>
      </p:sp>
      <p:sp>
        <p:nvSpPr>
          <p:cNvPr id="53" name="Text 51"/>
          <p:cNvSpPr/>
          <p:nvPr/>
        </p:nvSpPr>
        <p:spPr>
          <a:xfrm>
            <a:off x="8116174" y="4955542"/>
            <a:ext cx="3198713"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A5568"/>
                </a:solidFill>
                <a:latin typeface="Public Sans" pitchFamily="34" charset="0"/>
                <a:ea typeface="Public Sans" pitchFamily="34" charset="-122"/>
                <a:cs typeface="Public Sans" pitchFamily="34" charset="-120"/>
              </a:rPr>
              <a:t>of joint papers vs citations are within 300 km: we work locally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6985000" y="0"/>
            <a:ext cx="5207000" cy="3810000"/>
          </a:xfrm>
          <a:prstGeom prst="rect">
            <a:avLst/>
          </a:prstGeom>
          <a:gradFill rotWithShape="1">
            <a:gsLst>
              <a:gs pos="0">
                <a:srgbClr val="2A78D6">
                  <a:alpha val="28000"/>
                </a:srgbClr>
              </a:gs>
              <a:gs pos="70000">
                <a:srgbClr val="2A78D6">
                  <a:alpha val="0"/>
                </a:srgbClr>
              </a:gs>
            </a:gsLst>
            <a:path path="circle">
              <a:fillToRect l="80000" t="20000" r="20000" b="80000"/>
            </a:path>
          </a:gradFill>
          <a:ln/>
        </p:spPr>
      </p:sp>
      <p:sp>
        <p:nvSpPr>
          <p:cNvPr id="3" name="Text 1"/>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FC8DA"/>
                </a:solidFill>
                <a:latin typeface="Public Sans" pitchFamily="34" charset="0"/>
                <a:ea typeface="Public Sans" pitchFamily="34" charset="-122"/>
                <a:cs typeface="Public Sans" pitchFamily="34" charset="-120"/>
              </a:rPr>
              <a:t>09 · WHO PERFORMS BETTER, AND WHAT NEXT</a:t>
            </a:r>
            <a:endParaRPr lang="en-US" sz="1200" dirty="0"/>
          </a:p>
        </p:txBody>
      </p:sp>
      <p:sp>
        <p:nvSpPr>
          <p:cNvPr id="4" name="Text 2"/>
          <p:cNvSpPr>
            <a:spLocks noGrp="1"/>
          </p:cNvSpPr>
          <p:nvPr>
            <p:ph type="title"/>
          </p:nvPr>
        </p:nvSpPr>
        <p:spPr>
          <a:xfrm>
            <a:off x="812800" y="975364"/>
            <a:ext cx="10883392" cy="452120"/>
          </a:xfrm>
          <a:prstGeom prst="rect">
            <a:avLst/>
          </a:prstGeom>
          <a:noFill/>
          <a:ln/>
        </p:spPr>
        <p:txBody>
          <a:bodyPr wrap="square" lIns="0" tIns="0" rIns="0" bIns="0" rtlCol="0" anchor="t">
            <a:normAutofit/>
          </a:bodyPr>
          <a:lstStyle/>
          <a:p>
            <a:pPr marL="0" indent="0" algn="l">
              <a:lnSpc>
                <a:spcPts val="3360"/>
              </a:lnSpc>
              <a:buNone/>
            </a:pPr>
            <a:r>
              <a:rPr lang="en-US" sz="3200" b="1" i="0" kern="0" spc="-50" dirty="0">
                <a:solidFill>
                  <a:srgbClr val="F2F0EA"/>
                </a:solidFill>
                <a:latin typeface="Space Grotesk" pitchFamily="34" charset="0"/>
                <a:ea typeface="Space Grotesk" pitchFamily="34" charset="-122"/>
                <a:cs typeface="Space Grotesk" pitchFamily="34" charset="-120"/>
              </a:rPr>
              <a:t>Level overall, strong in different branches</a:t>
            </a:r>
            <a:endParaRPr lang="en-US" sz="3200" dirty="0"/>
          </a:p>
        </p:txBody>
      </p:sp>
      <p:sp>
        <p:nvSpPr>
          <p:cNvPr id="5" name="Shape 3"/>
          <p:cNvSpPr/>
          <p:nvPr/>
        </p:nvSpPr>
        <p:spPr>
          <a:xfrm>
            <a:off x="815975" y="1583054"/>
            <a:ext cx="5073650" cy="3864610"/>
          </a:xfrm>
          <a:prstGeom prst="roundRect">
            <a:avLst>
              <a:gd name="adj" fmla="val 3204"/>
            </a:avLst>
          </a:prstGeom>
          <a:solidFill>
            <a:srgbClr val="1C2B4A"/>
          </a:solidFill>
          <a:ln w="6350">
            <a:solidFill>
              <a:srgbClr val="33456B"/>
            </a:solidFill>
            <a:prstDash val="solid"/>
          </a:ln>
        </p:spPr>
      </p:sp>
      <p:sp>
        <p:nvSpPr>
          <p:cNvPr id="6" name="Text 4"/>
          <p:cNvSpPr/>
          <p:nvPr/>
        </p:nvSpPr>
        <p:spPr>
          <a:xfrm>
            <a:off x="970280" y="1737364"/>
            <a:ext cx="4907991"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2F0EA"/>
                </a:solidFill>
                <a:latin typeface="Public Sans" pitchFamily="34" charset="0"/>
                <a:ea typeface="Public Sans" pitchFamily="34" charset="-122"/>
                <a:cs typeface="Public Sans" pitchFamily="34" charset="-120"/>
              </a:rPr>
              <a:t>Head to head</a:t>
            </a:r>
            <a:endParaRPr lang="en-US" sz="1400" dirty="0"/>
          </a:p>
        </p:txBody>
      </p:sp>
      <p:sp>
        <p:nvSpPr>
          <p:cNvPr id="7" name="Text 5"/>
          <p:cNvSpPr/>
          <p:nvPr/>
        </p:nvSpPr>
        <p:spPr>
          <a:xfrm>
            <a:off x="2583180" y="2039621"/>
            <a:ext cx="6223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6FA8F0"/>
                </a:solidFill>
                <a:latin typeface="Public Sans" pitchFamily="34" charset="0"/>
                <a:ea typeface="Public Sans" pitchFamily="34" charset="-122"/>
                <a:cs typeface="Public Sans" pitchFamily="34" charset="-120"/>
              </a:rPr>
              <a:t>Trichy</a:t>
            </a:r>
            <a:endParaRPr lang="en-US" sz="1200" dirty="0"/>
          </a:p>
        </p:txBody>
      </p:sp>
      <p:sp>
        <p:nvSpPr>
          <p:cNvPr id="8" name="Text 6"/>
          <p:cNvSpPr/>
          <p:nvPr/>
        </p:nvSpPr>
        <p:spPr>
          <a:xfrm>
            <a:off x="4973320" y="2039621"/>
            <a:ext cx="8128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39467"/>
                </a:solidFill>
                <a:latin typeface="Public Sans" pitchFamily="34" charset="0"/>
                <a:ea typeface="Public Sans" pitchFamily="34" charset="-122"/>
                <a:cs typeface="Public Sans" pitchFamily="34" charset="-120"/>
              </a:rPr>
              <a:t>Surathkal</a:t>
            </a:r>
            <a:endParaRPr lang="en-US" sz="1200" dirty="0"/>
          </a:p>
        </p:txBody>
      </p:sp>
      <p:sp>
        <p:nvSpPr>
          <p:cNvPr id="9" name="Text 7"/>
          <p:cNvSpPr/>
          <p:nvPr/>
        </p:nvSpPr>
        <p:spPr>
          <a:xfrm>
            <a:off x="970280" y="2359664"/>
            <a:ext cx="1638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1E2"/>
                </a:solidFill>
                <a:latin typeface="Public Sans" pitchFamily="34" charset="0"/>
                <a:ea typeface="Public Sans" pitchFamily="34" charset="-122"/>
                <a:cs typeface="Public Sans" pitchFamily="34" charset="-120"/>
              </a:rPr>
              <a:t>Papers</a:t>
            </a:r>
            <a:endParaRPr lang="en-US" sz="1200" dirty="0"/>
          </a:p>
        </p:txBody>
      </p:sp>
      <p:sp>
        <p:nvSpPr>
          <p:cNvPr id="10" name="Text 8"/>
          <p:cNvSpPr/>
          <p:nvPr/>
        </p:nvSpPr>
        <p:spPr>
          <a:xfrm>
            <a:off x="2583180" y="2341879"/>
            <a:ext cx="622300" cy="274320"/>
          </a:xfrm>
          <a:prstGeom prst="rect">
            <a:avLst/>
          </a:prstGeom>
          <a:noFill/>
          <a:ln/>
        </p:spPr>
        <p:txBody>
          <a:bodyPr wrap="square" lIns="0" tIns="0" rIns="0" bIns="0" rtlCol="0" anchor="t">
            <a:normAutofit/>
          </a:bodyPr>
          <a:lstStyle/>
          <a:p>
            <a:pPr marL="0" indent="0" algn="r">
              <a:lnSpc>
                <a:spcPts val="1960"/>
              </a:lnSpc>
              <a:buNone/>
            </a:pPr>
            <a:r>
              <a:rPr lang="en-US" sz="1400" b="1" dirty="0">
                <a:solidFill>
                  <a:srgbClr val="6FA8F0"/>
                </a:solidFill>
                <a:latin typeface="Public Sans" pitchFamily="34" charset="0"/>
                <a:ea typeface="Public Sans" pitchFamily="34" charset="-122"/>
                <a:cs typeface="Public Sans" pitchFamily="34" charset="-120"/>
              </a:rPr>
              <a:t>9,184</a:t>
            </a:r>
            <a:endParaRPr lang="en-US" sz="1400" dirty="0"/>
          </a:p>
        </p:txBody>
      </p:sp>
      <p:sp>
        <p:nvSpPr>
          <p:cNvPr id="11" name="Shape 9"/>
          <p:cNvSpPr/>
          <p:nvPr/>
        </p:nvSpPr>
        <p:spPr>
          <a:xfrm>
            <a:off x="3281680" y="2421892"/>
            <a:ext cx="812800" cy="88900"/>
          </a:xfrm>
          <a:custGeom>
            <a:avLst/>
            <a:gdLst/>
            <a:ahLst/>
            <a:cxnLst/>
            <a:rect l="l" t="t" r="r" b="b"/>
            <a:pathLst>
              <a:path w="812800" h="88900">
                <a:moveTo>
                  <a:pt x="44450" y="0"/>
                </a:moveTo>
                <a:lnTo>
                  <a:pt x="812800" y="0"/>
                </a:lnTo>
                <a:lnTo>
                  <a:pt x="812800" y="88900"/>
                </a:lnTo>
                <a:lnTo>
                  <a:pt x="44450" y="88900"/>
                </a:lnTo>
                <a:arcTo wR="44450" hR="44450" stAng="5400000" swAng="5400000"/>
                <a:lnTo>
                  <a:pt x="0" y="44450"/>
                </a:lnTo>
                <a:arcTo wR="44450" hR="44450" stAng="10800000" swAng="5400000"/>
                <a:close/>
              </a:path>
            </a:pathLst>
          </a:custGeom>
          <a:solidFill>
            <a:srgbClr val="3987E5"/>
          </a:solidFill>
          <a:ln/>
        </p:spPr>
      </p:sp>
      <p:sp>
        <p:nvSpPr>
          <p:cNvPr id="12" name="Shape 10"/>
          <p:cNvSpPr/>
          <p:nvPr/>
        </p:nvSpPr>
        <p:spPr>
          <a:xfrm>
            <a:off x="3281680" y="2421892"/>
            <a:ext cx="812800" cy="88900"/>
          </a:xfrm>
          <a:custGeom>
            <a:avLst/>
            <a:gdLst/>
            <a:ahLst/>
            <a:cxnLst/>
            <a:rect l="l" t="t" r="r" b="b"/>
            <a:pathLst>
              <a:path w="812800" h="88900">
                <a:moveTo>
                  <a:pt x="800100" y="0"/>
                </a:moveTo>
                <a:lnTo>
                  <a:pt x="812800" y="0"/>
                </a:lnTo>
                <a:lnTo>
                  <a:pt x="812800" y="88900"/>
                </a:lnTo>
                <a:lnTo>
                  <a:pt x="800100" y="88900"/>
                </a:lnTo>
                <a:lnTo>
                  <a:pt x="800100" y="0"/>
                </a:lnTo>
                <a:close/>
              </a:path>
            </a:pathLst>
          </a:custGeom>
          <a:solidFill>
            <a:srgbClr val="F2F0EA"/>
          </a:solidFill>
          <a:ln/>
        </p:spPr>
      </p:sp>
      <p:sp>
        <p:nvSpPr>
          <p:cNvPr id="13" name="Shape 11"/>
          <p:cNvSpPr/>
          <p:nvPr/>
        </p:nvSpPr>
        <p:spPr>
          <a:xfrm>
            <a:off x="4094480" y="2421892"/>
            <a:ext cx="812800" cy="88900"/>
          </a:xfrm>
          <a:custGeom>
            <a:avLst/>
            <a:gdLst/>
            <a:ahLst/>
            <a:cxnLst/>
            <a:rect l="l" t="t" r="r" b="b"/>
            <a:pathLst>
              <a:path w="812800" h="88900">
                <a:moveTo>
                  <a:pt x="0" y="0"/>
                </a:moveTo>
                <a:lnTo>
                  <a:pt x="768350" y="0"/>
                </a:lnTo>
                <a:arcTo wR="44450" hR="44450" stAng="16200000" swAng="5400000"/>
                <a:lnTo>
                  <a:pt x="812800" y="44450"/>
                </a:lnTo>
                <a:arcTo wR="44450" hR="44450" stAng="0" swAng="5400000"/>
                <a:lnTo>
                  <a:pt x="0" y="88900"/>
                </a:lnTo>
                <a:lnTo>
                  <a:pt x="0" y="0"/>
                </a:lnTo>
                <a:close/>
              </a:path>
            </a:pathLst>
          </a:custGeom>
          <a:solidFill>
            <a:srgbClr val="E06A35"/>
          </a:solidFill>
          <a:ln/>
        </p:spPr>
      </p:sp>
      <p:sp>
        <p:nvSpPr>
          <p:cNvPr id="14" name="Text 12"/>
          <p:cNvSpPr/>
          <p:nvPr/>
        </p:nvSpPr>
        <p:spPr>
          <a:xfrm>
            <a:off x="4973320" y="2341879"/>
            <a:ext cx="8128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39467"/>
                </a:solidFill>
                <a:latin typeface="Public Sans" pitchFamily="34" charset="0"/>
                <a:ea typeface="Public Sans" pitchFamily="34" charset="-122"/>
                <a:cs typeface="Public Sans" pitchFamily="34" charset="-120"/>
              </a:rPr>
              <a:t>9,206</a:t>
            </a:r>
            <a:endParaRPr lang="en-US" sz="1400" dirty="0"/>
          </a:p>
        </p:txBody>
      </p:sp>
      <p:sp>
        <p:nvSpPr>
          <p:cNvPr id="15" name="Text 13"/>
          <p:cNvSpPr/>
          <p:nvPr/>
        </p:nvSpPr>
        <p:spPr>
          <a:xfrm>
            <a:off x="970280" y="2697479"/>
            <a:ext cx="1638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1E2"/>
                </a:solidFill>
                <a:latin typeface="Public Sans" pitchFamily="34" charset="0"/>
                <a:ea typeface="Public Sans" pitchFamily="34" charset="-122"/>
                <a:cs typeface="Public Sans" pitchFamily="34" charset="-120"/>
              </a:rPr>
              <a:t>Citations / paper</a:t>
            </a:r>
            <a:endParaRPr lang="en-US" sz="1200" dirty="0"/>
          </a:p>
        </p:txBody>
      </p:sp>
      <p:sp>
        <p:nvSpPr>
          <p:cNvPr id="16" name="Text 14"/>
          <p:cNvSpPr/>
          <p:nvPr/>
        </p:nvSpPr>
        <p:spPr>
          <a:xfrm>
            <a:off x="2583180" y="2679700"/>
            <a:ext cx="622300" cy="274320"/>
          </a:xfrm>
          <a:prstGeom prst="rect">
            <a:avLst/>
          </a:prstGeom>
          <a:noFill/>
          <a:ln/>
        </p:spPr>
        <p:txBody>
          <a:bodyPr wrap="square" lIns="0" tIns="0" rIns="0" bIns="0" rtlCol="0" anchor="t">
            <a:normAutofit/>
          </a:bodyPr>
          <a:lstStyle/>
          <a:p>
            <a:pPr marL="0" indent="0" algn="r">
              <a:lnSpc>
                <a:spcPts val="1960"/>
              </a:lnSpc>
              <a:buNone/>
            </a:pPr>
            <a:r>
              <a:rPr lang="en-US" sz="1400" b="1" dirty="0">
                <a:solidFill>
                  <a:srgbClr val="6FA8F0"/>
                </a:solidFill>
                <a:latin typeface="Public Sans" pitchFamily="34" charset="0"/>
                <a:ea typeface="Public Sans" pitchFamily="34" charset="-122"/>
                <a:cs typeface="Public Sans" pitchFamily="34" charset="-120"/>
              </a:rPr>
              <a:t>15.2</a:t>
            </a:r>
            <a:endParaRPr lang="en-US" sz="1400" dirty="0"/>
          </a:p>
        </p:txBody>
      </p:sp>
      <p:sp>
        <p:nvSpPr>
          <p:cNvPr id="17" name="Shape 15"/>
          <p:cNvSpPr/>
          <p:nvPr/>
        </p:nvSpPr>
        <p:spPr>
          <a:xfrm>
            <a:off x="3281680" y="2759714"/>
            <a:ext cx="857250" cy="88900"/>
          </a:xfrm>
          <a:custGeom>
            <a:avLst/>
            <a:gdLst/>
            <a:ahLst/>
            <a:cxnLst/>
            <a:rect l="l" t="t" r="r" b="b"/>
            <a:pathLst>
              <a:path w="857250" h="88900">
                <a:moveTo>
                  <a:pt x="44450" y="0"/>
                </a:moveTo>
                <a:lnTo>
                  <a:pt x="857250" y="0"/>
                </a:lnTo>
                <a:lnTo>
                  <a:pt x="857250" y="88900"/>
                </a:lnTo>
                <a:lnTo>
                  <a:pt x="44450" y="88900"/>
                </a:lnTo>
                <a:arcTo wR="44450" hR="44450" stAng="5400000" swAng="5400000"/>
                <a:lnTo>
                  <a:pt x="0" y="44450"/>
                </a:lnTo>
                <a:arcTo wR="44450" hR="44450" stAng="10800000" swAng="5400000"/>
                <a:close/>
              </a:path>
            </a:pathLst>
          </a:custGeom>
          <a:solidFill>
            <a:srgbClr val="3987E5"/>
          </a:solidFill>
          <a:ln/>
        </p:spPr>
      </p:sp>
      <p:sp>
        <p:nvSpPr>
          <p:cNvPr id="18" name="Shape 16"/>
          <p:cNvSpPr/>
          <p:nvPr/>
        </p:nvSpPr>
        <p:spPr>
          <a:xfrm>
            <a:off x="3281680" y="2759714"/>
            <a:ext cx="857250" cy="88900"/>
          </a:xfrm>
          <a:custGeom>
            <a:avLst/>
            <a:gdLst/>
            <a:ahLst/>
            <a:cxnLst/>
            <a:rect l="l" t="t" r="r" b="b"/>
            <a:pathLst>
              <a:path w="857250" h="88900">
                <a:moveTo>
                  <a:pt x="844550" y="0"/>
                </a:moveTo>
                <a:lnTo>
                  <a:pt x="857250" y="0"/>
                </a:lnTo>
                <a:lnTo>
                  <a:pt x="857250" y="88900"/>
                </a:lnTo>
                <a:lnTo>
                  <a:pt x="844550" y="88900"/>
                </a:lnTo>
                <a:lnTo>
                  <a:pt x="844550" y="0"/>
                </a:lnTo>
                <a:close/>
              </a:path>
            </a:pathLst>
          </a:custGeom>
          <a:solidFill>
            <a:srgbClr val="F2F0EA"/>
          </a:solidFill>
          <a:ln/>
        </p:spPr>
      </p:sp>
      <p:sp>
        <p:nvSpPr>
          <p:cNvPr id="19" name="Shape 17"/>
          <p:cNvSpPr/>
          <p:nvPr/>
        </p:nvSpPr>
        <p:spPr>
          <a:xfrm>
            <a:off x="4138930" y="2759714"/>
            <a:ext cx="768350" cy="88900"/>
          </a:xfrm>
          <a:custGeom>
            <a:avLst/>
            <a:gdLst/>
            <a:ahLst/>
            <a:cxnLst/>
            <a:rect l="l" t="t" r="r" b="b"/>
            <a:pathLst>
              <a:path w="768350" h="88900">
                <a:moveTo>
                  <a:pt x="0" y="0"/>
                </a:moveTo>
                <a:lnTo>
                  <a:pt x="723900" y="0"/>
                </a:lnTo>
                <a:arcTo wR="44450" hR="44450" stAng="16200000" swAng="5400000"/>
                <a:lnTo>
                  <a:pt x="768350" y="44450"/>
                </a:lnTo>
                <a:arcTo wR="44450" hR="44450" stAng="0" swAng="5400000"/>
                <a:lnTo>
                  <a:pt x="0" y="88900"/>
                </a:lnTo>
                <a:lnTo>
                  <a:pt x="0" y="0"/>
                </a:lnTo>
                <a:close/>
              </a:path>
            </a:pathLst>
          </a:custGeom>
          <a:solidFill>
            <a:srgbClr val="E06A35"/>
          </a:solidFill>
          <a:ln/>
        </p:spPr>
      </p:sp>
      <p:sp>
        <p:nvSpPr>
          <p:cNvPr id="20" name="Text 18"/>
          <p:cNvSpPr/>
          <p:nvPr/>
        </p:nvSpPr>
        <p:spPr>
          <a:xfrm>
            <a:off x="4973320" y="2679700"/>
            <a:ext cx="8128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39467"/>
                </a:solidFill>
                <a:latin typeface="Public Sans" pitchFamily="34" charset="0"/>
                <a:ea typeface="Public Sans" pitchFamily="34" charset="-122"/>
                <a:cs typeface="Public Sans" pitchFamily="34" charset="-120"/>
              </a:rPr>
              <a:t>13.6</a:t>
            </a:r>
            <a:endParaRPr lang="en-US" sz="1400" dirty="0"/>
          </a:p>
        </p:txBody>
      </p:sp>
      <p:sp>
        <p:nvSpPr>
          <p:cNvPr id="21" name="Text 19"/>
          <p:cNvSpPr/>
          <p:nvPr/>
        </p:nvSpPr>
        <p:spPr>
          <a:xfrm>
            <a:off x="970280" y="3035300"/>
            <a:ext cx="1638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1E2"/>
                </a:solidFill>
                <a:latin typeface="Public Sans" pitchFamily="34" charset="0"/>
                <a:ea typeface="Public Sans" pitchFamily="34" charset="-122"/>
                <a:cs typeface="Public Sans" pitchFamily="34" charset="-120"/>
              </a:rPr>
              <a:t>Papers / faculty</a:t>
            </a:r>
            <a:endParaRPr lang="en-US" sz="1200" dirty="0"/>
          </a:p>
        </p:txBody>
      </p:sp>
      <p:sp>
        <p:nvSpPr>
          <p:cNvPr id="22" name="Text 20"/>
          <p:cNvSpPr/>
          <p:nvPr/>
        </p:nvSpPr>
        <p:spPr>
          <a:xfrm>
            <a:off x="2583180" y="3017521"/>
            <a:ext cx="622300" cy="274320"/>
          </a:xfrm>
          <a:prstGeom prst="rect">
            <a:avLst/>
          </a:prstGeom>
          <a:noFill/>
          <a:ln/>
        </p:spPr>
        <p:txBody>
          <a:bodyPr wrap="square" lIns="0" tIns="0" rIns="0" bIns="0" rtlCol="0" anchor="t">
            <a:normAutofit/>
          </a:bodyPr>
          <a:lstStyle/>
          <a:p>
            <a:pPr marL="0" indent="0" algn="r">
              <a:lnSpc>
                <a:spcPts val="1960"/>
              </a:lnSpc>
              <a:buNone/>
            </a:pPr>
            <a:r>
              <a:rPr lang="en-US" sz="1400" b="1" dirty="0">
                <a:solidFill>
                  <a:srgbClr val="6FA8F0"/>
                </a:solidFill>
                <a:latin typeface="Public Sans" pitchFamily="34" charset="0"/>
                <a:ea typeface="Public Sans" pitchFamily="34" charset="-122"/>
                <a:cs typeface="Public Sans" pitchFamily="34" charset="-120"/>
              </a:rPr>
              <a:t>25.7</a:t>
            </a:r>
            <a:endParaRPr lang="en-US" sz="1400" dirty="0"/>
          </a:p>
        </p:txBody>
      </p:sp>
      <p:sp>
        <p:nvSpPr>
          <p:cNvPr id="23" name="Shape 21"/>
          <p:cNvSpPr/>
          <p:nvPr/>
        </p:nvSpPr>
        <p:spPr>
          <a:xfrm>
            <a:off x="3281680" y="3097529"/>
            <a:ext cx="736600" cy="88900"/>
          </a:xfrm>
          <a:custGeom>
            <a:avLst/>
            <a:gdLst/>
            <a:ahLst/>
            <a:cxnLst/>
            <a:rect l="l" t="t" r="r" b="b"/>
            <a:pathLst>
              <a:path w="736600" h="88900">
                <a:moveTo>
                  <a:pt x="44450" y="0"/>
                </a:moveTo>
                <a:lnTo>
                  <a:pt x="736600" y="0"/>
                </a:lnTo>
                <a:lnTo>
                  <a:pt x="736600" y="88900"/>
                </a:lnTo>
                <a:lnTo>
                  <a:pt x="44450" y="88900"/>
                </a:lnTo>
                <a:arcTo wR="44450" hR="44450" stAng="5400000" swAng="5400000"/>
                <a:lnTo>
                  <a:pt x="0" y="44450"/>
                </a:lnTo>
                <a:arcTo wR="44450" hR="44450" stAng="10800000" swAng="5400000"/>
                <a:close/>
              </a:path>
            </a:pathLst>
          </a:custGeom>
          <a:solidFill>
            <a:srgbClr val="3987E5"/>
          </a:solidFill>
          <a:ln/>
        </p:spPr>
      </p:sp>
      <p:sp>
        <p:nvSpPr>
          <p:cNvPr id="24" name="Shape 22"/>
          <p:cNvSpPr/>
          <p:nvPr/>
        </p:nvSpPr>
        <p:spPr>
          <a:xfrm>
            <a:off x="3281680" y="3097529"/>
            <a:ext cx="736600" cy="88900"/>
          </a:xfrm>
          <a:custGeom>
            <a:avLst/>
            <a:gdLst/>
            <a:ahLst/>
            <a:cxnLst/>
            <a:rect l="l" t="t" r="r" b="b"/>
            <a:pathLst>
              <a:path w="736600" h="88900">
                <a:moveTo>
                  <a:pt x="723900" y="0"/>
                </a:moveTo>
                <a:lnTo>
                  <a:pt x="736600" y="0"/>
                </a:lnTo>
                <a:lnTo>
                  <a:pt x="736600" y="88900"/>
                </a:lnTo>
                <a:lnTo>
                  <a:pt x="723900" y="88900"/>
                </a:lnTo>
                <a:lnTo>
                  <a:pt x="723900" y="0"/>
                </a:lnTo>
                <a:close/>
              </a:path>
            </a:pathLst>
          </a:custGeom>
          <a:solidFill>
            <a:srgbClr val="F2F0EA"/>
          </a:solidFill>
          <a:ln/>
        </p:spPr>
      </p:sp>
      <p:sp>
        <p:nvSpPr>
          <p:cNvPr id="25" name="Shape 23"/>
          <p:cNvSpPr/>
          <p:nvPr/>
        </p:nvSpPr>
        <p:spPr>
          <a:xfrm>
            <a:off x="4018280" y="3097529"/>
            <a:ext cx="889000" cy="88900"/>
          </a:xfrm>
          <a:custGeom>
            <a:avLst/>
            <a:gdLst/>
            <a:ahLst/>
            <a:cxnLst/>
            <a:rect l="l" t="t" r="r" b="b"/>
            <a:pathLst>
              <a:path w="889000" h="88900">
                <a:moveTo>
                  <a:pt x="0" y="0"/>
                </a:moveTo>
                <a:lnTo>
                  <a:pt x="844550" y="0"/>
                </a:lnTo>
                <a:arcTo wR="44450" hR="44450" stAng="16200000" swAng="5400000"/>
                <a:lnTo>
                  <a:pt x="889000" y="44450"/>
                </a:lnTo>
                <a:arcTo wR="44450" hR="44450" stAng="0" swAng="5400000"/>
                <a:lnTo>
                  <a:pt x="0" y="88900"/>
                </a:lnTo>
                <a:lnTo>
                  <a:pt x="0" y="0"/>
                </a:lnTo>
                <a:close/>
              </a:path>
            </a:pathLst>
          </a:custGeom>
          <a:solidFill>
            <a:srgbClr val="E06A35"/>
          </a:solidFill>
          <a:ln/>
        </p:spPr>
      </p:sp>
      <p:sp>
        <p:nvSpPr>
          <p:cNvPr id="26" name="Text 24"/>
          <p:cNvSpPr/>
          <p:nvPr/>
        </p:nvSpPr>
        <p:spPr>
          <a:xfrm>
            <a:off x="4973320" y="3017521"/>
            <a:ext cx="8128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39467"/>
                </a:solidFill>
                <a:latin typeface="Public Sans" pitchFamily="34" charset="0"/>
                <a:ea typeface="Public Sans" pitchFamily="34" charset="-122"/>
                <a:cs typeface="Public Sans" pitchFamily="34" charset="-120"/>
              </a:rPr>
              <a:t>30.8</a:t>
            </a:r>
            <a:endParaRPr lang="en-US" sz="1400" dirty="0"/>
          </a:p>
        </p:txBody>
      </p:sp>
      <p:sp>
        <p:nvSpPr>
          <p:cNvPr id="27" name="Text 25"/>
          <p:cNvSpPr/>
          <p:nvPr/>
        </p:nvSpPr>
        <p:spPr>
          <a:xfrm>
            <a:off x="970280" y="3373121"/>
            <a:ext cx="1638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1E2"/>
                </a:solidFill>
                <a:latin typeface="Public Sans" pitchFamily="34" charset="0"/>
                <a:ea typeface="Public Sans" pitchFamily="34" charset="-122"/>
                <a:cs typeface="Public Sans" pitchFamily="34" charset="-120"/>
              </a:rPr>
              <a:t>Mean FWCI</a:t>
            </a:r>
            <a:endParaRPr lang="en-US" sz="1200" dirty="0"/>
          </a:p>
        </p:txBody>
      </p:sp>
      <p:sp>
        <p:nvSpPr>
          <p:cNvPr id="28" name="Text 26"/>
          <p:cNvSpPr/>
          <p:nvPr/>
        </p:nvSpPr>
        <p:spPr>
          <a:xfrm>
            <a:off x="2583180" y="3355342"/>
            <a:ext cx="622300" cy="274320"/>
          </a:xfrm>
          <a:prstGeom prst="rect">
            <a:avLst/>
          </a:prstGeom>
          <a:noFill/>
          <a:ln/>
        </p:spPr>
        <p:txBody>
          <a:bodyPr wrap="square" lIns="0" tIns="0" rIns="0" bIns="0" rtlCol="0" anchor="t">
            <a:normAutofit/>
          </a:bodyPr>
          <a:lstStyle/>
          <a:p>
            <a:pPr marL="0" indent="0" algn="r">
              <a:lnSpc>
                <a:spcPts val="1960"/>
              </a:lnSpc>
              <a:buNone/>
            </a:pPr>
            <a:r>
              <a:rPr lang="en-US" sz="1400" b="1" dirty="0">
                <a:solidFill>
                  <a:srgbClr val="6FA8F0"/>
                </a:solidFill>
                <a:latin typeface="Public Sans" pitchFamily="34" charset="0"/>
                <a:ea typeface="Public Sans" pitchFamily="34" charset="-122"/>
                <a:cs typeface="Public Sans" pitchFamily="34" charset="-120"/>
              </a:rPr>
              <a:t>1.31</a:t>
            </a:r>
            <a:endParaRPr lang="en-US" sz="1400" dirty="0"/>
          </a:p>
        </p:txBody>
      </p:sp>
      <p:sp>
        <p:nvSpPr>
          <p:cNvPr id="29" name="Shape 27"/>
          <p:cNvSpPr/>
          <p:nvPr/>
        </p:nvSpPr>
        <p:spPr>
          <a:xfrm>
            <a:off x="3281680" y="3435350"/>
            <a:ext cx="787400" cy="88900"/>
          </a:xfrm>
          <a:custGeom>
            <a:avLst/>
            <a:gdLst/>
            <a:ahLst/>
            <a:cxnLst/>
            <a:rect l="l" t="t" r="r" b="b"/>
            <a:pathLst>
              <a:path w="787400" h="88900">
                <a:moveTo>
                  <a:pt x="44450" y="0"/>
                </a:moveTo>
                <a:lnTo>
                  <a:pt x="787400" y="0"/>
                </a:lnTo>
                <a:lnTo>
                  <a:pt x="787400" y="88900"/>
                </a:lnTo>
                <a:lnTo>
                  <a:pt x="44450" y="88900"/>
                </a:lnTo>
                <a:arcTo wR="44450" hR="44450" stAng="5400000" swAng="5400000"/>
                <a:lnTo>
                  <a:pt x="0" y="44450"/>
                </a:lnTo>
                <a:arcTo wR="44450" hR="44450" stAng="10800000" swAng="5400000"/>
                <a:close/>
              </a:path>
            </a:pathLst>
          </a:custGeom>
          <a:solidFill>
            <a:srgbClr val="3987E5"/>
          </a:solidFill>
          <a:ln/>
        </p:spPr>
      </p:sp>
      <p:sp>
        <p:nvSpPr>
          <p:cNvPr id="30" name="Shape 28"/>
          <p:cNvSpPr/>
          <p:nvPr/>
        </p:nvSpPr>
        <p:spPr>
          <a:xfrm>
            <a:off x="3281680" y="3435350"/>
            <a:ext cx="787400" cy="88900"/>
          </a:xfrm>
          <a:custGeom>
            <a:avLst/>
            <a:gdLst/>
            <a:ahLst/>
            <a:cxnLst/>
            <a:rect l="l" t="t" r="r" b="b"/>
            <a:pathLst>
              <a:path w="787400" h="88900">
                <a:moveTo>
                  <a:pt x="774700" y="0"/>
                </a:moveTo>
                <a:lnTo>
                  <a:pt x="787400" y="0"/>
                </a:lnTo>
                <a:lnTo>
                  <a:pt x="787400" y="88900"/>
                </a:lnTo>
                <a:lnTo>
                  <a:pt x="774700" y="88900"/>
                </a:lnTo>
                <a:lnTo>
                  <a:pt x="774700" y="0"/>
                </a:lnTo>
                <a:close/>
              </a:path>
            </a:pathLst>
          </a:custGeom>
          <a:solidFill>
            <a:srgbClr val="F2F0EA"/>
          </a:solidFill>
          <a:ln/>
        </p:spPr>
      </p:sp>
      <p:sp>
        <p:nvSpPr>
          <p:cNvPr id="31" name="Shape 29"/>
          <p:cNvSpPr/>
          <p:nvPr/>
        </p:nvSpPr>
        <p:spPr>
          <a:xfrm>
            <a:off x="4069080" y="3435350"/>
            <a:ext cx="838200" cy="88900"/>
          </a:xfrm>
          <a:custGeom>
            <a:avLst/>
            <a:gdLst/>
            <a:ahLst/>
            <a:cxnLst/>
            <a:rect l="l" t="t" r="r" b="b"/>
            <a:pathLst>
              <a:path w="838200" h="88900">
                <a:moveTo>
                  <a:pt x="0" y="0"/>
                </a:moveTo>
                <a:lnTo>
                  <a:pt x="793750" y="0"/>
                </a:lnTo>
                <a:arcTo wR="44450" hR="44450" stAng="16200000" swAng="5400000"/>
                <a:lnTo>
                  <a:pt x="838200" y="44450"/>
                </a:lnTo>
                <a:arcTo wR="44450" hR="44450" stAng="0" swAng="5400000"/>
                <a:lnTo>
                  <a:pt x="0" y="88900"/>
                </a:lnTo>
                <a:lnTo>
                  <a:pt x="0" y="0"/>
                </a:lnTo>
                <a:close/>
              </a:path>
            </a:pathLst>
          </a:custGeom>
          <a:solidFill>
            <a:srgbClr val="E06A35"/>
          </a:solidFill>
          <a:ln/>
        </p:spPr>
      </p:sp>
      <p:sp>
        <p:nvSpPr>
          <p:cNvPr id="32" name="Text 30"/>
          <p:cNvSpPr/>
          <p:nvPr/>
        </p:nvSpPr>
        <p:spPr>
          <a:xfrm>
            <a:off x="4973320" y="3355342"/>
            <a:ext cx="8128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39467"/>
                </a:solidFill>
                <a:latin typeface="Public Sans" pitchFamily="34" charset="0"/>
                <a:ea typeface="Public Sans" pitchFamily="34" charset="-122"/>
                <a:cs typeface="Public Sans" pitchFamily="34" charset="-120"/>
              </a:rPr>
              <a:t>1.39</a:t>
            </a:r>
            <a:endParaRPr lang="en-US" sz="1400" dirty="0"/>
          </a:p>
        </p:txBody>
      </p:sp>
      <p:sp>
        <p:nvSpPr>
          <p:cNvPr id="33" name="Text 31"/>
          <p:cNvSpPr/>
          <p:nvPr/>
        </p:nvSpPr>
        <p:spPr>
          <a:xfrm>
            <a:off x="970280" y="3710942"/>
            <a:ext cx="1638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1E2"/>
                </a:solidFill>
                <a:latin typeface="Public Sans" pitchFamily="34" charset="0"/>
                <a:ea typeface="Public Sans" pitchFamily="34" charset="-122"/>
                <a:cs typeface="Public Sans" pitchFamily="34" charset="-120"/>
              </a:rPr>
              <a:t>Q1 share</a:t>
            </a:r>
            <a:endParaRPr lang="en-US" sz="1200" dirty="0"/>
          </a:p>
        </p:txBody>
      </p:sp>
      <p:sp>
        <p:nvSpPr>
          <p:cNvPr id="34" name="Text 32"/>
          <p:cNvSpPr/>
          <p:nvPr/>
        </p:nvSpPr>
        <p:spPr>
          <a:xfrm>
            <a:off x="2583180" y="3693164"/>
            <a:ext cx="622300" cy="274320"/>
          </a:xfrm>
          <a:prstGeom prst="rect">
            <a:avLst/>
          </a:prstGeom>
          <a:noFill/>
          <a:ln/>
        </p:spPr>
        <p:txBody>
          <a:bodyPr wrap="square" lIns="0" tIns="0" rIns="0" bIns="0" rtlCol="0" anchor="t">
            <a:normAutofit/>
          </a:bodyPr>
          <a:lstStyle/>
          <a:p>
            <a:pPr marL="0" indent="0" algn="r">
              <a:lnSpc>
                <a:spcPts val="1960"/>
              </a:lnSpc>
              <a:buNone/>
            </a:pPr>
            <a:r>
              <a:rPr lang="en-US" sz="1400" b="1" dirty="0">
                <a:solidFill>
                  <a:srgbClr val="6FA8F0"/>
                </a:solidFill>
                <a:latin typeface="Public Sans" pitchFamily="34" charset="0"/>
                <a:ea typeface="Public Sans" pitchFamily="34" charset="-122"/>
                <a:cs typeface="Public Sans" pitchFamily="34" charset="-120"/>
              </a:rPr>
              <a:t>35%</a:t>
            </a:r>
            <a:endParaRPr lang="en-US" sz="1400" dirty="0"/>
          </a:p>
        </p:txBody>
      </p:sp>
      <p:sp>
        <p:nvSpPr>
          <p:cNvPr id="35" name="Shape 33"/>
          <p:cNvSpPr/>
          <p:nvPr/>
        </p:nvSpPr>
        <p:spPr>
          <a:xfrm>
            <a:off x="3281680" y="3773171"/>
            <a:ext cx="781050" cy="88900"/>
          </a:xfrm>
          <a:custGeom>
            <a:avLst/>
            <a:gdLst/>
            <a:ahLst/>
            <a:cxnLst/>
            <a:rect l="l" t="t" r="r" b="b"/>
            <a:pathLst>
              <a:path w="781050" h="88900">
                <a:moveTo>
                  <a:pt x="44450" y="0"/>
                </a:moveTo>
                <a:lnTo>
                  <a:pt x="781050" y="0"/>
                </a:lnTo>
                <a:lnTo>
                  <a:pt x="781050" y="88900"/>
                </a:lnTo>
                <a:lnTo>
                  <a:pt x="44450" y="88900"/>
                </a:lnTo>
                <a:arcTo wR="44450" hR="44450" stAng="5400000" swAng="5400000"/>
                <a:lnTo>
                  <a:pt x="0" y="44450"/>
                </a:lnTo>
                <a:arcTo wR="44450" hR="44450" stAng="10800000" swAng="5400000"/>
                <a:close/>
              </a:path>
            </a:pathLst>
          </a:custGeom>
          <a:solidFill>
            <a:srgbClr val="3987E5"/>
          </a:solidFill>
          <a:ln/>
        </p:spPr>
      </p:sp>
      <p:sp>
        <p:nvSpPr>
          <p:cNvPr id="36" name="Shape 34"/>
          <p:cNvSpPr/>
          <p:nvPr/>
        </p:nvSpPr>
        <p:spPr>
          <a:xfrm>
            <a:off x="3281680" y="3773171"/>
            <a:ext cx="781050" cy="88900"/>
          </a:xfrm>
          <a:custGeom>
            <a:avLst/>
            <a:gdLst/>
            <a:ahLst/>
            <a:cxnLst/>
            <a:rect l="l" t="t" r="r" b="b"/>
            <a:pathLst>
              <a:path w="781050" h="88900">
                <a:moveTo>
                  <a:pt x="768350" y="0"/>
                </a:moveTo>
                <a:lnTo>
                  <a:pt x="781050" y="0"/>
                </a:lnTo>
                <a:lnTo>
                  <a:pt x="781050" y="88900"/>
                </a:lnTo>
                <a:lnTo>
                  <a:pt x="768350" y="88900"/>
                </a:lnTo>
                <a:lnTo>
                  <a:pt x="768350" y="0"/>
                </a:lnTo>
                <a:close/>
              </a:path>
            </a:pathLst>
          </a:custGeom>
          <a:solidFill>
            <a:srgbClr val="F2F0EA"/>
          </a:solidFill>
          <a:ln/>
        </p:spPr>
      </p:sp>
      <p:sp>
        <p:nvSpPr>
          <p:cNvPr id="37" name="Shape 35"/>
          <p:cNvSpPr/>
          <p:nvPr/>
        </p:nvSpPr>
        <p:spPr>
          <a:xfrm>
            <a:off x="4062730" y="3773171"/>
            <a:ext cx="844550" cy="88900"/>
          </a:xfrm>
          <a:custGeom>
            <a:avLst/>
            <a:gdLst/>
            <a:ahLst/>
            <a:cxnLst/>
            <a:rect l="l" t="t" r="r" b="b"/>
            <a:pathLst>
              <a:path w="844550" h="88900">
                <a:moveTo>
                  <a:pt x="0" y="0"/>
                </a:moveTo>
                <a:lnTo>
                  <a:pt x="800100" y="0"/>
                </a:lnTo>
                <a:arcTo wR="44450" hR="44450" stAng="16200000" swAng="5400000"/>
                <a:lnTo>
                  <a:pt x="844550" y="44450"/>
                </a:lnTo>
                <a:arcTo wR="44450" hR="44450" stAng="0" swAng="5400000"/>
                <a:lnTo>
                  <a:pt x="0" y="88900"/>
                </a:lnTo>
                <a:lnTo>
                  <a:pt x="0" y="0"/>
                </a:lnTo>
                <a:close/>
              </a:path>
            </a:pathLst>
          </a:custGeom>
          <a:solidFill>
            <a:srgbClr val="E06A35"/>
          </a:solidFill>
          <a:ln/>
        </p:spPr>
      </p:sp>
      <p:sp>
        <p:nvSpPr>
          <p:cNvPr id="38" name="Text 36"/>
          <p:cNvSpPr/>
          <p:nvPr/>
        </p:nvSpPr>
        <p:spPr>
          <a:xfrm>
            <a:off x="4973320" y="3693164"/>
            <a:ext cx="8128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39467"/>
                </a:solidFill>
                <a:latin typeface="Public Sans" pitchFamily="34" charset="0"/>
                <a:ea typeface="Public Sans" pitchFamily="34" charset="-122"/>
                <a:cs typeface="Public Sans" pitchFamily="34" charset="-120"/>
              </a:rPr>
              <a:t>38%</a:t>
            </a:r>
            <a:endParaRPr lang="en-US" sz="1400" dirty="0"/>
          </a:p>
        </p:txBody>
      </p:sp>
      <p:sp>
        <p:nvSpPr>
          <p:cNvPr id="39" name="Shape 37"/>
          <p:cNvSpPr/>
          <p:nvPr/>
        </p:nvSpPr>
        <p:spPr>
          <a:xfrm>
            <a:off x="970280" y="4130042"/>
            <a:ext cx="4765040" cy="1163320"/>
          </a:xfrm>
          <a:prstGeom prst="roundRect">
            <a:avLst>
              <a:gd name="adj" fmla="val 7642"/>
            </a:avLst>
          </a:prstGeom>
          <a:solidFill>
            <a:srgbClr val="26375A"/>
          </a:solidFill>
          <a:ln/>
        </p:spPr>
      </p:sp>
      <p:sp>
        <p:nvSpPr>
          <p:cNvPr id="40" name="Text 38"/>
          <p:cNvSpPr/>
          <p:nvPr/>
        </p:nvSpPr>
        <p:spPr>
          <a:xfrm>
            <a:off x="1109980" y="4244342"/>
            <a:ext cx="4620209"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F2F0EA"/>
                </a:solidFill>
                <a:latin typeface="Space Grotesk" pitchFamily="34" charset="0"/>
                <a:ea typeface="Space Grotesk" pitchFamily="34" charset="-122"/>
                <a:cs typeface="Space Grotesk" pitchFamily="34" charset="-120"/>
              </a:rPr>
              <a:t>p = 0.23</a:t>
            </a:r>
            <a:endParaRPr lang="en-US" sz="2000" dirty="0"/>
          </a:p>
        </p:txBody>
      </p:sp>
      <p:sp>
        <p:nvSpPr>
          <p:cNvPr id="41" name="Text 39"/>
          <p:cNvSpPr/>
          <p:nvPr/>
        </p:nvSpPr>
        <p:spPr>
          <a:xfrm>
            <a:off x="1109980" y="4561842"/>
            <a:ext cx="4620209" cy="6426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C9D1E2"/>
                </a:solidFill>
                <a:latin typeface="Public Sans" pitchFamily="34" charset="0"/>
                <a:ea typeface="Public Sans" pitchFamily="34" charset="-122"/>
                <a:cs typeface="Public Sans" pitchFamily="34" charset="-120"/>
              </a:rPr>
              <a:t>Each paper’s FWCI regressed on the institute, controlling for branch, year, collaboration, venue and team size: Surathkal +1.2%, </a:t>
            </a:r>
            <a:r>
              <a:rPr lang="en-US" sz="1200" b="1" dirty="0">
                <a:solidFill>
                  <a:srgbClr val="F2F0EA"/>
                </a:solidFill>
                <a:latin typeface="Public Sans" pitchFamily="34" charset="0"/>
                <a:ea typeface="Public Sans" pitchFamily="34" charset="-122"/>
                <a:cs typeface="Public Sans" pitchFamily="34" charset="-120"/>
              </a:rPr>
              <a:t>no significant difference.</a:t>
            </a:r>
            <a:endParaRPr lang="en-US" sz="1200" dirty="0"/>
          </a:p>
        </p:txBody>
      </p:sp>
      <p:sp>
        <p:nvSpPr>
          <p:cNvPr id="42" name="Shape 40"/>
          <p:cNvSpPr/>
          <p:nvPr/>
        </p:nvSpPr>
        <p:spPr>
          <a:xfrm>
            <a:off x="6099175" y="1583054"/>
            <a:ext cx="5276850" cy="1779270"/>
          </a:xfrm>
          <a:prstGeom prst="roundRect">
            <a:avLst>
              <a:gd name="adj" fmla="val 6959"/>
            </a:avLst>
          </a:prstGeom>
          <a:solidFill>
            <a:srgbClr val="1C2B4A"/>
          </a:solidFill>
          <a:ln w="6350">
            <a:solidFill>
              <a:srgbClr val="33456B"/>
            </a:solidFill>
            <a:prstDash val="solid"/>
          </a:ln>
        </p:spPr>
      </p:sp>
      <p:sp>
        <p:nvSpPr>
          <p:cNvPr id="43" name="Text 41"/>
          <p:cNvSpPr/>
          <p:nvPr/>
        </p:nvSpPr>
        <p:spPr>
          <a:xfrm>
            <a:off x="6253480" y="1737364"/>
            <a:ext cx="5117287"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2F0EA"/>
                </a:solidFill>
                <a:latin typeface="Public Sans" pitchFamily="34" charset="0"/>
                <a:ea typeface="Public Sans" pitchFamily="34" charset="-122"/>
                <a:cs typeface="Public Sans" pitchFamily="34" charset="-120"/>
              </a:rPr>
              <a:t>Branch strengths (FWCI, stronger NIT first)</a:t>
            </a:r>
            <a:endParaRPr lang="en-US" sz="1400" dirty="0"/>
          </a:p>
        </p:txBody>
      </p:sp>
      <p:sp>
        <p:nvSpPr>
          <p:cNvPr id="44" name="Text 42"/>
          <p:cNvSpPr/>
          <p:nvPr/>
        </p:nvSpPr>
        <p:spPr>
          <a:xfrm>
            <a:off x="6253480" y="2026921"/>
            <a:ext cx="248015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39467"/>
                </a:solidFill>
                <a:latin typeface="Public Sans" pitchFamily="34" charset="0"/>
                <a:ea typeface="Public Sans" pitchFamily="34" charset="-122"/>
                <a:cs typeface="Public Sans" pitchFamily="34" charset="-120"/>
              </a:rPr>
              <a:t>Surathkal stronger</a:t>
            </a:r>
            <a:endParaRPr lang="en-US" sz="1200" dirty="0"/>
          </a:p>
        </p:txBody>
      </p:sp>
      <p:sp>
        <p:nvSpPr>
          <p:cNvPr id="45" name="Text 43"/>
          <p:cNvSpPr/>
          <p:nvPr/>
        </p:nvSpPr>
        <p:spPr>
          <a:xfrm>
            <a:off x="6253480" y="2252979"/>
            <a:ext cx="248015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1E2"/>
                </a:solidFill>
                <a:latin typeface="Public Sans" pitchFamily="34" charset="0"/>
                <a:ea typeface="Public Sans" pitchFamily="34" charset="-122"/>
                <a:cs typeface="Public Sans" pitchFamily="34" charset="-120"/>
              </a:rPr>
              <a:t>CSE (1.54 vs 1.00)</a:t>
            </a:r>
            <a:endParaRPr lang="en-US" sz="1200" dirty="0"/>
          </a:p>
        </p:txBody>
      </p:sp>
      <p:sp>
        <p:nvSpPr>
          <p:cNvPr id="46" name="Text 44"/>
          <p:cNvSpPr/>
          <p:nvPr/>
        </p:nvSpPr>
        <p:spPr>
          <a:xfrm>
            <a:off x="6253480" y="2479042"/>
            <a:ext cx="248015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1E2"/>
                </a:solidFill>
                <a:latin typeface="Public Sans" pitchFamily="34" charset="0"/>
                <a:ea typeface="Public Sans" pitchFamily="34" charset="-122"/>
                <a:cs typeface="Public Sans" pitchFamily="34" charset="-120"/>
              </a:rPr>
              <a:t>EEE (1.23 vs 0.97)</a:t>
            </a:r>
            <a:endParaRPr lang="en-US" sz="1200" dirty="0"/>
          </a:p>
        </p:txBody>
      </p:sp>
      <p:sp>
        <p:nvSpPr>
          <p:cNvPr id="47" name="Text 45"/>
          <p:cNvSpPr/>
          <p:nvPr/>
        </p:nvSpPr>
        <p:spPr>
          <a:xfrm>
            <a:off x="6253480" y="2705100"/>
            <a:ext cx="248015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1E2"/>
                </a:solidFill>
                <a:latin typeface="Public Sans" pitchFamily="34" charset="0"/>
                <a:ea typeface="Public Sans" pitchFamily="34" charset="-122"/>
                <a:cs typeface="Public Sans" pitchFamily="34" charset="-120"/>
              </a:rPr>
              <a:t>Mechanical (1.63 vs 1.43)</a:t>
            </a:r>
            <a:endParaRPr lang="en-US" sz="1200" dirty="0"/>
          </a:p>
        </p:txBody>
      </p:sp>
      <p:sp>
        <p:nvSpPr>
          <p:cNvPr id="48" name="Text 46"/>
          <p:cNvSpPr/>
          <p:nvPr/>
        </p:nvSpPr>
        <p:spPr>
          <a:xfrm>
            <a:off x="8813800" y="2026921"/>
            <a:ext cx="248015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FA8F0"/>
                </a:solidFill>
                <a:latin typeface="Public Sans" pitchFamily="34" charset="0"/>
                <a:ea typeface="Public Sans" pitchFamily="34" charset="-122"/>
                <a:cs typeface="Public Sans" pitchFamily="34" charset="-120"/>
              </a:rPr>
              <a:t>Trichy stronger</a:t>
            </a:r>
            <a:endParaRPr lang="en-US" sz="1200" dirty="0"/>
          </a:p>
        </p:txBody>
      </p:sp>
      <p:sp>
        <p:nvSpPr>
          <p:cNvPr id="49" name="Text 47"/>
          <p:cNvSpPr/>
          <p:nvPr/>
        </p:nvSpPr>
        <p:spPr>
          <a:xfrm>
            <a:off x="8813800" y="2252979"/>
            <a:ext cx="248015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1E2"/>
                </a:solidFill>
                <a:latin typeface="Public Sans" pitchFamily="34" charset="0"/>
                <a:ea typeface="Public Sans" pitchFamily="34" charset="-122"/>
                <a:cs typeface="Public Sans" pitchFamily="34" charset="-120"/>
              </a:rPr>
              <a:t>Mathematics (1.48 vs 0.56)</a:t>
            </a:r>
            <a:endParaRPr lang="en-US" sz="1200" dirty="0"/>
          </a:p>
        </p:txBody>
      </p:sp>
      <p:sp>
        <p:nvSpPr>
          <p:cNvPr id="50" name="Text 48"/>
          <p:cNvSpPr/>
          <p:nvPr/>
        </p:nvSpPr>
        <p:spPr>
          <a:xfrm>
            <a:off x="8813800" y="2479042"/>
            <a:ext cx="248015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1E2"/>
                </a:solidFill>
                <a:latin typeface="Public Sans" pitchFamily="34" charset="0"/>
                <a:ea typeface="Public Sans" pitchFamily="34" charset="-122"/>
                <a:cs typeface="Public Sans" pitchFamily="34" charset="-120"/>
              </a:rPr>
              <a:t>Chemical (1.59 vs 1.27)</a:t>
            </a:r>
            <a:endParaRPr lang="en-US" sz="1200" dirty="0"/>
          </a:p>
        </p:txBody>
      </p:sp>
      <p:sp>
        <p:nvSpPr>
          <p:cNvPr id="51" name="Text 49"/>
          <p:cNvSpPr/>
          <p:nvPr/>
        </p:nvSpPr>
        <p:spPr>
          <a:xfrm>
            <a:off x="8813800" y="2705100"/>
            <a:ext cx="248015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1E2"/>
                </a:solidFill>
                <a:latin typeface="Public Sans" pitchFamily="34" charset="0"/>
                <a:ea typeface="Public Sans" pitchFamily="34" charset="-122"/>
                <a:cs typeface="Public Sans" pitchFamily="34" charset="-120"/>
              </a:rPr>
              <a:t>ECE (1.18 vs 0.98)</a:t>
            </a:r>
            <a:endParaRPr lang="en-US" sz="1200" dirty="0"/>
          </a:p>
        </p:txBody>
      </p:sp>
      <p:sp>
        <p:nvSpPr>
          <p:cNvPr id="52" name="Text 50"/>
          <p:cNvSpPr/>
          <p:nvPr/>
        </p:nvSpPr>
        <p:spPr>
          <a:xfrm>
            <a:off x="6253480" y="2994664"/>
            <a:ext cx="511728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6BF"/>
                </a:solidFill>
                <a:latin typeface="Public Sans" pitchFamily="34" charset="0"/>
                <a:ea typeface="Public Sans" pitchFamily="34" charset="-122"/>
                <a:cs typeface="Public Sans" pitchFamily="34" charset="-120"/>
              </a:rPr>
              <a:t>No clear difference: Civil, Chemistry, Physics, MME</a:t>
            </a:r>
            <a:endParaRPr lang="en-US" sz="1200" dirty="0"/>
          </a:p>
        </p:txBody>
      </p:sp>
      <p:sp>
        <p:nvSpPr>
          <p:cNvPr id="53" name="Shape 51"/>
          <p:cNvSpPr/>
          <p:nvPr/>
        </p:nvSpPr>
        <p:spPr>
          <a:xfrm>
            <a:off x="6099175" y="3470275"/>
            <a:ext cx="5276850" cy="1977390"/>
          </a:xfrm>
          <a:prstGeom prst="roundRect">
            <a:avLst>
              <a:gd name="adj" fmla="val 6262"/>
            </a:avLst>
          </a:prstGeom>
          <a:solidFill>
            <a:srgbClr val="1C2B4A"/>
          </a:solidFill>
          <a:ln w="6350">
            <a:solidFill>
              <a:srgbClr val="33456B"/>
            </a:solidFill>
            <a:prstDash val="solid"/>
          </a:ln>
        </p:spPr>
      </p:sp>
      <p:sp>
        <p:nvSpPr>
          <p:cNvPr id="54" name="Text 52"/>
          <p:cNvSpPr/>
          <p:nvPr/>
        </p:nvSpPr>
        <p:spPr>
          <a:xfrm>
            <a:off x="6253480" y="3624579"/>
            <a:ext cx="5117287"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2F0EA"/>
                </a:solidFill>
                <a:latin typeface="Public Sans" pitchFamily="34" charset="0"/>
                <a:ea typeface="Public Sans" pitchFamily="34" charset="-122"/>
                <a:cs typeface="Public Sans" pitchFamily="34" charset="-120"/>
              </a:rPr>
              <a:t>What to do next</a:t>
            </a:r>
            <a:endParaRPr lang="en-US" sz="1400" dirty="0"/>
          </a:p>
        </p:txBody>
      </p:sp>
      <p:sp>
        <p:nvSpPr>
          <p:cNvPr id="55" name="Text 53"/>
          <p:cNvSpPr/>
          <p:nvPr/>
        </p:nvSpPr>
        <p:spPr>
          <a:xfrm>
            <a:off x="6253480" y="3926842"/>
            <a:ext cx="5117287" cy="42164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2F0EA"/>
                </a:solidFill>
                <a:latin typeface="Public Sans" pitchFamily="34" charset="0"/>
                <a:ea typeface="Public Sans" pitchFamily="34" charset="-122"/>
                <a:cs typeface="Public Sans" pitchFamily="34" charset="-120"/>
              </a:rPr>
              <a:t>Work together:</a:t>
            </a:r>
            <a:r>
              <a:rPr lang="en-US" sz="1200" dirty="0">
                <a:solidFill>
                  <a:srgbClr val="C9D1E2"/>
                </a:solidFill>
                <a:latin typeface="Public Sans" pitchFamily="34" charset="0"/>
                <a:ea typeface="Public Sans" pitchFamily="34" charset="-122"/>
                <a:cs typeface="Public Sans" pitchFamily="34" charset="-120"/>
              </a:rPr>
              <a:t> only 47 joint papers. Pair Surathkal CSE, EEE, Mechanical with Trichy Maths, Chemical, ECE.</a:t>
            </a:r>
            <a:endParaRPr lang="en-US" sz="1200" dirty="0"/>
          </a:p>
        </p:txBody>
      </p:sp>
      <p:sp>
        <p:nvSpPr>
          <p:cNvPr id="56" name="Text 54"/>
          <p:cNvSpPr/>
          <p:nvPr/>
        </p:nvSpPr>
        <p:spPr>
          <a:xfrm>
            <a:off x="6253480" y="4411979"/>
            <a:ext cx="5117287" cy="42164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2F0EA"/>
                </a:solidFill>
                <a:latin typeface="Public Sans" pitchFamily="34" charset="0"/>
                <a:ea typeface="Public Sans" pitchFamily="34" charset="-122"/>
                <a:cs typeface="Public Sans" pitchFamily="34" charset="-120"/>
              </a:rPr>
              <a:t>New partners:</a:t>
            </a:r>
            <a:r>
              <a:rPr lang="en-US" sz="1200" dirty="0">
                <a:solidFill>
                  <a:srgbClr val="C9D1E2"/>
                </a:solidFill>
                <a:latin typeface="Public Sans" pitchFamily="34" charset="0"/>
                <a:ea typeface="Public Sans" pitchFamily="34" charset="-122"/>
                <a:cs typeface="Public Sans" pitchFamily="34" charset="-120"/>
              </a:rPr>
              <a:t> close in topic and citing each other, but no joint papers yet: NSUT Delhi, SLIET Longowal, GLA.</a:t>
            </a:r>
            <a:endParaRPr lang="en-US" sz="1200" dirty="0"/>
          </a:p>
        </p:txBody>
      </p:sp>
      <p:sp>
        <p:nvSpPr>
          <p:cNvPr id="57" name="Text 55"/>
          <p:cNvSpPr/>
          <p:nvPr/>
        </p:nvSpPr>
        <p:spPr>
          <a:xfrm>
            <a:off x="6253480" y="4897121"/>
            <a:ext cx="5117287" cy="42164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2F0EA"/>
                </a:solidFill>
                <a:latin typeface="Public Sans" pitchFamily="34" charset="0"/>
                <a:ea typeface="Public Sans" pitchFamily="34" charset="-122"/>
                <a:cs typeface="Public Sans" pitchFamily="34" charset="-120"/>
              </a:rPr>
              <a:t>Improve:</a:t>
            </a:r>
            <a:r>
              <a:rPr lang="en-US" sz="1200" dirty="0">
                <a:solidFill>
                  <a:srgbClr val="C9D1E2"/>
                </a:solidFill>
                <a:latin typeface="Public Sans" pitchFamily="34" charset="0"/>
                <a:ea typeface="Public Sans" pitchFamily="34" charset="-122"/>
                <a:cs typeface="Public Sans" pitchFamily="34" charset="-120"/>
              </a:rPr>
              <a:t> foreign co-authorship in Trichy CSE, and impact in Surathkal Mathematics (FWCI 0.56).</a:t>
            </a:r>
            <a:endParaRPr lang="en-US" sz="1200" dirty="0"/>
          </a:p>
        </p:txBody>
      </p:sp>
    </p:spTree>
  </p:cSld>
  <p:clrMapOvr>
    <a:masterClrMapping/>
  </p:clrMapOvr>
</p:sld>
</file>

<file path=ppt/theme/theme1.xml><?xml version="1.0" encoding="utf-8"?>
<a:theme xmlns:a="http://schemas.openxmlformats.org/drawingml/2006/main" name="NIT Trichy vs NIT Surathkal: Research Report">
  <a:themeElements>
    <a:clrScheme name="NIT Trichy vs NIT Surathkal: Research Report">
      <a:dk1>
        <a:srgbClr val="14213D"/>
      </a:dk1>
      <a:lt1>
        <a:srgbClr val="F7F6F2"/>
      </a:lt1>
      <a:dk2>
        <a:srgbClr val="4D566A"/>
      </a:dk2>
      <a:lt2>
        <a:srgbClr val="E0E1E0"/>
      </a:lt2>
      <a:accent1>
        <a:srgbClr val="2A78D6"/>
      </a:accent1>
      <a:accent2>
        <a:srgbClr val="EB6834"/>
      </a:accent2>
      <a:accent3>
        <a:srgbClr val="5A5FBF"/>
      </a:accent3>
      <a:accent4>
        <a:srgbClr val="5B4BC4"/>
      </a:accent4>
      <a:accent5>
        <a:srgbClr val="4A3BB0"/>
      </a:accent5>
      <a:accent6>
        <a:srgbClr val="6FA8F0"/>
      </a:accent6>
      <a:hlink>
        <a:srgbClr val="0563C1"/>
      </a:hlink>
      <a:folHlink>
        <a:srgbClr val="954F72"/>
      </a:folHlink>
    </a:clrScheme>
    <a:fontScheme name="NIT Trichy vs NIT Surathkal: Research Report">
      <a:majorFont>
        <a:latin typeface="Public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3409</Words>
  <Application>Microsoft Office PowerPoint</Application>
  <PresentationFormat>Widescreen</PresentationFormat>
  <Paragraphs>506</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Public Sans</vt:lpstr>
      <vt:lpstr>Space Grotesk</vt:lpstr>
      <vt:lpstr>NIT Trichy vs NIT Surathkal: Research Report</vt:lpstr>
      <vt:lpstr>NIT Trichy vs NIT Surathkal</vt:lpstr>
      <vt:lpstr>Ten years of steady growth, neck and neck</vt:lpstr>
      <vt:lpstr>More than a third of journal papers are Q1</vt:lpstr>
      <vt:lpstr>Engineering leads, and AI is spreading</vt:lpstr>
      <vt:lpstr>The ten most-cited papers</vt:lpstr>
      <vt:lpstr>Surathkal faculty publish more per person</vt:lpstr>
      <vt:lpstr>A few papers draw most internal citations</vt:lpstr>
      <vt:lpstr>Departments, bridged by a few hubs</vt:lpstr>
      <vt:lpstr>We draw on IITs and labs; universities draw on us</vt:lpstr>
      <vt:lpstr>Level overall, strong in different branches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NIT Trichy vs NIT Surathkal: Research Report</dc:title>
  <dc:subject/>
  <dc:creator/>
  <cp:lastModifiedBy>Chaitanya Thogata</cp:lastModifiedBy>
  <cp:revision>2</cp:revision>
  <dcterms:created xsi:type="dcterms:W3CDTF">2026-10-20T16:02:31Z</dcterms:created>
  <dcterms:modified xsi:type="dcterms:W3CDTF">2026-10-20T16:03:53Z</dcterms:modified>
</cp:coreProperties>
</file>